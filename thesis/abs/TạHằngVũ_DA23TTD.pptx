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ink/ink1.xml" ContentType="application/inkml+xml"/>
  <Override PartName="/ppt/ink/ink2.xml" ContentType="application/inkml+xml"/>
  <Override PartName="/ppt/ink/ink3.xml" ContentType="application/inkml+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Lst>
  <p:notesMasterIdLst>
    <p:notesMasterId r:id="rId22"/>
  </p:notesMasterIdLst>
  <p:sldIdLst>
    <p:sldId id="256" r:id="rId2"/>
    <p:sldId id="257" r:id="rId3"/>
    <p:sldId id="258" r:id="rId4"/>
    <p:sldId id="259" r:id="rId5"/>
    <p:sldId id="275" r:id="rId6"/>
    <p:sldId id="260" r:id="rId7"/>
    <p:sldId id="261" r:id="rId8"/>
    <p:sldId id="262" r:id="rId9"/>
    <p:sldId id="278" r:id="rId10"/>
    <p:sldId id="279" r:id="rId11"/>
    <p:sldId id="263" r:id="rId12"/>
    <p:sldId id="280" r:id="rId13"/>
    <p:sldId id="265" r:id="rId14"/>
    <p:sldId id="281" r:id="rId15"/>
    <p:sldId id="269" r:id="rId16"/>
    <p:sldId id="282" r:id="rId17"/>
    <p:sldId id="283" r:id="rId18"/>
    <p:sldId id="272" r:id="rId19"/>
    <p:sldId id="273" r:id="rId20"/>
    <p:sldId id="274"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18603FDC-E32A-4AB5-989C-0864C3EAD2B8}" styleName="Themed Style 2 - Accent 2">
    <a:tblBg>
      <a:fillRef idx="3">
        <a:schemeClr val="accent2"/>
      </a:fillRef>
      <a:effectRef idx="3">
        <a:schemeClr val="accent2"/>
      </a:effectRef>
    </a:tblBg>
    <a:wholeTbl>
      <a:tcTxStyle>
        <a:fontRef idx="minor">
          <a:scrgbClr r="0" g="0" b="0"/>
        </a:fontRef>
        <a:schemeClr val="lt1"/>
      </a:tcTxStyle>
      <a:tcStyle>
        <a:tcBdr>
          <a:left>
            <a:lnRef idx="1">
              <a:schemeClr val="accent2">
                <a:tint val="50000"/>
              </a:schemeClr>
            </a:lnRef>
          </a:left>
          <a:right>
            <a:lnRef idx="1">
              <a:schemeClr val="accent2">
                <a:tint val="50000"/>
              </a:schemeClr>
            </a:lnRef>
          </a:right>
          <a:top>
            <a:lnRef idx="1">
              <a:schemeClr val="accent2">
                <a:tint val="50000"/>
              </a:schemeClr>
            </a:lnRef>
          </a:top>
          <a:bottom>
            <a:lnRef idx="1">
              <a:schemeClr val="accent2">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5" d="100"/>
          <a:sy n="75" d="100"/>
        </p:scale>
        <p:origin x="902" y="4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diagrams/colors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27058DE-3815-4AAD-8B85-8722AB52F8C4}" type="doc">
      <dgm:prSet loTypeId="urn:microsoft.com/office/officeart/2005/8/layout/vList2" loCatId="list" qsTypeId="urn:microsoft.com/office/officeart/2005/8/quickstyle/simple5" qsCatId="simple" csTypeId="urn:microsoft.com/office/officeart/2005/8/colors/colorful5" csCatId="colorful" phldr="1"/>
      <dgm:spPr/>
      <dgm:t>
        <a:bodyPr/>
        <a:lstStyle/>
        <a:p>
          <a:endParaRPr lang="en-US"/>
        </a:p>
      </dgm:t>
    </dgm:pt>
    <dgm:pt modelId="{92F01C0E-C9BA-41A0-AF90-DB6B74963CAC}">
      <dgm:prSet/>
      <dgm:spPr/>
      <dgm:t>
        <a:bodyPr/>
        <a:lstStyle/>
        <a:p>
          <a:r>
            <a:rPr lang="en-US" b="1"/>
            <a:t>1. TỔNG QUAN ĐỀ TÀI</a:t>
          </a:r>
        </a:p>
      </dgm:t>
    </dgm:pt>
    <dgm:pt modelId="{4C0680D7-EE09-4713-A786-2E677ED66AF7}" type="parTrans" cxnId="{7D4E9B2B-F7D0-40B0-8E6B-B367CF537128}">
      <dgm:prSet/>
      <dgm:spPr/>
      <dgm:t>
        <a:bodyPr/>
        <a:lstStyle/>
        <a:p>
          <a:endParaRPr lang="en-US"/>
        </a:p>
      </dgm:t>
    </dgm:pt>
    <dgm:pt modelId="{7E912E48-B803-44D4-827C-5A5B4D2D1CF8}" type="sibTrans" cxnId="{7D4E9B2B-F7D0-40B0-8E6B-B367CF537128}">
      <dgm:prSet/>
      <dgm:spPr/>
      <dgm:t>
        <a:bodyPr/>
        <a:lstStyle/>
        <a:p>
          <a:endParaRPr lang="en-US"/>
        </a:p>
      </dgm:t>
    </dgm:pt>
    <dgm:pt modelId="{53390E58-A768-4E52-A4E4-7FB75CA96323}">
      <dgm:prSet/>
      <dgm:spPr/>
      <dgm:t>
        <a:bodyPr/>
        <a:lstStyle/>
        <a:p>
          <a:r>
            <a:rPr lang="en-US" b="1"/>
            <a:t>2. MỤC TIÊU WEBSITE</a:t>
          </a:r>
        </a:p>
      </dgm:t>
    </dgm:pt>
    <dgm:pt modelId="{52E3D096-8CF5-43AD-BA4B-63D0D7180530}" type="parTrans" cxnId="{184CA355-E366-406F-B0C7-E6A699A77E49}">
      <dgm:prSet/>
      <dgm:spPr/>
      <dgm:t>
        <a:bodyPr/>
        <a:lstStyle/>
        <a:p>
          <a:endParaRPr lang="en-US"/>
        </a:p>
      </dgm:t>
    </dgm:pt>
    <dgm:pt modelId="{ECFD0EDC-61E8-4715-8BFB-E14A48C0BFEE}" type="sibTrans" cxnId="{184CA355-E366-406F-B0C7-E6A699A77E49}">
      <dgm:prSet/>
      <dgm:spPr/>
      <dgm:t>
        <a:bodyPr/>
        <a:lstStyle/>
        <a:p>
          <a:endParaRPr lang="en-US"/>
        </a:p>
      </dgm:t>
    </dgm:pt>
    <dgm:pt modelId="{D92E9339-606A-4F15-B145-C997F353F79A}">
      <dgm:prSet/>
      <dgm:spPr/>
      <dgm:t>
        <a:bodyPr/>
        <a:lstStyle/>
        <a:p>
          <a:r>
            <a:rPr lang="en-US" b="1"/>
            <a:t>3. PHÂN TÍCH HỆ THỐNG</a:t>
          </a:r>
        </a:p>
      </dgm:t>
    </dgm:pt>
    <dgm:pt modelId="{89D6FAAC-CAB6-433C-872A-F3BF9DD34183}" type="parTrans" cxnId="{9FEDA075-B3A9-42B2-B873-5662C31F2404}">
      <dgm:prSet/>
      <dgm:spPr/>
      <dgm:t>
        <a:bodyPr/>
        <a:lstStyle/>
        <a:p>
          <a:endParaRPr lang="en-US"/>
        </a:p>
      </dgm:t>
    </dgm:pt>
    <dgm:pt modelId="{16A5F621-99F4-4254-9EAD-09F400A531BD}" type="sibTrans" cxnId="{9FEDA075-B3A9-42B2-B873-5662C31F2404}">
      <dgm:prSet/>
      <dgm:spPr/>
      <dgm:t>
        <a:bodyPr/>
        <a:lstStyle/>
        <a:p>
          <a:endParaRPr lang="en-US"/>
        </a:p>
      </dgm:t>
    </dgm:pt>
    <dgm:pt modelId="{B7F18DA3-5519-48ED-9A85-3A77BF4474E6}">
      <dgm:prSet/>
      <dgm:spPr/>
      <dgm:t>
        <a:bodyPr/>
        <a:lstStyle/>
        <a:p>
          <a:r>
            <a:rPr lang="en-US" b="1"/>
            <a:t>4. DEMO SẢN PHẨM</a:t>
          </a:r>
        </a:p>
      </dgm:t>
    </dgm:pt>
    <dgm:pt modelId="{03DACC9E-9E65-4EE7-8967-B9C7D6C30A1B}" type="parTrans" cxnId="{F9D6DB61-7852-413E-8BCC-8BABC3C8F655}">
      <dgm:prSet/>
      <dgm:spPr/>
      <dgm:t>
        <a:bodyPr/>
        <a:lstStyle/>
        <a:p>
          <a:endParaRPr lang="en-US"/>
        </a:p>
      </dgm:t>
    </dgm:pt>
    <dgm:pt modelId="{5E2D7830-259D-4B88-8D42-9D09450329A3}" type="sibTrans" cxnId="{F9D6DB61-7852-413E-8BCC-8BABC3C8F655}">
      <dgm:prSet/>
      <dgm:spPr/>
      <dgm:t>
        <a:bodyPr/>
        <a:lstStyle/>
        <a:p>
          <a:endParaRPr lang="en-US"/>
        </a:p>
      </dgm:t>
    </dgm:pt>
    <dgm:pt modelId="{2A033E3F-0C50-4FD0-9E0B-DF260A6EAD8C}">
      <dgm:prSet/>
      <dgm:spPr/>
      <dgm:t>
        <a:bodyPr/>
        <a:lstStyle/>
        <a:p>
          <a:r>
            <a:rPr lang="en-US" b="1"/>
            <a:t>5. KẾT LUẬN VÀ HƯỚNG PHÁT TRIỂN</a:t>
          </a:r>
        </a:p>
      </dgm:t>
    </dgm:pt>
    <dgm:pt modelId="{20A2D3C1-A423-4C44-9716-9455D91D3B84}" type="parTrans" cxnId="{A5C916F0-220A-45D2-9AEB-25CE34C5898D}">
      <dgm:prSet/>
      <dgm:spPr/>
      <dgm:t>
        <a:bodyPr/>
        <a:lstStyle/>
        <a:p>
          <a:endParaRPr lang="en-US"/>
        </a:p>
      </dgm:t>
    </dgm:pt>
    <dgm:pt modelId="{92708A6B-D20A-4452-A6CB-6302BF06268D}" type="sibTrans" cxnId="{A5C916F0-220A-45D2-9AEB-25CE34C5898D}">
      <dgm:prSet/>
      <dgm:spPr/>
      <dgm:t>
        <a:bodyPr/>
        <a:lstStyle/>
        <a:p>
          <a:endParaRPr lang="en-US"/>
        </a:p>
      </dgm:t>
    </dgm:pt>
    <dgm:pt modelId="{850A02B2-A8EA-43A0-B5B7-2371F08A764C}" type="pres">
      <dgm:prSet presAssocID="{E27058DE-3815-4AAD-8B85-8722AB52F8C4}" presName="linear" presStyleCnt="0">
        <dgm:presLayoutVars>
          <dgm:animLvl val="lvl"/>
          <dgm:resizeHandles val="exact"/>
        </dgm:presLayoutVars>
      </dgm:prSet>
      <dgm:spPr/>
    </dgm:pt>
    <dgm:pt modelId="{09E9F8A2-FCF6-4F55-B6BA-D4C6B447495D}" type="pres">
      <dgm:prSet presAssocID="{92F01C0E-C9BA-41A0-AF90-DB6B74963CAC}" presName="parentText" presStyleLbl="node1" presStyleIdx="0" presStyleCnt="5">
        <dgm:presLayoutVars>
          <dgm:chMax val="0"/>
          <dgm:bulletEnabled val="1"/>
        </dgm:presLayoutVars>
      </dgm:prSet>
      <dgm:spPr/>
    </dgm:pt>
    <dgm:pt modelId="{42F20FD9-B730-44FA-B3F2-384C129CB783}" type="pres">
      <dgm:prSet presAssocID="{7E912E48-B803-44D4-827C-5A5B4D2D1CF8}" presName="spacer" presStyleCnt="0"/>
      <dgm:spPr/>
    </dgm:pt>
    <dgm:pt modelId="{7EBCC1F7-7077-4AC9-BA04-CFEA406A031E}" type="pres">
      <dgm:prSet presAssocID="{53390E58-A768-4E52-A4E4-7FB75CA96323}" presName="parentText" presStyleLbl="node1" presStyleIdx="1" presStyleCnt="5">
        <dgm:presLayoutVars>
          <dgm:chMax val="0"/>
          <dgm:bulletEnabled val="1"/>
        </dgm:presLayoutVars>
      </dgm:prSet>
      <dgm:spPr/>
    </dgm:pt>
    <dgm:pt modelId="{7D6F89B3-A7DD-4C19-BDEC-C953D63BCB84}" type="pres">
      <dgm:prSet presAssocID="{ECFD0EDC-61E8-4715-8BFB-E14A48C0BFEE}" presName="spacer" presStyleCnt="0"/>
      <dgm:spPr/>
    </dgm:pt>
    <dgm:pt modelId="{062144B9-28D5-499E-8D44-E11BC356D511}" type="pres">
      <dgm:prSet presAssocID="{D92E9339-606A-4F15-B145-C997F353F79A}" presName="parentText" presStyleLbl="node1" presStyleIdx="2" presStyleCnt="5">
        <dgm:presLayoutVars>
          <dgm:chMax val="0"/>
          <dgm:bulletEnabled val="1"/>
        </dgm:presLayoutVars>
      </dgm:prSet>
      <dgm:spPr/>
    </dgm:pt>
    <dgm:pt modelId="{0BC93B3E-9BFE-44DF-B971-454746AA4EBE}" type="pres">
      <dgm:prSet presAssocID="{16A5F621-99F4-4254-9EAD-09F400A531BD}" presName="spacer" presStyleCnt="0"/>
      <dgm:spPr/>
    </dgm:pt>
    <dgm:pt modelId="{842645F3-AF5C-43FF-9AF8-23311271C309}" type="pres">
      <dgm:prSet presAssocID="{B7F18DA3-5519-48ED-9A85-3A77BF4474E6}" presName="parentText" presStyleLbl="node1" presStyleIdx="3" presStyleCnt="5">
        <dgm:presLayoutVars>
          <dgm:chMax val="0"/>
          <dgm:bulletEnabled val="1"/>
        </dgm:presLayoutVars>
      </dgm:prSet>
      <dgm:spPr/>
    </dgm:pt>
    <dgm:pt modelId="{298BE297-2659-401E-B2C2-BE50E5FA3FB2}" type="pres">
      <dgm:prSet presAssocID="{5E2D7830-259D-4B88-8D42-9D09450329A3}" presName="spacer" presStyleCnt="0"/>
      <dgm:spPr/>
    </dgm:pt>
    <dgm:pt modelId="{69F4BB9D-9505-4EC8-8CBA-98B141F945B4}" type="pres">
      <dgm:prSet presAssocID="{2A033E3F-0C50-4FD0-9E0B-DF260A6EAD8C}" presName="parentText" presStyleLbl="node1" presStyleIdx="4" presStyleCnt="5">
        <dgm:presLayoutVars>
          <dgm:chMax val="0"/>
          <dgm:bulletEnabled val="1"/>
        </dgm:presLayoutVars>
      </dgm:prSet>
      <dgm:spPr/>
    </dgm:pt>
  </dgm:ptLst>
  <dgm:cxnLst>
    <dgm:cxn modelId="{6E119704-FD65-4145-953E-308AA267F75C}" type="presOf" srcId="{2A033E3F-0C50-4FD0-9E0B-DF260A6EAD8C}" destId="{69F4BB9D-9505-4EC8-8CBA-98B141F945B4}" srcOrd="0" destOrd="0" presId="urn:microsoft.com/office/officeart/2005/8/layout/vList2"/>
    <dgm:cxn modelId="{7D4E9B2B-F7D0-40B0-8E6B-B367CF537128}" srcId="{E27058DE-3815-4AAD-8B85-8722AB52F8C4}" destId="{92F01C0E-C9BA-41A0-AF90-DB6B74963CAC}" srcOrd="0" destOrd="0" parTransId="{4C0680D7-EE09-4713-A786-2E677ED66AF7}" sibTransId="{7E912E48-B803-44D4-827C-5A5B4D2D1CF8}"/>
    <dgm:cxn modelId="{824EA82C-C9B6-425A-9413-7CBDBAC91FFC}" type="presOf" srcId="{E27058DE-3815-4AAD-8B85-8722AB52F8C4}" destId="{850A02B2-A8EA-43A0-B5B7-2371F08A764C}" srcOrd="0" destOrd="0" presId="urn:microsoft.com/office/officeart/2005/8/layout/vList2"/>
    <dgm:cxn modelId="{05003135-E356-43D9-A4DE-FE4CE703E6EE}" type="presOf" srcId="{B7F18DA3-5519-48ED-9A85-3A77BF4474E6}" destId="{842645F3-AF5C-43FF-9AF8-23311271C309}" srcOrd="0" destOrd="0" presId="urn:microsoft.com/office/officeart/2005/8/layout/vList2"/>
    <dgm:cxn modelId="{F9D6DB61-7852-413E-8BCC-8BABC3C8F655}" srcId="{E27058DE-3815-4AAD-8B85-8722AB52F8C4}" destId="{B7F18DA3-5519-48ED-9A85-3A77BF4474E6}" srcOrd="3" destOrd="0" parTransId="{03DACC9E-9E65-4EE7-8967-B9C7D6C30A1B}" sibTransId="{5E2D7830-259D-4B88-8D42-9D09450329A3}"/>
    <dgm:cxn modelId="{9FEDA075-B3A9-42B2-B873-5662C31F2404}" srcId="{E27058DE-3815-4AAD-8B85-8722AB52F8C4}" destId="{D92E9339-606A-4F15-B145-C997F353F79A}" srcOrd="2" destOrd="0" parTransId="{89D6FAAC-CAB6-433C-872A-F3BF9DD34183}" sibTransId="{16A5F621-99F4-4254-9EAD-09F400A531BD}"/>
    <dgm:cxn modelId="{184CA355-E366-406F-B0C7-E6A699A77E49}" srcId="{E27058DE-3815-4AAD-8B85-8722AB52F8C4}" destId="{53390E58-A768-4E52-A4E4-7FB75CA96323}" srcOrd="1" destOrd="0" parTransId="{52E3D096-8CF5-43AD-BA4B-63D0D7180530}" sibTransId="{ECFD0EDC-61E8-4715-8BFB-E14A48C0BFEE}"/>
    <dgm:cxn modelId="{C91D468B-3CDF-4A10-92B1-1EF9AE1361AA}" type="presOf" srcId="{92F01C0E-C9BA-41A0-AF90-DB6B74963CAC}" destId="{09E9F8A2-FCF6-4F55-B6BA-D4C6B447495D}" srcOrd="0" destOrd="0" presId="urn:microsoft.com/office/officeart/2005/8/layout/vList2"/>
    <dgm:cxn modelId="{13808ED7-6E16-4D75-8318-66F68A2A5CD3}" type="presOf" srcId="{D92E9339-606A-4F15-B145-C997F353F79A}" destId="{062144B9-28D5-499E-8D44-E11BC356D511}" srcOrd="0" destOrd="0" presId="urn:microsoft.com/office/officeart/2005/8/layout/vList2"/>
    <dgm:cxn modelId="{405D51E7-9D17-48AF-A3B6-FF6771FE5DFA}" type="presOf" srcId="{53390E58-A768-4E52-A4E4-7FB75CA96323}" destId="{7EBCC1F7-7077-4AC9-BA04-CFEA406A031E}" srcOrd="0" destOrd="0" presId="urn:microsoft.com/office/officeart/2005/8/layout/vList2"/>
    <dgm:cxn modelId="{A5C916F0-220A-45D2-9AEB-25CE34C5898D}" srcId="{E27058DE-3815-4AAD-8B85-8722AB52F8C4}" destId="{2A033E3F-0C50-4FD0-9E0B-DF260A6EAD8C}" srcOrd="4" destOrd="0" parTransId="{20A2D3C1-A423-4C44-9716-9455D91D3B84}" sibTransId="{92708A6B-D20A-4452-A6CB-6302BF06268D}"/>
    <dgm:cxn modelId="{13292B4E-D0F8-4932-894B-5FADDDA1D483}" type="presParOf" srcId="{850A02B2-A8EA-43A0-B5B7-2371F08A764C}" destId="{09E9F8A2-FCF6-4F55-B6BA-D4C6B447495D}" srcOrd="0" destOrd="0" presId="urn:microsoft.com/office/officeart/2005/8/layout/vList2"/>
    <dgm:cxn modelId="{AD90C0DD-7647-4CBD-9F81-1EEFD5A3C8F9}" type="presParOf" srcId="{850A02B2-A8EA-43A0-B5B7-2371F08A764C}" destId="{42F20FD9-B730-44FA-B3F2-384C129CB783}" srcOrd="1" destOrd="0" presId="urn:microsoft.com/office/officeart/2005/8/layout/vList2"/>
    <dgm:cxn modelId="{F0B78C79-D5AF-48DE-AED4-A24D300C84AC}" type="presParOf" srcId="{850A02B2-A8EA-43A0-B5B7-2371F08A764C}" destId="{7EBCC1F7-7077-4AC9-BA04-CFEA406A031E}" srcOrd="2" destOrd="0" presId="urn:microsoft.com/office/officeart/2005/8/layout/vList2"/>
    <dgm:cxn modelId="{2DEA557E-3F14-4C07-844D-0326E53B5CB7}" type="presParOf" srcId="{850A02B2-A8EA-43A0-B5B7-2371F08A764C}" destId="{7D6F89B3-A7DD-4C19-BDEC-C953D63BCB84}" srcOrd="3" destOrd="0" presId="urn:microsoft.com/office/officeart/2005/8/layout/vList2"/>
    <dgm:cxn modelId="{78681027-51A7-44D0-BB72-76A982C818B9}" type="presParOf" srcId="{850A02B2-A8EA-43A0-B5B7-2371F08A764C}" destId="{062144B9-28D5-499E-8D44-E11BC356D511}" srcOrd="4" destOrd="0" presId="urn:microsoft.com/office/officeart/2005/8/layout/vList2"/>
    <dgm:cxn modelId="{4AF4546B-373C-4C91-9E32-B7238E24DB51}" type="presParOf" srcId="{850A02B2-A8EA-43A0-B5B7-2371F08A764C}" destId="{0BC93B3E-9BFE-44DF-B971-454746AA4EBE}" srcOrd="5" destOrd="0" presId="urn:microsoft.com/office/officeart/2005/8/layout/vList2"/>
    <dgm:cxn modelId="{B8AAF3DD-3034-46AC-AD0A-DBC08B0154F6}" type="presParOf" srcId="{850A02B2-A8EA-43A0-B5B7-2371F08A764C}" destId="{842645F3-AF5C-43FF-9AF8-23311271C309}" srcOrd="6" destOrd="0" presId="urn:microsoft.com/office/officeart/2005/8/layout/vList2"/>
    <dgm:cxn modelId="{CE359977-BC9D-463D-A505-13B3750C56FD}" type="presParOf" srcId="{850A02B2-A8EA-43A0-B5B7-2371F08A764C}" destId="{298BE297-2659-401E-B2C2-BE50E5FA3FB2}" srcOrd="7" destOrd="0" presId="urn:microsoft.com/office/officeart/2005/8/layout/vList2"/>
    <dgm:cxn modelId="{523F6432-0B07-43BC-8754-EFE6D9B9100B}" type="presParOf" srcId="{850A02B2-A8EA-43A0-B5B7-2371F08A764C}" destId="{69F4BB9D-9505-4EC8-8CBA-98B141F945B4}" srcOrd="8"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DF9146EC-D359-42CF-8935-8970D06F1B2B}" type="doc">
      <dgm:prSet loTypeId="urn:microsoft.com/office/officeart/2005/8/layout/vList2" loCatId="list" qsTypeId="urn:microsoft.com/office/officeart/2005/8/quickstyle/simple1" qsCatId="simple" csTypeId="urn:microsoft.com/office/officeart/2005/8/colors/accent0_3" csCatId="mainScheme"/>
      <dgm:spPr/>
      <dgm:t>
        <a:bodyPr/>
        <a:lstStyle/>
        <a:p>
          <a:endParaRPr lang="en-US"/>
        </a:p>
      </dgm:t>
    </dgm:pt>
    <dgm:pt modelId="{5A46837D-6E6F-4F08-84EE-1E7EDBAB3BA4}">
      <dgm:prSet/>
      <dgm:spPr/>
      <dgm:t>
        <a:bodyPr/>
        <a:lstStyle/>
        <a:p>
          <a:r>
            <a:rPr lang="en-US" b="1"/>
            <a:t>Mặc dù hệ thống đã vận hành ổn định với 121 tệp tin mã nguồn, vẫn còn một số điểm cần cải thiện</a:t>
          </a:r>
        </a:p>
      </dgm:t>
    </dgm:pt>
    <dgm:pt modelId="{4ACD8A1C-E5C5-42BF-A1CB-7A00D23E12BA}" type="parTrans" cxnId="{A7892277-6E3F-41A2-BB0A-E9988CDBFF7F}">
      <dgm:prSet/>
      <dgm:spPr/>
      <dgm:t>
        <a:bodyPr/>
        <a:lstStyle/>
        <a:p>
          <a:endParaRPr lang="en-US"/>
        </a:p>
      </dgm:t>
    </dgm:pt>
    <dgm:pt modelId="{6AFFB869-BB42-42C3-8613-40AF836A6CFE}" type="sibTrans" cxnId="{A7892277-6E3F-41A2-BB0A-E9988CDBFF7F}">
      <dgm:prSet/>
      <dgm:spPr/>
      <dgm:t>
        <a:bodyPr/>
        <a:lstStyle/>
        <a:p>
          <a:endParaRPr lang="en-US"/>
        </a:p>
      </dgm:t>
    </dgm:pt>
    <dgm:pt modelId="{091806F5-1952-4838-B7EC-7733F7C9EEC7}">
      <dgm:prSet/>
      <dgm:spPr/>
      <dgm:t>
        <a:bodyPr/>
        <a:lstStyle/>
        <a:p>
          <a:r>
            <a:rPr lang="vi-VN" b="1"/>
            <a:t>Về Chatbot: Cơ chế phản hồi hiện tại dựa trên kỹ thuật so khớp từ khóa (Keyword Matching), chưa ứng dụng các mô hình ngôn ngữ lớn để hiểu sâu ngữ cảnh phức tạp của người dùng.</a:t>
          </a:r>
          <a:endParaRPr lang="en-US" b="1"/>
        </a:p>
      </dgm:t>
    </dgm:pt>
    <dgm:pt modelId="{CFAFFE75-C6D4-48A9-A983-06A82A94EE20}" type="parTrans" cxnId="{71B0AD82-E1ED-4CE9-B399-3A7F636EB99B}">
      <dgm:prSet/>
      <dgm:spPr/>
      <dgm:t>
        <a:bodyPr/>
        <a:lstStyle/>
        <a:p>
          <a:endParaRPr lang="en-US"/>
        </a:p>
      </dgm:t>
    </dgm:pt>
    <dgm:pt modelId="{5FB8D58C-1D54-4DC8-9948-4D9CA290F22F}" type="sibTrans" cxnId="{71B0AD82-E1ED-4CE9-B399-3A7F636EB99B}">
      <dgm:prSet/>
      <dgm:spPr/>
      <dgm:t>
        <a:bodyPr/>
        <a:lstStyle/>
        <a:p>
          <a:endParaRPr lang="en-US"/>
        </a:p>
      </dgm:t>
    </dgm:pt>
    <dgm:pt modelId="{74E838C8-BB75-4367-BA27-5AE3BA163B73}">
      <dgm:prSet/>
      <dgm:spPr/>
      <dgm:t>
        <a:bodyPr/>
        <a:lstStyle/>
        <a:p>
          <a:r>
            <a:rPr lang="vi-VN" b="1"/>
            <a:t>Về Dữ liệu giá: Thông tin trong bảng price_tracking vẫn cần sự cập nhật thủ công từ phía Quản trị viên, chưa có cơ chế tự động thu thập dữ liệu (Crawl) từ các sàn giao dịch quốc tế.</a:t>
          </a:r>
          <a:endParaRPr lang="en-US" b="1"/>
        </a:p>
      </dgm:t>
    </dgm:pt>
    <dgm:pt modelId="{BDAB7C98-530C-46EA-8647-EA49356C65BC}" type="parTrans" cxnId="{4BE78DE1-B7A0-4135-8A5C-A868D2BC073B}">
      <dgm:prSet/>
      <dgm:spPr/>
      <dgm:t>
        <a:bodyPr/>
        <a:lstStyle/>
        <a:p>
          <a:endParaRPr lang="en-US"/>
        </a:p>
      </dgm:t>
    </dgm:pt>
    <dgm:pt modelId="{B6AD896C-F4F2-4203-A1A0-8D15236C26F8}" type="sibTrans" cxnId="{4BE78DE1-B7A0-4135-8A5C-A868D2BC073B}">
      <dgm:prSet/>
      <dgm:spPr/>
      <dgm:t>
        <a:bodyPr/>
        <a:lstStyle/>
        <a:p>
          <a:endParaRPr lang="en-US"/>
        </a:p>
      </dgm:t>
    </dgm:pt>
    <dgm:pt modelId="{87325414-6B53-411F-820E-BF6EDB17C197}">
      <dgm:prSet/>
      <dgm:spPr/>
      <dgm:t>
        <a:bodyPr/>
        <a:lstStyle/>
        <a:p>
          <a:r>
            <a:rPr lang="vi-VN" b="1"/>
            <a:t>Về Hạ tầng: Hệ thống hiện đang triển khai thực nghiệm trên môi trường Localhost (XAMPP), cần được triển khai lên Hosting thực tế để đánh giá hiệu năng dưới tải lượng người dùng lớn.</a:t>
          </a:r>
          <a:endParaRPr lang="en-US" b="1"/>
        </a:p>
      </dgm:t>
    </dgm:pt>
    <dgm:pt modelId="{B08AC7E4-36FE-4F1C-8986-CA8B342674E2}" type="parTrans" cxnId="{D2000A9F-AD2F-40CA-AF7D-390F2203FBEA}">
      <dgm:prSet/>
      <dgm:spPr/>
      <dgm:t>
        <a:bodyPr/>
        <a:lstStyle/>
        <a:p>
          <a:endParaRPr lang="en-US"/>
        </a:p>
      </dgm:t>
    </dgm:pt>
    <dgm:pt modelId="{B2B92E76-CE53-49B7-A30D-65F00781F27B}" type="sibTrans" cxnId="{D2000A9F-AD2F-40CA-AF7D-390F2203FBEA}">
      <dgm:prSet/>
      <dgm:spPr/>
      <dgm:t>
        <a:bodyPr/>
        <a:lstStyle/>
        <a:p>
          <a:endParaRPr lang="en-US"/>
        </a:p>
      </dgm:t>
    </dgm:pt>
    <dgm:pt modelId="{7D557386-4773-48ED-8D6E-6EC669F5FE5A}" type="pres">
      <dgm:prSet presAssocID="{DF9146EC-D359-42CF-8935-8970D06F1B2B}" presName="linear" presStyleCnt="0">
        <dgm:presLayoutVars>
          <dgm:animLvl val="lvl"/>
          <dgm:resizeHandles val="exact"/>
        </dgm:presLayoutVars>
      </dgm:prSet>
      <dgm:spPr/>
    </dgm:pt>
    <dgm:pt modelId="{D31E4C38-1EE6-4165-9E24-816857312C16}" type="pres">
      <dgm:prSet presAssocID="{5A46837D-6E6F-4F08-84EE-1E7EDBAB3BA4}" presName="parentText" presStyleLbl="node1" presStyleIdx="0" presStyleCnt="4">
        <dgm:presLayoutVars>
          <dgm:chMax val="0"/>
          <dgm:bulletEnabled val="1"/>
        </dgm:presLayoutVars>
      </dgm:prSet>
      <dgm:spPr/>
    </dgm:pt>
    <dgm:pt modelId="{94CC5701-7DF3-4635-B906-A78DB32814FB}" type="pres">
      <dgm:prSet presAssocID="{6AFFB869-BB42-42C3-8613-40AF836A6CFE}" presName="spacer" presStyleCnt="0"/>
      <dgm:spPr/>
    </dgm:pt>
    <dgm:pt modelId="{67CB82BD-C6ED-412E-8D6E-F5F996C4FD3E}" type="pres">
      <dgm:prSet presAssocID="{091806F5-1952-4838-B7EC-7733F7C9EEC7}" presName="parentText" presStyleLbl="node1" presStyleIdx="1" presStyleCnt="4">
        <dgm:presLayoutVars>
          <dgm:chMax val="0"/>
          <dgm:bulletEnabled val="1"/>
        </dgm:presLayoutVars>
      </dgm:prSet>
      <dgm:spPr/>
    </dgm:pt>
    <dgm:pt modelId="{12F6EE2E-ABD6-4D5D-979D-6587B552BCF0}" type="pres">
      <dgm:prSet presAssocID="{5FB8D58C-1D54-4DC8-9948-4D9CA290F22F}" presName="spacer" presStyleCnt="0"/>
      <dgm:spPr/>
    </dgm:pt>
    <dgm:pt modelId="{C57FFB13-B3DF-4272-9552-447FF8317CC0}" type="pres">
      <dgm:prSet presAssocID="{74E838C8-BB75-4367-BA27-5AE3BA163B73}" presName="parentText" presStyleLbl="node1" presStyleIdx="2" presStyleCnt="4">
        <dgm:presLayoutVars>
          <dgm:chMax val="0"/>
          <dgm:bulletEnabled val="1"/>
        </dgm:presLayoutVars>
      </dgm:prSet>
      <dgm:spPr/>
    </dgm:pt>
    <dgm:pt modelId="{F71C7475-E971-48FA-8E77-385E09BC6834}" type="pres">
      <dgm:prSet presAssocID="{B6AD896C-F4F2-4203-A1A0-8D15236C26F8}" presName="spacer" presStyleCnt="0"/>
      <dgm:spPr/>
    </dgm:pt>
    <dgm:pt modelId="{05764103-2290-46ED-83DA-C7183FC83F43}" type="pres">
      <dgm:prSet presAssocID="{87325414-6B53-411F-820E-BF6EDB17C197}" presName="parentText" presStyleLbl="node1" presStyleIdx="3" presStyleCnt="4">
        <dgm:presLayoutVars>
          <dgm:chMax val="0"/>
          <dgm:bulletEnabled val="1"/>
        </dgm:presLayoutVars>
      </dgm:prSet>
      <dgm:spPr/>
    </dgm:pt>
  </dgm:ptLst>
  <dgm:cxnLst>
    <dgm:cxn modelId="{9F0A5918-E9D6-4FC2-B3F3-F09B23C7F0A5}" type="presOf" srcId="{87325414-6B53-411F-820E-BF6EDB17C197}" destId="{05764103-2290-46ED-83DA-C7183FC83F43}" srcOrd="0" destOrd="0" presId="urn:microsoft.com/office/officeart/2005/8/layout/vList2"/>
    <dgm:cxn modelId="{8274A52F-8359-441E-AF3B-C110E4FCA6C8}" type="presOf" srcId="{DF9146EC-D359-42CF-8935-8970D06F1B2B}" destId="{7D557386-4773-48ED-8D6E-6EC669F5FE5A}" srcOrd="0" destOrd="0" presId="urn:microsoft.com/office/officeart/2005/8/layout/vList2"/>
    <dgm:cxn modelId="{A7892277-6E3F-41A2-BB0A-E9988CDBFF7F}" srcId="{DF9146EC-D359-42CF-8935-8970D06F1B2B}" destId="{5A46837D-6E6F-4F08-84EE-1E7EDBAB3BA4}" srcOrd="0" destOrd="0" parTransId="{4ACD8A1C-E5C5-42BF-A1CB-7A00D23E12BA}" sibTransId="{6AFFB869-BB42-42C3-8613-40AF836A6CFE}"/>
    <dgm:cxn modelId="{71B0AD82-E1ED-4CE9-B399-3A7F636EB99B}" srcId="{DF9146EC-D359-42CF-8935-8970D06F1B2B}" destId="{091806F5-1952-4838-B7EC-7733F7C9EEC7}" srcOrd="1" destOrd="0" parTransId="{CFAFFE75-C6D4-48A9-A983-06A82A94EE20}" sibTransId="{5FB8D58C-1D54-4DC8-9948-4D9CA290F22F}"/>
    <dgm:cxn modelId="{C16FAA95-B8E5-44B9-A8A9-08FE70C7AAF7}" type="presOf" srcId="{091806F5-1952-4838-B7EC-7733F7C9EEC7}" destId="{67CB82BD-C6ED-412E-8D6E-F5F996C4FD3E}" srcOrd="0" destOrd="0" presId="urn:microsoft.com/office/officeart/2005/8/layout/vList2"/>
    <dgm:cxn modelId="{39981C9C-A9D0-4A8B-A28D-438A74AE8E1E}" type="presOf" srcId="{5A46837D-6E6F-4F08-84EE-1E7EDBAB3BA4}" destId="{D31E4C38-1EE6-4165-9E24-816857312C16}" srcOrd="0" destOrd="0" presId="urn:microsoft.com/office/officeart/2005/8/layout/vList2"/>
    <dgm:cxn modelId="{D2000A9F-AD2F-40CA-AF7D-390F2203FBEA}" srcId="{DF9146EC-D359-42CF-8935-8970D06F1B2B}" destId="{87325414-6B53-411F-820E-BF6EDB17C197}" srcOrd="3" destOrd="0" parTransId="{B08AC7E4-36FE-4F1C-8986-CA8B342674E2}" sibTransId="{B2B92E76-CE53-49B7-A30D-65F00781F27B}"/>
    <dgm:cxn modelId="{53669CB5-F849-493C-824A-912174330287}" type="presOf" srcId="{74E838C8-BB75-4367-BA27-5AE3BA163B73}" destId="{C57FFB13-B3DF-4272-9552-447FF8317CC0}" srcOrd="0" destOrd="0" presId="urn:microsoft.com/office/officeart/2005/8/layout/vList2"/>
    <dgm:cxn modelId="{4BE78DE1-B7A0-4135-8A5C-A868D2BC073B}" srcId="{DF9146EC-D359-42CF-8935-8970D06F1B2B}" destId="{74E838C8-BB75-4367-BA27-5AE3BA163B73}" srcOrd="2" destOrd="0" parTransId="{BDAB7C98-530C-46EA-8647-EA49356C65BC}" sibTransId="{B6AD896C-F4F2-4203-A1A0-8D15236C26F8}"/>
    <dgm:cxn modelId="{7BACE118-D1DC-453C-93B6-8BFD97CBC8CE}" type="presParOf" srcId="{7D557386-4773-48ED-8D6E-6EC669F5FE5A}" destId="{D31E4C38-1EE6-4165-9E24-816857312C16}" srcOrd="0" destOrd="0" presId="urn:microsoft.com/office/officeart/2005/8/layout/vList2"/>
    <dgm:cxn modelId="{5F89AA71-DD52-43B2-BDF6-F40D00B3CE19}" type="presParOf" srcId="{7D557386-4773-48ED-8D6E-6EC669F5FE5A}" destId="{94CC5701-7DF3-4635-B906-A78DB32814FB}" srcOrd="1" destOrd="0" presId="urn:microsoft.com/office/officeart/2005/8/layout/vList2"/>
    <dgm:cxn modelId="{E1A2418E-B15F-4596-90C7-C0BE7F0D04E6}" type="presParOf" srcId="{7D557386-4773-48ED-8D6E-6EC669F5FE5A}" destId="{67CB82BD-C6ED-412E-8D6E-F5F996C4FD3E}" srcOrd="2" destOrd="0" presId="urn:microsoft.com/office/officeart/2005/8/layout/vList2"/>
    <dgm:cxn modelId="{FC28ACFE-E193-48C7-8D26-BBF801925080}" type="presParOf" srcId="{7D557386-4773-48ED-8D6E-6EC669F5FE5A}" destId="{12F6EE2E-ABD6-4D5D-979D-6587B552BCF0}" srcOrd="3" destOrd="0" presId="urn:microsoft.com/office/officeart/2005/8/layout/vList2"/>
    <dgm:cxn modelId="{ED7467A7-61F4-4DE0-A016-9D274B9DBEF2}" type="presParOf" srcId="{7D557386-4773-48ED-8D6E-6EC669F5FE5A}" destId="{C57FFB13-B3DF-4272-9552-447FF8317CC0}" srcOrd="4" destOrd="0" presId="urn:microsoft.com/office/officeart/2005/8/layout/vList2"/>
    <dgm:cxn modelId="{51B99BF9-9CD2-47F6-A3DD-974F68ADAD2B}" type="presParOf" srcId="{7D557386-4773-48ED-8D6E-6EC669F5FE5A}" destId="{F71C7475-E971-48FA-8E77-385E09BC6834}" srcOrd="5" destOrd="0" presId="urn:microsoft.com/office/officeart/2005/8/layout/vList2"/>
    <dgm:cxn modelId="{B19BF769-9624-40F0-9D45-F1531688B05B}" type="presParOf" srcId="{7D557386-4773-48ED-8D6E-6EC669F5FE5A}" destId="{05764103-2290-46ED-83DA-C7183FC83F43}"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415B31CB-95DC-4F48-BFC6-711E05809089}" type="doc">
      <dgm:prSet loTypeId="urn:microsoft.com/office/officeart/2005/8/layout/vList2" loCatId="list" qsTypeId="urn:microsoft.com/office/officeart/2005/8/quickstyle/simple1" qsCatId="simple" csTypeId="urn:microsoft.com/office/officeart/2005/8/colors/accent0_3" csCatId="mainScheme"/>
      <dgm:spPr/>
      <dgm:t>
        <a:bodyPr/>
        <a:lstStyle/>
        <a:p>
          <a:endParaRPr lang="en-US"/>
        </a:p>
      </dgm:t>
    </dgm:pt>
    <dgm:pt modelId="{42DDE5BD-1CF4-40FD-AD57-F05578DC6DC0}">
      <dgm:prSet/>
      <dgm:spPr/>
      <dgm:t>
        <a:bodyPr/>
        <a:lstStyle/>
        <a:p>
          <a:r>
            <a:rPr lang="vi-VN"/>
            <a:t>Để website thực sự trở thành một "Hệ sinh thái số" toàn diện, đề tài định hướng phát triển các module sau:</a:t>
          </a:r>
          <a:endParaRPr lang="en-US"/>
        </a:p>
      </dgm:t>
    </dgm:pt>
    <dgm:pt modelId="{BBE68DE9-1716-4ED8-97E5-CAC232B90362}" type="parTrans" cxnId="{44902767-A63C-465B-AE76-C63074FD89F3}">
      <dgm:prSet/>
      <dgm:spPr/>
      <dgm:t>
        <a:bodyPr/>
        <a:lstStyle/>
        <a:p>
          <a:endParaRPr lang="en-US"/>
        </a:p>
      </dgm:t>
    </dgm:pt>
    <dgm:pt modelId="{900503D8-67D2-41E1-BDBB-27A68A17EAAB}" type="sibTrans" cxnId="{44902767-A63C-465B-AE76-C63074FD89F3}">
      <dgm:prSet/>
      <dgm:spPr/>
      <dgm:t>
        <a:bodyPr/>
        <a:lstStyle/>
        <a:p>
          <a:endParaRPr lang="en-US"/>
        </a:p>
      </dgm:t>
    </dgm:pt>
    <dgm:pt modelId="{F281AA07-4869-451F-A163-013640CE97F4}">
      <dgm:prSet/>
      <dgm:spPr/>
      <dgm:t>
        <a:bodyPr/>
        <a:lstStyle/>
        <a:p>
          <a:r>
            <a:rPr lang="vi-VN" b="1"/>
            <a:t>Tích hợp hệ thống giám sát IoT (Internet of Things):</a:t>
          </a:r>
          <a:r>
            <a:rPr lang="vi-VN"/>
            <a:t> Kết nối website với các cảm biến tại ao nuôi để thu thập và hiển thị dữ liệu về độ pH, Oxy hòa tan, nhiệt độ nước theo thời gian thực .</a:t>
          </a:r>
          <a:endParaRPr lang="en-US"/>
        </a:p>
      </dgm:t>
    </dgm:pt>
    <dgm:pt modelId="{1D0D1BE1-E20A-4737-B318-A34DFE8FE224}" type="parTrans" cxnId="{7BC9F51C-412A-42CA-B8EE-500327433D42}">
      <dgm:prSet/>
      <dgm:spPr/>
      <dgm:t>
        <a:bodyPr/>
        <a:lstStyle/>
        <a:p>
          <a:endParaRPr lang="en-US"/>
        </a:p>
      </dgm:t>
    </dgm:pt>
    <dgm:pt modelId="{2BDB79DE-DAA0-4F9F-877D-CB442CAB398F}" type="sibTrans" cxnId="{7BC9F51C-412A-42CA-B8EE-500327433D42}">
      <dgm:prSet/>
      <dgm:spPr/>
      <dgm:t>
        <a:bodyPr/>
        <a:lstStyle/>
        <a:p>
          <a:endParaRPr lang="en-US"/>
        </a:p>
      </dgm:t>
    </dgm:pt>
    <dgm:pt modelId="{FC0DA460-6149-4578-A398-FAF4744D9234}">
      <dgm:prSet/>
      <dgm:spPr/>
      <dgm:t>
        <a:bodyPr/>
        <a:lstStyle/>
        <a:p>
          <a:r>
            <a:rPr lang="vi-VN" b="1"/>
            <a:t>Nâng cấp Trí tuệ nhân tạo (AI Deep Learning):</a:t>
          </a:r>
          <a:r>
            <a:rPr lang="vi-VN"/>
            <a:t> Tích hợp công nghệ nhận diện hình ảnh, cho phép nông dân chụp ảnh dấu hiệu trên tôm/cá để hệ thống tự động chẩn đoán bệnh chính xác hơn.</a:t>
          </a:r>
          <a:endParaRPr lang="en-US"/>
        </a:p>
      </dgm:t>
    </dgm:pt>
    <dgm:pt modelId="{5185742E-2B3F-4AB2-ABC8-7156BB261207}" type="parTrans" cxnId="{85076AEC-82A9-4AFD-95F6-D84692B98414}">
      <dgm:prSet/>
      <dgm:spPr/>
      <dgm:t>
        <a:bodyPr/>
        <a:lstStyle/>
        <a:p>
          <a:endParaRPr lang="en-US"/>
        </a:p>
      </dgm:t>
    </dgm:pt>
    <dgm:pt modelId="{817BB211-EF84-42C5-9B5F-83EE37BE2FC0}" type="sibTrans" cxnId="{85076AEC-82A9-4AFD-95F6-D84692B98414}">
      <dgm:prSet/>
      <dgm:spPr/>
      <dgm:t>
        <a:bodyPr/>
        <a:lstStyle/>
        <a:p>
          <a:endParaRPr lang="en-US"/>
        </a:p>
      </dgm:t>
    </dgm:pt>
    <dgm:pt modelId="{F0422F89-54C9-4576-B6C7-A8CE58CF672F}">
      <dgm:prSet/>
      <dgm:spPr/>
      <dgm:t>
        <a:bodyPr/>
        <a:lstStyle/>
        <a:p>
          <a:r>
            <a:rPr lang="en-US" b="1"/>
            <a:t>Phát triển Mobile App bản địa:</a:t>
          </a:r>
          <a:r>
            <a:rPr lang="en-US"/>
            <a:t> Chuyển đổi hệ thống sang nền tảng Android/iOS để hỗ trợ tính năng thông báo đẩy (Push Notification) về cảnh báo dịch bệnh khẩn cấp.</a:t>
          </a:r>
        </a:p>
      </dgm:t>
    </dgm:pt>
    <dgm:pt modelId="{84DE9C62-73B1-4D9A-8B76-7A1A06504074}" type="parTrans" cxnId="{C94224E3-6CE2-4C09-8641-638FA0541930}">
      <dgm:prSet/>
      <dgm:spPr/>
      <dgm:t>
        <a:bodyPr/>
        <a:lstStyle/>
        <a:p>
          <a:endParaRPr lang="en-US"/>
        </a:p>
      </dgm:t>
    </dgm:pt>
    <dgm:pt modelId="{FF2E8B8A-9FF5-4299-AA34-B6181F59565D}" type="sibTrans" cxnId="{C94224E3-6CE2-4C09-8641-638FA0541930}">
      <dgm:prSet/>
      <dgm:spPr/>
      <dgm:t>
        <a:bodyPr/>
        <a:lstStyle/>
        <a:p>
          <a:endParaRPr lang="en-US"/>
        </a:p>
      </dgm:t>
    </dgm:pt>
    <dgm:pt modelId="{1887DA42-4786-411C-8DD6-C4B4BF9C83A5}">
      <dgm:prSet/>
      <dgm:spPr/>
      <dgm:t>
        <a:bodyPr/>
        <a:lstStyle/>
        <a:p>
          <a:r>
            <a:rPr lang="vi-VN" b="1"/>
            <a:t>Mở rộng Sàn giao dịch thương mại điện tử:</a:t>
          </a:r>
          <a:r>
            <a:rPr lang="vi-VN"/>
            <a:t> Xây dựng tính năng kết nối trực tiếp giữa người nuôi và các doanh nghiệp thu mua, giúp giảm thiểu khâu trung gian và tối ưu giá trị nông sản.</a:t>
          </a:r>
          <a:endParaRPr lang="en-US"/>
        </a:p>
      </dgm:t>
    </dgm:pt>
    <dgm:pt modelId="{82CB2CFC-5226-474C-B0FB-5D3EFB9A7AE5}" type="parTrans" cxnId="{220189D4-9BB2-4D97-8B75-8E929FB28095}">
      <dgm:prSet/>
      <dgm:spPr/>
      <dgm:t>
        <a:bodyPr/>
        <a:lstStyle/>
        <a:p>
          <a:endParaRPr lang="en-US"/>
        </a:p>
      </dgm:t>
    </dgm:pt>
    <dgm:pt modelId="{10ADACA4-4CF4-44AA-981E-FEFAEE866B08}" type="sibTrans" cxnId="{220189D4-9BB2-4D97-8B75-8E929FB28095}">
      <dgm:prSet/>
      <dgm:spPr/>
      <dgm:t>
        <a:bodyPr/>
        <a:lstStyle/>
        <a:p>
          <a:endParaRPr lang="en-US"/>
        </a:p>
      </dgm:t>
    </dgm:pt>
    <dgm:pt modelId="{3C18B8F5-4150-41F2-90DC-50CF631F761F}" type="pres">
      <dgm:prSet presAssocID="{415B31CB-95DC-4F48-BFC6-711E05809089}" presName="linear" presStyleCnt="0">
        <dgm:presLayoutVars>
          <dgm:animLvl val="lvl"/>
          <dgm:resizeHandles val="exact"/>
        </dgm:presLayoutVars>
      </dgm:prSet>
      <dgm:spPr/>
    </dgm:pt>
    <dgm:pt modelId="{89092531-EE3F-4F42-B79A-6A9063E38071}" type="pres">
      <dgm:prSet presAssocID="{42DDE5BD-1CF4-40FD-AD57-F05578DC6DC0}" presName="parentText" presStyleLbl="node1" presStyleIdx="0" presStyleCnt="5">
        <dgm:presLayoutVars>
          <dgm:chMax val="0"/>
          <dgm:bulletEnabled val="1"/>
        </dgm:presLayoutVars>
      </dgm:prSet>
      <dgm:spPr/>
    </dgm:pt>
    <dgm:pt modelId="{97B9F780-9F4D-4C40-A6D1-6409A408EB8C}" type="pres">
      <dgm:prSet presAssocID="{900503D8-67D2-41E1-BDBB-27A68A17EAAB}" presName="spacer" presStyleCnt="0"/>
      <dgm:spPr/>
    </dgm:pt>
    <dgm:pt modelId="{AB468146-155A-4F24-A84F-40B8E83642AB}" type="pres">
      <dgm:prSet presAssocID="{F281AA07-4869-451F-A163-013640CE97F4}" presName="parentText" presStyleLbl="node1" presStyleIdx="1" presStyleCnt="5">
        <dgm:presLayoutVars>
          <dgm:chMax val="0"/>
          <dgm:bulletEnabled val="1"/>
        </dgm:presLayoutVars>
      </dgm:prSet>
      <dgm:spPr/>
    </dgm:pt>
    <dgm:pt modelId="{469CF6E5-6321-4238-9CFB-CCE731AF64E0}" type="pres">
      <dgm:prSet presAssocID="{2BDB79DE-DAA0-4F9F-877D-CB442CAB398F}" presName="spacer" presStyleCnt="0"/>
      <dgm:spPr/>
    </dgm:pt>
    <dgm:pt modelId="{ED2537BB-8CD6-4AC1-ADBE-897A525801D4}" type="pres">
      <dgm:prSet presAssocID="{FC0DA460-6149-4578-A398-FAF4744D9234}" presName="parentText" presStyleLbl="node1" presStyleIdx="2" presStyleCnt="5">
        <dgm:presLayoutVars>
          <dgm:chMax val="0"/>
          <dgm:bulletEnabled val="1"/>
        </dgm:presLayoutVars>
      </dgm:prSet>
      <dgm:spPr/>
    </dgm:pt>
    <dgm:pt modelId="{D5F89C98-8C03-4E5B-BDCB-56103787288A}" type="pres">
      <dgm:prSet presAssocID="{817BB211-EF84-42C5-9B5F-83EE37BE2FC0}" presName="spacer" presStyleCnt="0"/>
      <dgm:spPr/>
    </dgm:pt>
    <dgm:pt modelId="{DC111A15-05D8-42D0-AD09-5ECB08DF7F85}" type="pres">
      <dgm:prSet presAssocID="{F0422F89-54C9-4576-B6C7-A8CE58CF672F}" presName="parentText" presStyleLbl="node1" presStyleIdx="3" presStyleCnt="5">
        <dgm:presLayoutVars>
          <dgm:chMax val="0"/>
          <dgm:bulletEnabled val="1"/>
        </dgm:presLayoutVars>
      </dgm:prSet>
      <dgm:spPr/>
    </dgm:pt>
    <dgm:pt modelId="{27D4EF5B-0A37-45A7-8F40-24C256F7DEBF}" type="pres">
      <dgm:prSet presAssocID="{FF2E8B8A-9FF5-4299-AA34-B6181F59565D}" presName="spacer" presStyleCnt="0"/>
      <dgm:spPr/>
    </dgm:pt>
    <dgm:pt modelId="{1A1C6668-30B9-4847-9B60-6FEB11F914D9}" type="pres">
      <dgm:prSet presAssocID="{1887DA42-4786-411C-8DD6-C4B4BF9C83A5}" presName="parentText" presStyleLbl="node1" presStyleIdx="4" presStyleCnt="5">
        <dgm:presLayoutVars>
          <dgm:chMax val="0"/>
          <dgm:bulletEnabled val="1"/>
        </dgm:presLayoutVars>
      </dgm:prSet>
      <dgm:spPr/>
    </dgm:pt>
  </dgm:ptLst>
  <dgm:cxnLst>
    <dgm:cxn modelId="{7BC9F51C-412A-42CA-B8EE-500327433D42}" srcId="{415B31CB-95DC-4F48-BFC6-711E05809089}" destId="{F281AA07-4869-451F-A163-013640CE97F4}" srcOrd="1" destOrd="0" parTransId="{1D0D1BE1-E20A-4737-B318-A34DFE8FE224}" sibTransId="{2BDB79DE-DAA0-4F9F-877D-CB442CAB398F}"/>
    <dgm:cxn modelId="{44902767-A63C-465B-AE76-C63074FD89F3}" srcId="{415B31CB-95DC-4F48-BFC6-711E05809089}" destId="{42DDE5BD-1CF4-40FD-AD57-F05578DC6DC0}" srcOrd="0" destOrd="0" parTransId="{BBE68DE9-1716-4ED8-97E5-CAC232B90362}" sibTransId="{900503D8-67D2-41E1-BDBB-27A68A17EAAB}"/>
    <dgm:cxn modelId="{F67D1371-E819-4CC7-B089-10F15484B449}" type="presOf" srcId="{415B31CB-95DC-4F48-BFC6-711E05809089}" destId="{3C18B8F5-4150-41F2-90DC-50CF631F761F}" srcOrd="0" destOrd="0" presId="urn:microsoft.com/office/officeart/2005/8/layout/vList2"/>
    <dgm:cxn modelId="{132D7872-ABC7-49B0-975E-B91CDAF246AE}" type="presOf" srcId="{42DDE5BD-1CF4-40FD-AD57-F05578DC6DC0}" destId="{89092531-EE3F-4F42-B79A-6A9063E38071}" srcOrd="0" destOrd="0" presId="urn:microsoft.com/office/officeart/2005/8/layout/vList2"/>
    <dgm:cxn modelId="{FB3D1B8C-1E87-4312-A14F-375B48B420CE}" type="presOf" srcId="{1887DA42-4786-411C-8DD6-C4B4BF9C83A5}" destId="{1A1C6668-30B9-4847-9B60-6FEB11F914D9}" srcOrd="0" destOrd="0" presId="urn:microsoft.com/office/officeart/2005/8/layout/vList2"/>
    <dgm:cxn modelId="{7402C69A-7EA3-4B29-AE8B-DBC3D2C2BF73}" type="presOf" srcId="{F0422F89-54C9-4576-B6C7-A8CE58CF672F}" destId="{DC111A15-05D8-42D0-AD09-5ECB08DF7F85}" srcOrd="0" destOrd="0" presId="urn:microsoft.com/office/officeart/2005/8/layout/vList2"/>
    <dgm:cxn modelId="{0809F0AF-42A8-4434-8C4F-69F95E64FEC9}" type="presOf" srcId="{FC0DA460-6149-4578-A398-FAF4744D9234}" destId="{ED2537BB-8CD6-4AC1-ADBE-897A525801D4}" srcOrd="0" destOrd="0" presId="urn:microsoft.com/office/officeart/2005/8/layout/vList2"/>
    <dgm:cxn modelId="{220189D4-9BB2-4D97-8B75-8E929FB28095}" srcId="{415B31CB-95DC-4F48-BFC6-711E05809089}" destId="{1887DA42-4786-411C-8DD6-C4B4BF9C83A5}" srcOrd="4" destOrd="0" parTransId="{82CB2CFC-5226-474C-B0FB-5D3EFB9A7AE5}" sibTransId="{10ADACA4-4CF4-44AA-981E-FEFAEE866B08}"/>
    <dgm:cxn modelId="{C94224E3-6CE2-4C09-8641-638FA0541930}" srcId="{415B31CB-95DC-4F48-BFC6-711E05809089}" destId="{F0422F89-54C9-4576-B6C7-A8CE58CF672F}" srcOrd="3" destOrd="0" parTransId="{84DE9C62-73B1-4D9A-8B76-7A1A06504074}" sibTransId="{FF2E8B8A-9FF5-4299-AA34-B6181F59565D}"/>
    <dgm:cxn modelId="{2A7A71E4-24CC-49D7-B37E-B9F886472340}" type="presOf" srcId="{F281AA07-4869-451F-A163-013640CE97F4}" destId="{AB468146-155A-4F24-A84F-40B8E83642AB}" srcOrd="0" destOrd="0" presId="urn:microsoft.com/office/officeart/2005/8/layout/vList2"/>
    <dgm:cxn modelId="{85076AEC-82A9-4AFD-95F6-D84692B98414}" srcId="{415B31CB-95DC-4F48-BFC6-711E05809089}" destId="{FC0DA460-6149-4578-A398-FAF4744D9234}" srcOrd="2" destOrd="0" parTransId="{5185742E-2B3F-4AB2-ABC8-7156BB261207}" sibTransId="{817BB211-EF84-42C5-9B5F-83EE37BE2FC0}"/>
    <dgm:cxn modelId="{A3C8E4B6-0D86-4B8E-8858-BAF4F943021F}" type="presParOf" srcId="{3C18B8F5-4150-41F2-90DC-50CF631F761F}" destId="{89092531-EE3F-4F42-B79A-6A9063E38071}" srcOrd="0" destOrd="0" presId="urn:microsoft.com/office/officeart/2005/8/layout/vList2"/>
    <dgm:cxn modelId="{E882C4EB-3D64-4519-9053-2D1E0E538DB9}" type="presParOf" srcId="{3C18B8F5-4150-41F2-90DC-50CF631F761F}" destId="{97B9F780-9F4D-4C40-A6D1-6409A408EB8C}" srcOrd="1" destOrd="0" presId="urn:microsoft.com/office/officeart/2005/8/layout/vList2"/>
    <dgm:cxn modelId="{E8D56CFD-CD16-41E6-A9AA-E70B09C44911}" type="presParOf" srcId="{3C18B8F5-4150-41F2-90DC-50CF631F761F}" destId="{AB468146-155A-4F24-A84F-40B8E83642AB}" srcOrd="2" destOrd="0" presId="urn:microsoft.com/office/officeart/2005/8/layout/vList2"/>
    <dgm:cxn modelId="{BC2B5337-D136-475A-98B4-3DEDD374FA17}" type="presParOf" srcId="{3C18B8F5-4150-41F2-90DC-50CF631F761F}" destId="{469CF6E5-6321-4238-9CFB-CCE731AF64E0}" srcOrd="3" destOrd="0" presId="urn:microsoft.com/office/officeart/2005/8/layout/vList2"/>
    <dgm:cxn modelId="{CA7AF1EF-CF86-4BEC-A347-286455015AC9}" type="presParOf" srcId="{3C18B8F5-4150-41F2-90DC-50CF631F761F}" destId="{ED2537BB-8CD6-4AC1-ADBE-897A525801D4}" srcOrd="4" destOrd="0" presId="urn:microsoft.com/office/officeart/2005/8/layout/vList2"/>
    <dgm:cxn modelId="{8FBB30A2-B16B-42D3-85F0-D892F1DB7023}" type="presParOf" srcId="{3C18B8F5-4150-41F2-90DC-50CF631F761F}" destId="{D5F89C98-8C03-4E5B-BDCB-56103787288A}" srcOrd="5" destOrd="0" presId="urn:microsoft.com/office/officeart/2005/8/layout/vList2"/>
    <dgm:cxn modelId="{01D2FE0A-1562-43F4-8FF8-8BB191FFF689}" type="presParOf" srcId="{3C18B8F5-4150-41F2-90DC-50CF631F761F}" destId="{DC111A15-05D8-42D0-AD09-5ECB08DF7F85}" srcOrd="6" destOrd="0" presId="urn:microsoft.com/office/officeart/2005/8/layout/vList2"/>
    <dgm:cxn modelId="{5A8A518F-B6B7-41FD-A007-A7299102E09B}" type="presParOf" srcId="{3C18B8F5-4150-41F2-90DC-50CF631F761F}" destId="{27D4EF5B-0A37-45A7-8F40-24C256F7DEBF}" srcOrd="7" destOrd="0" presId="urn:microsoft.com/office/officeart/2005/8/layout/vList2"/>
    <dgm:cxn modelId="{DAB37B32-8402-40F7-9DAC-47D487FCE4BB}" type="presParOf" srcId="{3C18B8F5-4150-41F2-90DC-50CF631F761F}" destId="{1A1C6668-30B9-4847-9B60-6FEB11F914D9}" srcOrd="8"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9E9F8A2-FCF6-4F55-B6BA-D4C6B447495D}">
      <dsp:nvSpPr>
        <dsp:cNvPr id="0" name=""/>
        <dsp:cNvSpPr/>
      </dsp:nvSpPr>
      <dsp:spPr>
        <a:xfrm>
          <a:off x="0" y="25748"/>
          <a:ext cx="10515600" cy="786240"/>
        </a:xfrm>
        <a:prstGeom prst="roundRect">
          <a:avLst/>
        </a:prstGeom>
        <a:gradFill rotWithShape="0">
          <a:gsLst>
            <a:gs pos="0">
              <a:schemeClr val="accent5">
                <a:hueOff val="0"/>
                <a:satOff val="0"/>
                <a:lumOff val="0"/>
                <a:alphaOff val="0"/>
                <a:satMod val="103000"/>
                <a:lumMod val="102000"/>
                <a:tint val="94000"/>
              </a:schemeClr>
            </a:gs>
            <a:gs pos="50000">
              <a:schemeClr val="accent5">
                <a:hueOff val="0"/>
                <a:satOff val="0"/>
                <a:lumOff val="0"/>
                <a:alphaOff val="0"/>
                <a:satMod val="110000"/>
                <a:lumMod val="100000"/>
                <a:shade val="100000"/>
              </a:schemeClr>
            </a:gs>
            <a:gs pos="100000">
              <a:schemeClr val="accent5">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l" defTabSz="1422400">
            <a:lnSpc>
              <a:spcPct val="90000"/>
            </a:lnSpc>
            <a:spcBef>
              <a:spcPct val="0"/>
            </a:spcBef>
            <a:spcAft>
              <a:spcPct val="35000"/>
            </a:spcAft>
            <a:buNone/>
          </a:pPr>
          <a:r>
            <a:rPr lang="en-US" sz="3200" b="1" kern="1200"/>
            <a:t>1. TỔNG QUAN ĐỀ TÀI</a:t>
          </a:r>
        </a:p>
      </dsp:txBody>
      <dsp:txXfrm>
        <a:off x="38381" y="64129"/>
        <a:ext cx="10438838" cy="709478"/>
      </dsp:txXfrm>
    </dsp:sp>
    <dsp:sp modelId="{7EBCC1F7-7077-4AC9-BA04-CFEA406A031E}">
      <dsp:nvSpPr>
        <dsp:cNvPr id="0" name=""/>
        <dsp:cNvSpPr/>
      </dsp:nvSpPr>
      <dsp:spPr>
        <a:xfrm>
          <a:off x="0" y="904148"/>
          <a:ext cx="10515600" cy="786240"/>
        </a:xfrm>
        <a:prstGeom prst="roundRect">
          <a:avLst/>
        </a:prstGeom>
        <a:gradFill rotWithShape="0">
          <a:gsLst>
            <a:gs pos="0">
              <a:schemeClr val="accent5">
                <a:hueOff val="-3038037"/>
                <a:satOff val="-207"/>
                <a:lumOff val="490"/>
                <a:alphaOff val="0"/>
                <a:satMod val="103000"/>
                <a:lumMod val="102000"/>
                <a:tint val="94000"/>
              </a:schemeClr>
            </a:gs>
            <a:gs pos="50000">
              <a:schemeClr val="accent5">
                <a:hueOff val="-3038037"/>
                <a:satOff val="-207"/>
                <a:lumOff val="490"/>
                <a:alphaOff val="0"/>
                <a:satMod val="110000"/>
                <a:lumMod val="100000"/>
                <a:shade val="100000"/>
              </a:schemeClr>
            </a:gs>
            <a:gs pos="100000">
              <a:schemeClr val="accent5">
                <a:hueOff val="-3038037"/>
                <a:satOff val="-207"/>
                <a:lumOff val="49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l" defTabSz="1422400">
            <a:lnSpc>
              <a:spcPct val="90000"/>
            </a:lnSpc>
            <a:spcBef>
              <a:spcPct val="0"/>
            </a:spcBef>
            <a:spcAft>
              <a:spcPct val="35000"/>
            </a:spcAft>
            <a:buNone/>
          </a:pPr>
          <a:r>
            <a:rPr lang="en-US" sz="3200" b="1" kern="1200"/>
            <a:t>2. MỤC TIÊU WEBSITE</a:t>
          </a:r>
        </a:p>
      </dsp:txBody>
      <dsp:txXfrm>
        <a:off x="38381" y="942529"/>
        <a:ext cx="10438838" cy="709478"/>
      </dsp:txXfrm>
    </dsp:sp>
    <dsp:sp modelId="{062144B9-28D5-499E-8D44-E11BC356D511}">
      <dsp:nvSpPr>
        <dsp:cNvPr id="0" name=""/>
        <dsp:cNvSpPr/>
      </dsp:nvSpPr>
      <dsp:spPr>
        <a:xfrm>
          <a:off x="0" y="1782549"/>
          <a:ext cx="10515600" cy="786240"/>
        </a:xfrm>
        <a:prstGeom prst="roundRect">
          <a:avLst/>
        </a:prstGeom>
        <a:gradFill rotWithShape="0">
          <a:gsLst>
            <a:gs pos="0">
              <a:schemeClr val="accent5">
                <a:hueOff val="-6076075"/>
                <a:satOff val="-413"/>
                <a:lumOff val="981"/>
                <a:alphaOff val="0"/>
                <a:satMod val="103000"/>
                <a:lumMod val="102000"/>
                <a:tint val="94000"/>
              </a:schemeClr>
            </a:gs>
            <a:gs pos="50000">
              <a:schemeClr val="accent5">
                <a:hueOff val="-6076075"/>
                <a:satOff val="-413"/>
                <a:lumOff val="981"/>
                <a:alphaOff val="0"/>
                <a:satMod val="110000"/>
                <a:lumMod val="100000"/>
                <a:shade val="100000"/>
              </a:schemeClr>
            </a:gs>
            <a:gs pos="100000">
              <a:schemeClr val="accent5">
                <a:hueOff val="-6076075"/>
                <a:satOff val="-413"/>
                <a:lumOff val="981"/>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l" defTabSz="1422400">
            <a:lnSpc>
              <a:spcPct val="90000"/>
            </a:lnSpc>
            <a:spcBef>
              <a:spcPct val="0"/>
            </a:spcBef>
            <a:spcAft>
              <a:spcPct val="35000"/>
            </a:spcAft>
            <a:buNone/>
          </a:pPr>
          <a:r>
            <a:rPr lang="en-US" sz="3200" b="1" kern="1200"/>
            <a:t>3. PHÂN TÍCH HỆ THỐNG</a:t>
          </a:r>
        </a:p>
      </dsp:txBody>
      <dsp:txXfrm>
        <a:off x="38381" y="1820930"/>
        <a:ext cx="10438838" cy="709478"/>
      </dsp:txXfrm>
    </dsp:sp>
    <dsp:sp modelId="{842645F3-AF5C-43FF-9AF8-23311271C309}">
      <dsp:nvSpPr>
        <dsp:cNvPr id="0" name=""/>
        <dsp:cNvSpPr/>
      </dsp:nvSpPr>
      <dsp:spPr>
        <a:xfrm>
          <a:off x="0" y="2660949"/>
          <a:ext cx="10515600" cy="786240"/>
        </a:xfrm>
        <a:prstGeom prst="roundRect">
          <a:avLst/>
        </a:prstGeom>
        <a:gradFill rotWithShape="0">
          <a:gsLst>
            <a:gs pos="0">
              <a:schemeClr val="accent5">
                <a:hueOff val="-9114112"/>
                <a:satOff val="-620"/>
                <a:lumOff val="1471"/>
                <a:alphaOff val="0"/>
                <a:satMod val="103000"/>
                <a:lumMod val="102000"/>
                <a:tint val="94000"/>
              </a:schemeClr>
            </a:gs>
            <a:gs pos="50000">
              <a:schemeClr val="accent5">
                <a:hueOff val="-9114112"/>
                <a:satOff val="-620"/>
                <a:lumOff val="1471"/>
                <a:alphaOff val="0"/>
                <a:satMod val="110000"/>
                <a:lumMod val="100000"/>
                <a:shade val="100000"/>
              </a:schemeClr>
            </a:gs>
            <a:gs pos="100000">
              <a:schemeClr val="accent5">
                <a:hueOff val="-9114112"/>
                <a:satOff val="-620"/>
                <a:lumOff val="1471"/>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l" defTabSz="1422400">
            <a:lnSpc>
              <a:spcPct val="90000"/>
            </a:lnSpc>
            <a:spcBef>
              <a:spcPct val="0"/>
            </a:spcBef>
            <a:spcAft>
              <a:spcPct val="35000"/>
            </a:spcAft>
            <a:buNone/>
          </a:pPr>
          <a:r>
            <a:rPr lang="en-US" sz="3200" b="1" kern="1200"/>
            <a:t>4. DEMO SẢN PHẨM</a:t>
          </a:r>
        </a:p>
      </dsp:txBody>
      <dsp:txXfrm>
        <a:off x="38381" y="2699330"/>
        <a:ext cx="10438838" cy="709478"/>
      </dsp:txXfrm>
    </dsp:sp>
    <dsp:sp modelId="{69F4BB9D-9505-4EC8-8CBA-98B141F945B4}">
      <dsp:nvSpPr>
        <dsp:cNvPr id="0" name=""/>
        <dsp:cNvSpPr/>
      </dsp:nvSpPr>
      <dsp:spPr>
        <a:xfrm>
          <a:off x="0" y="3539349"/>
          <a:ext cx="10515600" cy="786240"/>
        </a:xfrm>
        <a:prstGeom prst="roundRect">
          <a:avLst/>
        </a:prstGeom>
        <a:gradFill rotWithShape="0">
          <a:gsLst>
            <a:gs pos="0">
              <a:schemeClr val="accent5">
                <a:hueOff val="-12152150"/>
                <a:satOff val="-826"/>
                <a:lumOff val="1961"/>
                <a:alphaOff val="0"/>
                <a:satMod val="103000"/>
                <a:lumMod val="102000"/>
                <a:tint val="94000"/>
              </a:schemeClr>
            </a:gs>
            <a:gs pos="50000">
              <a:schemeClr val="accent5">
                <a:hueOff val="-12152150"/>
                <a:satOff val="-826"/>
                <a:lumOff val="1961"/>
                <a:alphaOff val="0"/>
                <a:satMod val="110000"/>
                <a:lumMod val="100000"/>
                <a:shade val="100000"/>
              </a:schemeClr>
            </a:gs>
            <a:gs pos="100000">
              <a:schemeClr val="accent5">
                <a:hueOff val="-12152150"/>
                <a:satOff val="-826"/>
                <a:lumOff val="1961"/>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l" defTabSz="1422400">
            <a:lnSpc>
              <a:spcPct val="90000"/>
            </a:lnSpc>
            <a:spcBef>
              <a:spcPct val="0"/>
            </a:spcBef>
            <a:spcAft>
              <a:spcPct val="35000"/>
            </a:spcAft>
            <a:buNone/>
          </a:pPr>
          <a:r>
            <a:rPr lang="en-US" sz="3200" b="1" kern="1200"/>
            <a:t>5. KẾT LUẬN VÀ HƯỚNG PHÁT TRIỂN</a:t>
          </a:r>
        </a:p>
      </dsp:txBody>
      <dsp:txXfrm>
        <a:off x="38381" y="3577730"/>
        <a:ext cx="10438838" cy="709478"/>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31E4C38-1EE6-4165-9E24-816857312C16}">
      <dsp:nvSpPr>
        <dsp:cNvPr id="0" name=""/>
        <dsp:cNvSpPr/>
      </dsp:nvSpPr>
      <dsp:spPr>
        <a:xfrm>
          <a:off x="0" y="62925"/>
          <a:ext cx="10515600" cy="1015633"/>
        </a:xfrm>
        <a:prstGeom prst="roundRect">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US" sz="1900" b="1" kern="1200"/>
            <a:t>Mặc dù hệ thống đã vận hành ổn định với 121 tệp tin mã nguồn, vẫn còn một số điểm cần cải thiện</a:t>
          </a:r>
        </a:p>
      </dsp:txBody>
      <dsp:txXfrm>
        <a:off x="49579" y="112504"/>
        <a:ext cx="10416442" cy="916475"/>
      </dsp:txXfrm>
    </dsp:sp>
    <dsp:sp modelId="{67CB82BD-C6ED-412E-8D6E-F5F996C4FD3E}">
      <dsp:nvSpPr>
        <dsp:cNvPr id="0" name=""/>
        <dsp:cNvSpPr/>
      </dsp:nvSpPr>
      <dsp:spPr>
        <a:xfrm>
          <a:off x="0" y="1133278"/>
          <a:ext cx="10515600" cy="1015633"/>
        </a:xfrm>
        <a:prstGeom prst="roundRect">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vi-VN" sz="1900" b="1" kern="1200"/>
            <a:t>Về Chatbot: Cơ chế phản hồi hiện tại dựa trên kỹ thuật so khớp từ khóa (Keyword Matching), chưa ứng dụng các mô hình ngôn ngữ lớn để hiểu sâu ngữ cảnh phức tạp của người dùng.</a:t>
          </a:r>
          <a:endParaRPr lang="en-US" sz="1900" b="1" kern="1200"/>
        </a:p>
      </dsp:txBody>
      <dsp:txXfrm>
        <a:off x="49579" y="1182857"/>
        <a:ext cx="10416442" cy="916475"/>
      </dsp:txXfrm>
    </dsp:sp>
    <dsp:sp modelId="{C57FFB13-B3DF-4272-9552-447FF8317CC0}">
      <dsp:nvSpPr>
        <dsp:cNvPr id="0" name=""/>
        <dsp:cNvSpPr/>
      </dsp:nvSpPr>
      <dsp:spPr>
        <a:xfrm>
          <a:off x="0" y="2203632"/>
          <a:ext cx="10515600" cy="1015633"/>
        </a:xfrm>
        <a:prstGeom prst="roundRect">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vi-VN" sz="1900" b="1" kern="1200"/>
            <a:t>Về Dữ liệu giá: Thông tin trong bảng price_tracking vẫn cần sự cập nhật thủ công từ phía Quản trị viên, chưa có cơ chế tự động thu thập dữ liệu (Crawl) từ các sàn giao dịch quốc tế.</a:t>
          </a:r>
          <a:endParaRPr lang="en-US" sz="1900" b="1" kern="1200"/>
        </a:p>
      </dsp:txBody>
      <dsp:txXfrm>
        <a:off x="49579" y="2253211"/>
        <a:ext cx="10416442" cy="916475"/>
      </dsp:txXfrm>
    </dsp:sp>
    <dsp:sp modelId="{05764103-2290-46ED-83DA-C7183FC83F43}">
      <dsp:nvSpPr>
        <dsp:cNvPr id="0" name=""/>
        <dsp:cNvSpPr/>
      </dsp:nvSpPr>
      <dsp:spPr>
        <a:xfrm>
          <a:off x="0" y="3273985"/>
          <a:ext cx="10515600" cy="1015633"/>
        </a:xfrm>
        <a:prstGeom prst="roundRect">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vi-VN" sz="1900" b="1" kern="1200"/>
            <a:t>Về Hạ tầng: Hệ thống hiện đang triển khai thực nghiệm trên môi trường Localhost (XAMPP), cần được triển khai lên Hosting thực tế để đánh giá hiệu năng dưới tải lượng người dùng lớn.</a:t>
          </a:r>
          <a:endParaRPr lang="en-US" sz="1900" b="1" kern="1200"/>
        </a:p>
      </dsp:txBody>
      <dsp:txXfrm>
        <a:off x="49579" y="3323564"/>
        <a:ext cx="10416442" cy="916475"/>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9092531-EE3F-4F42-B79A-6A9063E38071}">
      <dsp:nvSpPr>
        <dsp:cNvPr id="0" name=""/>
        <dsp:cNvSpPr/>
      </dsp:nvSpPr>
      <dsp:spPr>
        <a:xfrm>
          <a:off x="0" y="280846"/>
          <a:ext cx="10515600" cy="716698"/>
        </a:xfrm>
        <a:prstGeom prst="roundRect">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vi-VN" sz="1800" kern="1200"/>
            <a:t>Để website thực sự trở thành một "Hệ sinh thái số" toàn diện, đề tài định hướng phát triển các module sau:</a:t>
          </a:r>
          <a:endParaRPr lang="en-US" sz="1800" kern="1200"/>
        </a:p>
      </dsp:txBody>
      <dsp:txXfrm>
        <a:off x="34986" y="315832"/>
        <a:ext cx="10445628" cy="646726"/>
      </dsp:txXfrm>
    </dsp:sp>
    <dsp:sp modelId="{AB468146-155A-4F24-A84F-40B8E83642AB}">
      <dsp:nvSpPr>
        <dsp:cNvPr id="0" name=""/>
        <dsp:cNvSpPr/>
      </dsp:nvSpPr>
      <dsp:spPr>
        <a:xfrm>
          <a:off x="0" y="1049384"/>
          <a:ext cx="10515600" cy="716698"/>
        </a:xfrm>
        <a:prstGeom prst="roundRect">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vi-VN" sz="1800" b="1" kern="1200"/>
            <a:t>Tích hợp hệ thống giám sát IoT (Internet of Things):</a:t>
          </a:r>
          <a:r>
            <a:rPr lang="vi-VN" sz="1800" kern="1200"/>
            <a:t> Kết nối website với các cảm biến tại ao nuôi để thu thập và hiển thị dữ liệu về độ pH, Oxy hòa tan, nhiệt độ nước theo thời gian thực .</a:t>
          </a:r>
          <a:endParaRPr lang="en-US" sz="1800" kern="1200"/>
        </a:p>
      </dsp:txBody>
      <dsp:txXfrm>
        <a:off x="34986" y="1084370"/>
        <a:ext cx="10445628" cy="646726"/>
      </dsp:txXfrm>
    </dsp:sp>
    <dsp:sp modelId="{ED2537BB-8CD6-4AC1-ADBE-897A525801D4}">
      <dsp:nvSpPr>
        <dsp:cNvPr id="0" name=""/>
        <dsp:cNvSpPr/>
      </dsp:nvSpPr>
      <dsp:spPr>
        <a:xfrm>
          <a:off x="0" y="1817922"/>
          <a:ext cx="10515600" cy="716698"/>
        </a:xfrm>
        <a:prstGeom prst="roundRect">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vi-VN" sz="1800" b="1" kern="1200"/>
            <a:t>Nâng cấp Trí tuệ nhân tạo (AI Deep Learning):</a:t>
          </a:r>
          <a:r>
            <a:rPr lang="vi-VN" sz="1800" kern="1200"/>
            <a:t> Tích hợp công nghệ nhận diện hình ảnh, cho phép nông dân chụp ảnh dấu hiệu trên tôm/cá để hệ thống tự động chẩn đoán bệnh chính xác hơn.</a:t>
          </a:r>
          <a:endParaRPr lang="en-US" sz="1800" kern="1200"/>
        </a:p>
      </dsp:txBody>
      <dsp:txXfrm>
        <a:off x="34986" y="1852908"/>
        <a:ext cx="10445628" cy="646726"/>
      </dsp:txXfrm>
    </dsp:sp>
    <dsp:sp modelId="{DC111A15-05D8-42D0-AD09-5ECB08DF7F85}">
      <dsp:nvSpPr>
        <dsp:cNvPr id="0" name=""/>
        <dsp:cNvSpPr/>
      </dsp:nvSpPr>
      <dsp:spPr>
        <a:xfrm>
          <a:off x="0" y="2586461"/>
          <a:ext cx="10515600" cy="716698"/>
        </a:xfrm>
        <a:prstGeom prst="roundRect">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b="1" kern="1200"/>
            <a:t>Phát triển Mobile App bản địa:</a:t>
          </a:r>
          <a:r>
            <a:rPr lang="en-US" sz="1800" kern="1200"/>
            <a:t> Chuyển đổi hệ thống sang nền tảng Android/iOS để hỗ trợ tính năng thông báo đẩy (Push Notification) về cảnh báo dịch bệnh khẩn cấp.</a:t>
          </a:r>
        </a:p>
      </dsp:txBody>
      <dsp:txXfrm>
        <a:off x="34986" y="2621447"/>
        <a:ext cx="10445628" cy="646726"/>
      </dsp:txXfrm>
    </dsp:sp>
    <dsp:sp modelId="{1A1C6668-30B9-4847-9B60-6FEB11F914D9}">
      <dsp:nvSpPr>
        <dsp:cNvPr id="0" name=""/>
        <dsp:cNvSpPr/>
      </dsp:nvSpPr>
      <dsp:spPr>
        <a:xfrm>
          <a:off x="0" y="3354999"/>
          <a:ext cx="10515600" cy="716698"/>
        </a:xfrm>
        <a:prstGeom prst="roundRect">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vi-VN" sz="1800" b="1" kern="1200"/>
            <a:t>Mở rộng Sàn giao dịch thương mại điện tử:</a:t>
          </a:r>
          <a:r>
            <a:rPr lang="vi-VN" sz="1800" kern="1200"/>
            <a:t> Xây dựng tính năng kết nối trực tiếp giữa người nuôi và các doanh nghiệp thu mua, giúp giảm thiểu khâu trung gian và tối ưu giá trị nông sản.</a:t>
          </a:r>
          <a:endParaRPr lang="en-US" sz="1800" kern="1200"/>
        </a:p>
      </dsp:txBody>
      <dsp:txXfrm>
        <a:off x="34986" y="3389985"/>
        <a:ext cx="10445628" cy="646726"/>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01T04:37:28.567"/>
    </inkml:context>
    <inkml:brush xml:id="br0">
      <inkml:brushProperty name="width" value="0.1" units="cm"/>
      <inkml:brushProperty name="height" value="0.1" units="cm"/>
      <inkml:brushProperty name="color" value="#004F8B"/>
    </inkml:brush>
  </inkml:definitions>
  <inkml:trace contextRef="#ctx0" brushRef="#br0">1 0 8192,'0'0'0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01T04:40:13.035"/>
    </inkml:context>
    <inkml:brush xml:id="br0">
      <inkml:brushProperty name="width" value="0.1" units="cm"/>
      <inkml:brushProperty name="height" value="0.1" units="cm"/>
      <inkml:brushProperty name="color" value="#004F8B"/>
    </inkml:brush>
  </inkml:definitions>
  <inkml:trace contextRef="#ctx0" brushRef="#br0">1 0 8192,'4'0'0,"7"0"3356,1 0-3356</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01T05:11:20.280"/>
    </inkml:context>
    <inkml:brush xml:id="br0">
      <inkml:brushProperty name="width" value="0.1" units="cm"/>
      <inkml:brushProperty name="height" value="0.1" units="cm"/>
      <inkml:brushProperty name="color" value="#004F8B"/>
    </inkml:brush>
  </inkml:definitions>
  <inkml:trace contextRef="#ctx0" brushRef="#br0">1 0 8192,'4'0'0,"7"0"3356,1 0-3356</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1907F88-FF05-4319-A290-FB3CE3E6C20F}" type="datetimeFigureOut">
              <a:rPr lang="en-US" smtClean="0"/>
              <a:t>1/7/2026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D019C4E-0E40-431A-B2BD-BD523C50A262}" type="slidenum">
              <a:rPr lang="en-US" smtClean="0"/>
              <a:t>‹#›</a:t>
            </a:fld>
            <a:endParaRPr lang="en-US"/>
          </a:p>
        </p:txBody>
      </p:sp>
    </p:spTree>
    <p:extLst>
      <p:ext uri="{BB962C8B-B14F-4D97-AF65-F5344CB8AC3E}">
        <p14:creationId xmlns:p14="http://schemas.microsoft.com/office/powerpoint/2010/main" val="359182313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2D019C4E-0E40-431A-B2BD-BD523C50A262}" type="slidenum">
              <a:rPr lang="en-US" smtClean="0"/>
              <a:t>13</a:t>
            </a:fld>
            <a:endParaRPr lang="en-US"/>
          </a:p>
        </p:txBody>
      </p:sp>
    </p:spTree>
    <p:extLst>
      <p:ext uri="{BB962C8B-B14F-4D97-AF65-F5344CB8AC3E}">
        <p14:creationId xmlns:p14="http://schemas.microsoft.com/office/powerpoint/2010/main" val="325799839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C23121-AC44-F877-3059-B117DBF5CB1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FE2C3B4D-AE34-27BD-93C3-581EEDC29A1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F75E22D9-9D83-2FF5-9099-F8AFEAA76959}"/>
              </a:ext>
            </a:extLst>
          </p:cNvPr>
          <p:cNvSpPr>
            <a:spLocks noGrp="1"/>
          </p:cNvSpPr>
          <p:nvPr>
            <p:ph type="dt" sz="half" idx="10"/>
          </p:nvPr>
        </p:nvSpPr>
        <p:spPr/>
        <p:txBody>
          <a:bodyPr/>
          <a:lstStyle/>
          <a:p>
            <a:fld id="{221DE5A9-D254-4DFA-BA73-0F8ECFE63CBE}" type="datetimeFigureOut">
              <a:rPr lang="en-US" smtClean="0"/>
              <a:t>1/7/2026</a:t>
            </a:fld>
            <a:endParaRPr lang="en-US"/>
          </a:p>
        </p:txBody>
      </p:sp>
      <p:sp>
        <p:nvSpPr>
          <p:cNvPr id="5" name="Footer Placeholder 4">
            <a:extLst>
              <a:ext uri="{FF2B5EF4-FFF2-40B4-BE49-F238E27FC236}">
                <a16:creationId xmlns:a16="http://schemas.microsoft.com/office/drawing/2014/main" id="{D4517225-225E-D3B7-9BCD-F26CE553103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23661E7-0927-9F66-BC18-440AB50A7E2C}"/>
              </a:ext>
            </a:extLst>
          </p:cNvPr>
          <p:cNvSpPr>
            <a:spLocks noGrp="1"/>
          </p:cNvSpPr>
          <p:nvPr>
            <p:ph type="sldNum" sz="quarter" idx="12"/>
          </p:nvPr>
        </p:nvSpPr>
        <p:spPr/>
        <p:txBody>
          <a:bodyPr/>
          <a:lstStyle/>
          <a:p>
            <a:fld id="{91BFD89B-6A14-4738-9D66-E759862162E6}" type="slidenum">
              <a:rPr lang="en-US" smtClean="0"/>
              <a:t>‹#›</a:t>
            </a:fld>
            <a:endParaRPr lang="en-US"/>
          </a:p>
        </p:txBody>
      </p:sp>
    </p:spTree>
    <p:extLst>
      <p:ext uri="{BB962C8B-B14F-4D97-AF65-F5344CB8AC3E}">
        <p14:creationId xmlns:p14="http://schemas.microsoft.com/office/powerpoint/2010/main" val="34908901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2EB404-6415-10D4-488F-C1F3B6361B6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544AF32-3773-D19A-A744-30EB7FE9AA1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398F735-57B9-55A8-CC7B-2FA54929B0CF}"/>
              </a:ext>
            </a:extLst>
          </p:cNvPr>
          <p:cNvSpPr>
            <a:spLocks noGrp="1"/>
          </p:cNvSpPr>
          <p:nvPr>
            <p:ph type="dt" sz="half" idx="10"/>
          </p:nvPr>
        </p:nvSpPr>
        <p:spPr/>
        <p:txBody>
          <a:bodyPr/>
          <a:lstStyle/>
          <a:p>
            <a:fld id="{221DE5A9-D254-4DFA-BA73-0F8ECFE63CBE}" type="datetimeFigureOut">
              <a:rPr lang="en-US" smtClean="0"/>
              <a:t>1/7/2026</a:t>
            </a:fld>
            <a:endParaRPr lang="en-US"/>
          </a:p>
        </p:txBody>
      </p:sp>
      <p:sp>
        <p:nvSpPr>
          <p:cNvPr id="5" name="Footer Placeholder 4">
            <a:extLst>
              <a:ext uri="{FF2B5EF4-FFF2-40B4-BE49-F238E27FC236}">
                <a16:creationId xmlns:a16="http://schemas.microsoft.com/office/drawing/2014/main" id="{03DE3046-8D29-72EE-1697-1335735379D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5736238-9979-0B11-5244-ADE0F0EEBFEB}"/>
              </a:ext>
            </a:extLst>
          </p:cNvPr>
          <p:cNvSpPr>
            <a:spLocks noGrp="1"/>
          </p:cNvSpPr>
          <p:nvPr>
            <p:ph type="sldNum" sz="quarter" idx="12"/>
          </p:nvPr>
        </p:nvSpPr>
        <p:spPr/>
        <p:txBody>
          <a:bodyPr/>
          <a:lstStyle/>
          <a:p>
            <a:fld id="{91BFD89B-6A14-4738-9D66-E759862162E6}" type="slidenum">
              <a:rPr lang="en-US" smtClean="0"/>
              <a:t>‹#›</a:t>
            </a:fld>
            <a:endParaRPr lang="en-US"/>
          </a:p>
        </p:txBody>
      </p:sp>
    </p:spTree>
    <p:extLst>
      <p:ext uri="{BB962C8B-B14F-4D97-AF65-F5344CB8AC3E}">
        <p14:creationId xmlns:p14="http://schemas.microsoft.com/office/powerpoint/2010/main" val="20619704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AF09FF-ACA9-ED80-4584-1FC4F53A8B5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88C60945-A087-A454-F843-F893F8A75E93}"/>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60211D0-27AA-869E-BE18-53B5AF777198}"/>
              </a:ext>
            </a:extLst>
          </p:cNvPr>
          <p:cNvSpPr>
            <a:spLocks noGrp="1"/>
          </p:cNvSpPr>
          <p:nvPr>
            <p:ph type="dt" sz="half" idx="10"/>
          </p:nvPr>
        </p:nvSpPr>
        <p:spPr/>
        <p:txBody>
          <a:bodyPr/>
          <a:lstStyle/>
          <a:p>
            <a:fld id="{221DE5A9-D254-4DFA-BA73-0F8ECFE63CBE}" type="datetimeFigureOut">
              <a:rPr lang="en-US" smtClean="0"/>
              <a:t>1/7/2026</a:t>
            </a:fld>
            <a:endParaRPr lang="en-US"/>
          </a:p>
        </p:txBody>
      </p:sp>
      <p:sp>
        <p:nvSpPr>
          <p:cNvPr id="5" name="Footer Placeholder 4">
            <a:extLst>
              <a:ext uri="{FF2B5EF4-FFF2-40B4-BE49-F238E27FC236}">
                <a16:creationId xmlns:a16="http://schemas.microsoft.com/office/drawing/2014/main" id="{25C0358B-6933-C177-737D-606BDBBF1FD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2E03D4C-B152-E289-C688-A977F03325A7}"/>
              </a:ext>
            </a:extLst>
          </p:cNvPr>
          <p:cNvSpPr>
            <a:spLocks noGrp="1"/>
          </p:cNvSpPr>
          <p:nvPr>
            <p:ph type="sldNum" sz="quarter" idx="12"/>
          </p:nvPr>
        </p:nvSpPr>
        <p:spPr/>
        <p:txBody>
          <a:bodyPr/>
          <a:lstStyle/>
          <a:p>
            <a:fld id="{91BFD89B-6A14-4738-9D66-E759862162E6}" type="slidenum">
              <a:rPr lang="en-US" smtClean="0"/>
              <a:t>‹#›</a:t>
            </a:fld>
            <a:endParaRPr lang="en-US"/>
          </a:p>
        </p:txBody>
      </p:sp>
    </p:spTree>
    <p:extLst>
      <p:ext uri="{BB962C8B-B14F-4D97-AF65-F5344CB8AC3E}">
        <p14:creationId xmlns:p14="http://schemas.microsoft.com/office/powerpoint/2010/main" val="6293393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13B27E-2671-643D-B30B-F2A460697F3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4740DC5-E733-7D98-2410-5C180BD1D23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8DF2B7A-A1C6-7A39-AA8B-0E4188FD59F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BF123330-F50B-CC2A-7D11-3E667ED7C2D3}"/>
              </a:ext>
            </a:extLst>
          </p:cNvPr>
          <p:cNvSpPr>
            <a:spLocks noGrp="1"/>
          </p:cNvSpPr>
          <p:nvPr>
            <p:ph type="dt" sz="half" idx="10"/>
          </p:nvPr>
        </p:nvSpPr>
        <p:spPr/>
        <p:txBody>
          <a:bodyPr/>
          <a:lstStyle/>
          <a:p>
            <a:fld id="{221DE5A9-D254-4DFA-BA73-0F8ECFE63CBE}" type="datetimeFigureOut">
              <a:rPr lang="en-US" smtClean="0"/>
              <a:t>1/7/2026</a:t>
            </a:fld>
            <a:endParaRPr lang="en-US"/>
          </a:p>
        </p:txBody>
      </p:sp>
      <p:sp>
        <p:nvSpPr>
          <p:cNvPr id="6" name="Footer Placeholder 5">
            <a:extLst>
              <a:ext uri="{FF2B5EF4-FFF2-40B4-BE49-F238E27FC236}">
                <a16:creationId xmlns:a16="http://schemas.microsoft.com/office/drawing/2014/main" id="{EC3A30A2-E9E0-FBF2-D33D-6AFAD6FF6C6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B0D2CAC-47AD-CD7D-5032-7312461D682F}"/>
              </a:ext>
            </a:extLst>
          </p:cNvPr>
          <p:cNvSpPr>
            <a:spLocks noGrp="1"/>
          </p:cNvSpPr>
          <p:nvPr>
            <p:ph type="sldNum" sz="quarter" idx="12"/>
          </p:nvPr>
        </p:nvSpPr>
        <p:spPr/>
        <p:txBody>
          <a:bodyPr/>
          <a:lstStyle/>
          <a:p>
            <a:fld id="{91BFD89B-6A14-4738-9D66-E759862162E6}" type="slidenum">
              <a:rPr lang="en-US" smtClean="0"/>
              <a:t>‹#›</a:t>
            </a:fld>
            <a:endParaRPr lang="en-US"/>
          </a:p>
        </p:txBody>
      </p:sp>
    </p:spTree>
    <p:extLst>
      <p:ext uri="{BB962C8B-B14F-4D97-AF65-F5344CB8AC3E}">
        <p14:creationId xmlns:p14="http://schemas.microsoft.com/office/powerpoint/2010/main" val="29274529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7C2A25-BB6E-7E29-C158-9833AA5C27D9}"/>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A89A3886-B417-908E-56DF-E71D0381E1E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2F61804-B8B1-46ED-491E-DCAA0587AC8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9B41D160-9842-6378-EAF4-0BC211DE202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C535255-3FEC-DDCB-DA93-849470FC36E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5762270-CDC7-A92B-93FE-938893743E20}"/>
              </a:ext>
            </a:extLst>
          </p:cNvPr>
          <p:cNvSpPr>
            <a:spLocks noGrp="1"/>
          </p:cNvSpPr>
          <p:nvPr>
            <p:ph type="dt" sz="half" idx="10"/>
          </p:nvPr>
        </p:nvSpPr>
        <p:spPr/>
        <p:txBody>
          <a:bodyPr/>
          <a:lstStyle/>
          <a:p>
            <a:fld id="{221DE5A9-D254-4DFA-BA73-0F8ECFE63CBE}" type="datetimeFigureOut">
              <a:rPr lang="en-US" smtClean="0"/>
              <a:t>1/7/2026</a:t>
            </a:fld>
            <a:endParaRPr lang="en-US"/>
          </a:p>
        </p:txBody>
      </p:sp>
      <p:sp>
        <p:nvSpPr>
          <p:cNvPr id="8" name="Footer Placeholder 7">
            <a:extLst>
              <a:ext uri="{FF2B5EF4-FFF2-40B4-BE49-F238E27FC236}">
                <a16:creationId xmlns:a16="http://schemas.microsoft.com/office/drawing/2014/main" id="{61262608-FC5F-20FF-415B-A061384B4C8F}"/>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951BE50-D1A1-190E-9CB0-D0DD59315DAA}"/>
              </a:ext>
            </a:extLst>
          </p:cNvPr>
          <p:cNvSpPr>
            <a:spLocks noGrp="1"/>
          </p:cNvSpPr>
          <p:nvPr>
            <p:ph type="sldNum" sz="quarter" idx="12"/>
          </p:nvPr>
        </p:nvSpPr>
        <p:spPr/>
        <p:txBody>
          <a:bodyPr/>
          <a:lstStyle/>
          <a:p>
            <a:fld id="{91BFD89B-6A14-4738-9D66-E759862162E6}" type="slidenum">
              <a:rPr lang="en-US" smtClean="0"/>
              <a:t>‹#›</a:t>
            </a:fld>
            <a:endParaRPr lang="en-US"/>
          </a:p>
        </p:txBody>
      </p:sp>
    </p:spTree>
    <p:extLst>
      <p:ext uri="{BB962C8B-B14F-4D97-AF65-F5344CB8AC3E}">
        <p14:creationId xmlns:p14="http://schemas.microsoft.com/office/powerpoint/2010/main" val="22659532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962596-24AD-A60C-71E0-C62EDEFCB801}"/>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B7C775F-BD08-D833-EC15-294E60056BC4}"/>
              </a:ext>
            </a:extLst>
          </p:cNvPr>
          <p:cNvSpPr>
            <a:spLocks noGrp="1"/>
          </p:cNvSpPr>
          <p:nvPr>
            <p:ph type="dt" sz="half" idx="10"/>
          </p:nvPr>
        </p:nvSpPr>
        <p:spPr/>
        <p:txBody>
          <a:bodyPr/>
          <a:lstStyle/>
          <a:p>
            <a:fld id="{221DE5A9-D254-4DFA-BA73-0F8ECFE63CBE}" type="datetimeFigureOut">
              <a:rPr lang="en-US" smtClean="0"/>
              <a:t>1/7/2026</a:t>
            </a:fld>
            <a:endParaRPr lang="en-US"/>
          </a:p>
        </p:txBody>
      </p:sp>
      <p:sp>
        <p:nvSpPr>
          <p:cNvPr id="4" name="Footer Placeholder 3">
            <a:extLst>
              <a:ext uri="{FF2B5EF4-FFF2-40B4-BE49-F238E27FC236}">
                <a16:creationId xmlns:a16="http://schemas.microsoft.com/office/drawing/2014/main" id="{611BD707-D4C8-8A55-AD87-AC711DF8F48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76F62F27-1EE3-0876-A5F9-052E958C0AC5}"/>
              </a:ext>
            </a:extLst>
          </p:cNvPr>
          <p:cNvSpPr>
            <a:spLocks noGrp="1"/>
          </p:cNvSpPr>
          <p:nvPr>
            <p:ph type="sldNum" sz="quarter" idx="12"/>
          </p:nvPr>
        </p:nvSpPr>
        <p:spPr/>
        <p:txBody>
          <a:bodyPr/>
          <a:lstStyle/>
          <a:p>
            <a:fld id="{91BFD89B-6A14-4738-9D66-E759862162E6}" type="slidenum">
              <a:rPr lang="en-US" smtClean="0"/>
              <a:t>‹#›</a:t>
            </a:fld>
            <a:endParaRPr lang="en-US"/>
          </a:p>
        </p:txBody>
      </p:sp>
    </p:spTree>
    <p:extLst>
      <p:ext uri="{BB962C8B-B14F-4D97-AF65-F5344CB8AC3E}">
        <p14:creationId xmlns:p14="http://schemas.microsoft.com/office/powerpoint/2010/main" val="37799966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08D846F-26B8-CFFC-B6C3-4DA5ACE703E8}"/>
              </a:ext>
            </a:extLst>
          </p:cNvPr>
          <p:cNvSpPr>
            <a:spLocks noGrp="1"/>
          </p:cNvSpPr>
          <p:nvPr>
            <p:ph type="dt" sz="half" idx="10"/>
          </p:nvPr>
        </p:nvSpPr>
        <p:spPr/>
        <p:txBody>
          <a:bodyPr/>
          <a:lstStyle/>
          <a:p>
            <a:fld id="{221DE5A9-D254-4DFA-BA73-0F8ECFE63CBE}" type="datetimeFigureOut">
              <a:rPr lang="en-US" smtClean="0"/>
              <a:t>1/7/2026</a:t>
            </a:fld>
            <a:endParaRPr lang="en-US"/>
          </a:p>
        </p:txBody>
      </p:sp>
      <p:sp>
        <p:nvSpPr>
          <p:cNvPr id="3" name="Footer Placeholder 2">
            <a:extLst>
              <a:ext uri="{FF2B5EF4-FFF2-40B4-BE49-F238E27FC236}">
                <a16:creationId xmlns:a16="http://schemas.microsoft.com/office/drawing/2014/main" id="{FF1AE3EC-6511-93F9-2CA3-8650216400A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4D8332FD-8D42-3A7D-DA94-A3E8422194F8}"/>
              </a:ext>
            </a:extLst>
          </p:cNvPr>
          <p:cNvSpPr>
            <a:spLocks noGrp="1"/>
          </p:cNvSpPr>
          <p:nvPr>
            <p:ph type="sldNum" sz="quarter" idx="12"/>
          </p:nvPr>
        </p:nvSpPr>
        <p:spPr/>
        <p:txBody>
          <a:bodyPr/>
          <a:lstStyle/>
          <a:p>
            <a:fld id="{91BFD89B-6A14-4738-9D66-E759862162E6}" type="slidenum">
              <a:rPr lang="en-US" smtClean="0"/>
              <a:t>‹#›</a:t>
            </a:fld>
            <a:endParaRPr lang="en-US"/>
          </a:p>
        </p:txBody>
      </p:sp>
    </p:spTree>
    <p:extLst>
      <p:ext uri="{BB962C8B-B14F-4D97-AF65-F5344CB8AC3E}">
        <p14:creationId xmlns:p14="http://schemas.microsoft.com/office/powerpoint/2010/main" val="1586944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DB9149-ABD9-EDEE-AD43-504C107AF5F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D826CD8-7C4A-8B5A-B7BA-313FD66A4B3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5C78740-5662-9E75-E83D-0E23A6BA7DF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BBA0096-00C0-E53B-7AFB-A98D2D89FFBA}"/>
              </a:ext>
            </a:extLst>
          </p:cNvPr>
          <p:cNvSpPr>
            <a:spLocks noGrp="1"/>
          </p:cNvSpPr>
          <p:nvPr>
            <p:ph type="dt" sz="half" idx="10"/>
          </p:nvPr>
        </p:nvSpPr>
        <p:spPr/>
        <p:txBody>
          <a:bodyPr/>
          <a:lstStyle/>
          <a:p>
            <a:fld id="{221DE5A9-D254-4DFA-BA73-0F8ECFE63CBE}" type="datetimeFigureOut">
              <a:rPr lang="en-US" smtClean="0"/>
              <a:t>1/7/2026</a:t>
            </a:fld>
            <a:endParaRPr lang="en-US"/>
          </a:p>
        </p:txBody>
      </p:sp>
      <p:sp>
        <p:nvSpPr>
          <p:cNvPr id="6" name="Footer Placeholder 5">
            <a:extLst>
              <a:ext uri="{FF2B5EF4-FFF2-40B4-BE49-F238E27FC236}">
                <a16:creationId xmlns:a16="http://schemas.microsoft.com/office/drawing/2014/main" id="{94C54C0E-4BB0-A4ED-83F3-A8227588B6F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ECE23F9-ED66-99B6-184E-35B1CA87CC8C}"/>
              </a:ext>
            </a:extLst>
          </p:cNvPr>
          <p:cNvSpPr>
            <a:spLocks noGrp="1"/>
          </p:cNvSpPr>
          <p:nvPr>
            <p:ph type="sldNum" sz="quarter" idx="12"/>
          </p:nvPr>
        </p:nvSpPr>
        <p:spPr/>
        <p:txBody>
          <a:bodyPr/>
          <a:lstStyle/>
          <a:p>
            <a:fld id="{91BFD89B-6A14-4738-9D66-E759862162E6}" type="slidenum">
              <a:rPr lang="en-US" smtClean="0"/>
              <a:t>‹#›</a:t>
            </a:fld>
            <a:endParaRPr lang="en-US"/>
          </a:p>
        </p:txBody>
      </p:sp>
    </p:spTree>
    <p:extLst>
      <p:ext uri="{BB962C8B-B14F-4D97-AF65-F5344CB8AC3E}">
        <p14:creationId xmlns:p14="http://schemas.microsoft.com/office/powerpoint/2010/main" val="11607456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881DF8-9262-100A-5609-D9B02F6A50A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73E84A2-9FD6-EC98-7D16-602E88567E6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0BBA2F54-8477-DD1A-BED5-79C60E5E1A8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897AE8A-3EAA-4788-CE86-4864F2F3DFD0}"/>
              </a:ext>
            </a:extLst>
          </p:cNvPr>
          <p:cNvSpPr>
            <a:spLocks noGrp="1"/>
          </p:cNvSpPr>
          <p:nvPr>
            <p:ph type="dt" sz="half" idx="10"/>
          </p:nvPr>
        </p:nvSpPr>
        <p:spPr/>
        <p:txBody>
          <a:bodyPr/>
          <a:lstStyle/>
          <a:p>
            <a:fld id="{221DE5A9-D254-4DFA-BA73-0F8ECFE63CBE}" type="datetimeFigureOut">
              <a:rPr lang="en-US" smtClean="0"/>
              <a:t>1/7/2026</a:t>
            </a:fld>
            <a:endParaRPr lang="en-US"/>
          </a:p>
        </p:txBody>
      </p:sp>
      <p:sp>
        <p:nvSpPr>
          <p:cNvPr id="6" name="Footer Placeholder 5">
            <a:extLst>
              <a:ext uri="{FF2B5EF4-FFF2-40B4-BE49-F238E27FC236}">
                <a16:creationId xmlns:a16="http://schemas.microsoft.com/office/drawing/2014/main" id="{CE5071FD-1C96-3E21-4294-F0300DF02EB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A2FF93A-B04C-4032-79D9-F2146A2EC5EA}"/>
              </a:ext>
            </a:extLst>
          </p:cNvPr>
          <p:cNvSpPr>
            <a:spLocks noGrp="1"/>
          </p:cNvSpPr>
          <p:nvPr>
            <p:ph type="sldNum" sz="quarter" idx="12"/>
          </p:nvPr>
        </p:nvSpPr>
        <p:spPr/>
        <p:txBody>
          <a:bodyPr/>
          <a:lstStyle/>
          <a:p>
            <a:fld id="{91BFD89B-6A14-4738-9D66-E759862162E6}" type="slidenum">
              <a:rPr lang="en-US" smtClean="0"/>
              <a:t>‹#›</a:t>
            </a:fld>
            <a:endParaRPr lang="en-US"/>
          </a:p>
        </p:txBody>
      </p:sp>
    </p:spTree>
    <p:extLst>
      <p:ext uri="{BB962C8B-B14F-4D97-AF65-F5344CB8AC3E}">
        <p14:creationId xmlns:p14="http://schemas.microsoft.com/office/powerpoint/2010/main" val="63077931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049570-2861-8895-413E-D0160AF9B4D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A4E8C00F-13C6-282A-7543-D8BA6F8BC14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6510239-580E-58BD-58A2-0CC9F2676083}"/>
              </a:ext>
            </a:extLst>
          </p:cNvPr>
          <p:cNvSpPr>
            <a:spLocks noGrp="1"/>
          </p:cNvSpPr>
          <p:nvPr>
            <p:ph type="dt" sz="half" idx="10"/>
          </p:nvPr>
        </p:nvSpPr>
        <p:spPr/>
        <p:txBody>
          <a:bodyPr/>
          <a:lstStyle/>
          <a:p>
            <a:fld id="{221DE5A9-D254-4DFA-BA73-0F8ECFE63CBE}" type="datetimeFigureOut">
              <a:rPr lang="en-US" smtClean="0"/>
              <a:t>1/7/2026</a:t>
            </a:fld>
            <a:endParaRPr lang="en-US"/>
          </a:p>
        </p:txBody>
      </p:sp>
      <p:sp>
        <p:nvSpPr>
          <p:cNvPr id="5" name="Footer Placeholder 4">
            <a:extLst>
              <a:ext uri="{FF2B5EF4-FFF2-40B4-BE49-F238E27FC236}">
                <a16:creationId xmlns:a16="http://schemas.microsoft.com/office/drawing/2014/main" id="{76216EF8-DCFA-144E-D7DF-8964D950E84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CB7316A-BF54-A1DD-F8C0-BE4428E54CB7}"/>
              </a:ext>
            </a:extLst>
          </p:cNvPr>
          <p:cNvSpPr>
            <a:spLocks noGrp="1"/>
          </p:cNvSpPr>
          <p:nvPr>
            <p:ph type="sldNum" sz="quarter" idx="12"/>
          </p:nvPr>
        </p:nvSpPr>
        <p:spPr/>
        <p:txBody>
          <a:bodyPr/>
          <a:lstStyle/>
          <a:p>
            <a:fld id="{91BFD89B-6A14-4738-9D66-E759862162E6}" type="slidenum">
              <a:rPr lang="en-US" smtClean="0"/>
              <a:t>‹#›</a:t>
            </a:fld>
            <a:endParaRPr lang="en-US"/>
          </a:p>
        </p:txBody>
      </p:sp>
    </p:spTree>
    <p:extLst>
      <p:ext uri="{BB962C8B-B14F-4D97-AF65-F5344CB8AC3E}">
        <p14:creationId xmlns:p14="http://schemas.microsoft.com/office/powerpoint/2010/main" val="35024325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2058585-3B13-5CED-15F1-F60CD9887659}"/>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D5F09CD5-6713-F597-3937-204BDDF2385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5B894E7-58D5-988F-1A65-7067E02082CC}"/>
              </a:ext>
            </a:extLst>
          </p:cNvPr>
          <p:cNvSpPr>
            <a:spLocks noGrp="1"/>
          </p:cNvSpPr>
          <p:nvPr>
            <p:ph type="dt" sz="half" idx="10"/>
          </p:nvPr>
        </p:nvSpPr>
        <p:spPr/>
        <p:txBody>
          <a:bodyPr/>
          <a:lstStyle/>
          <a:p>
            <a:fld id="{221DE5A9-D254-4DFA-BA73-0F8ECFE63CBE}" type="datetimeFigureOut">
              <a:rPr lang="en-US" smtClean="0"/>
              <a:t>1/7/2026</a:t>
            </a:fld>
            <a:endParaRPr lang="en-US"/>
          </a:p>
        </p:txBody>
      </p:sp>
      <p:sp>
        <p:nvSpPr>
          <p:cNvPr id="5" name="Footer Placeholder 4">
            <a:extLst>
              <a:ext uri="{FF2B5EF4-FFF2-40B4-BE49-F238E27FC236}">
                <a16:creationId xmlns:a16="http://schemas.microsoft.com/office/drawing/2014/main" id="{8F15E1CD-D049-2A05-58FA-58D4374A1D4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EFC9DBF-DAD3-AF56-7C9B-35A17D8D33AB}"/>
              </a:ext>
            </a:extLst>
          </p:cNvPr>
          <p:cNvSpPr>
            <a:spLocks noGrp="1"/>
          </p:cNvSpPr>
          <p:nvPr>
            <p:ph type="sldNum" sz="quarter" idx="12"/>
          </p:nvPr>
        </p:nvSpPr>
        <p:spPr/>
        <p:txBody>
          <a:bodyPr/>
          <a:lstStyle/>
          <a:p>
            <a:fld id="{91BFD89B-6A14-4738-9D66-E759862162E6}" type="slidenum">
              <a:rPr lang="en-US" smtClean="0"/>
              <a:t>‹#›</a:t>
            </a:fld>
            <a:endParaRPr lang="en-US"/>
          </a:p>
        </p:txBody>
      </p:sp>
    </p:spTree>
    <p:extLst>
      <p:ext uri="{BB962C8B-B14F-4D97-AF65-F5344CB8AC3E}">
        <p14:creationId xmlns:p14="http://schemas.microsoft.com/office/powerpoint/2010/main" val="222858384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ED65D8D-49EA-6BC5-A804-D27294D65B4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D7D3122A-DF42-5CC6-4EF2-9F3E019B7E2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DAD81BD-221E-FC08-A6F4-B0621BC3A0C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221DE5A9-D254-4DFA-BA73-0F8ECFE63CBE}" type="datetimeFigureOut">
              <a:rPr lang="en-US" smtClean="0"/>
              <a:t>1/7/2026</a:t>
            </a:fld>
            <a:endParaRPr lang="en-US"/>
          </a:p>
        </p:txBody>
      </p:sp>
      <p:sp>
        <p:nvSpPr>
          <p:cNvPr id="5" name="Footer Placeholder 4">
            <a:extLst>
              <a:ext uri="{FF2B5EF4-FFF2-40B4-BE49-F238E27FC236}">
                <a16:creationId xmlns:a16="http://schemas.microsoft.com/office/drawing/2014/main" id="{A6A15F4F-0C37-A955-D372-4CA28C7BCD1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564A75C8-473C-F78A-E879-449A118679F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91BFD89B-6A14-4738-9D66-E759862162E6}" type="slidenum">
              <a:rPr lang="en-US" smtClean="0"/>
              <a:t>‹#›</a:t>
            </a:fld>
            <a:endParaRPr lang="en-US"/>
          </a:p>
        </p:txBody>
      </p:sp>
    </p:spTree>
    <p:extLst>
      <p:ext uri="{BB962C8B-B14F-4D97-AF65-F5344CB8AC3E}">
        <p14:creationId xmlns:p14="http://schemas.microsoft.com/office/powerpoint/2010/main" val="1382506244"/>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customXml" Target="../ink/ink1.xml"/><Relationship Id="rId1" Type="http://schemas.openxmlformats.org/officeDocument/2006/relationships/slideLayout" Target="../slideLayouts/slideLayout1.xml"/><Relationship Id="rId6" Type="http://schemas.openxmlformats.org/officeDocument/2006/relationships/image" Target="../media/image3.png"/><Relationship Id="rId5" Type="http://schemas.openxmlformats.org/officeDocument/2006/relationships/image" Target="../media/image2.png"/><Relationship Id="rId4" Type="http://schemas.openxmlformats.org/officeDocument/2006/relationships/customXml" Target="../ink/ink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customXml" Target="../ink/ink3.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4.jpeg"/><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e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9.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AEB96C8E-AA6F-ECCD-85BA-907AA380D07E}"/>
              </a:ext>
            </a:extLst>
          </p:cNvPr>
          <p:cNvSpPr txBox="1"/>
          <p:nvPr/>
        </p:nvSpPr>
        <p:spPr>
          <a:xfrm>
            <a:off x="6096000" y="4187113"/>
            <a:ext cx="2408902" cy="400110"/>
          </a:xfrm>
          <a:prstGeom prst="rect">
            <a:avLst/>
          </a:prstGeom>
          <a:noFill/>
        </p:spPr>
        <p:txBody>
          <a:bodyPr wrap="square">
            <a:spAutoFit/>
          </a:bodyPr>
          <a:lstStyle/>
          <a:p>
            <a:pPr algn="just"/>
            <a:r>
              <a:rPr lang="en-US" sz="2000">
                <a:latin typeface="+mj-lt"/>
              </a:rPr>
              <a:t>MSSV : 110123203</a:t>
            </a:r>
          </a:p>
        </p:txBody>
      </p:sp>
      <p:sp>
        <p:nvSpPr>
          <p:cNvPr id="8" name="TextBox 7">
            <a:extLst>
              <a:ext uri="{FF2B5EF4-FFF2-40B4-BE49-F238E27FC236}">
                <a16:creationId xmlns:a16="http://schemas.microsoft.com/office/drawing/2014/main" id="{52E8952E-D3C9-1410-0BC1-F79135836728}"/>
              </a:ext>
            </a:extLst>
          </p:cNvPr>
          <p:cNvSpPr txBox="1"/>
          <p:nvPr/>
        </p:nvSpPr>
        <p:spPr>
          <a:xfrm>
            <a:off x="6084007" y="5082234"/>
            <a:ext cx="3136491" cy="400110"/>
          </a:xfrm>
          <a:prstGeom prst="rect">
            <a:avLst/>
          </a:prstGeom>
          <a:noFill/>
        </p:spPr>
        <p:txBody>
          <a:bodyPr wrap="square">
            <a:spAutoFit/>
          </a:bodyPr>
          <a:lstStyle/>
          <a:p>
            <a:pPr algn="just"/>
            <a:r>
              <a:rPr lang="en-US" sz="2000">
                <a:latin typeface="+mj-lt"/>
              </a:rPr>
              <a:t>GVHD : Ths. Võ Thành C</a:t>
            </a:r>
          </a:p>
        </p:txBody>
      </p:sp>
      <p:sp>
        <p:nvSpPr>
          <p:cNvPr id="10" name="TextBox 9">
            <a:extLst>
              <a:ext uri="{FF2B5EF4-FFF2-40B4-BE49-F238E27FC236}">
                <a16:creationId xmlns:a16="http://schemas.microsoft.com/office/drawing/2014/main" id="{05AF0B17-2156-F258-20AF-D74FCD63E875}"/>
              </a:ext>
            </a:extLst>
          </p:cNvPr>
          <p:cNvSpPr txBox="1"/>
          <p:nvPr/>
        </p:nvSpPr>
        <p:spPr>
          <a:xfrm>
            <a:off x="6096000" y="3727771"/>
            <a:ext cx="4139380" cy="400110"/>
          </a:xfrm>
          <a:prstGeom prst="rect">
            <a:avLst/>
          </a:prstGeom>
          <a:noFill/>
        </p:spPr>
        <p:txBody>
          <a:bodyPr wrap="square">
            <a:spAutoFit/>
          </a:bodyPr>
          <a:lstStyle/>
          <a:p>
            <a:pPr algn="just"/>
            <a:r>
              <a:rPr lang="en-US" sz="2000"/>
              <a:t>Sinh </a:t>
            </a:r>
            <a:r>
              <a:rPr lang="en-US" sz="2000" err="1"/>
              <a:t>viên</a:t>
            </a:r>
            <a:r>
              <a:rPr lang="en-US" sz="2000"/>
              <a:t> </a:t>
            </a:r>
            <a:r>
              <a:rPr lang="en-US" sz="2000" err="1"/>
              <a:t>thực</a:t>
            </a:r>
            <a:r>
              <a:rPr lang="en-US" sz="2000"/>
              <a:t> </a:t>
            </a:r>
            <a:r>
              <a:rPr lang="en-US" sz="2000" err="1"/>
              <a:t>hiện</a:t>
            </a:r>
            <a:r>
              <a:rPr lang="en-US" sz="2000"/>
              <a:t> : </a:t>
            </a:r>
            <a:r>
              <a:rPr lang="en-US" sz="2000" err="1"/>
              <a:t>Tạ</a:t>
            </a:r>
            <a:r>
              <a:rPr lang="en-US" sz="2000"/>
              <a:t> Hằng Vũ</a:t>
            </a:r>
          </a:p>
        </p:txBody>
      </p:sp>
      <mc:AlternateContent xmlns:mc="http://schemas.openxmlformats.org/markup-compatibility/2006" xmlns:p14="http://schemas.microsoft.com/office/powerpoint/2010/main">
        <mc:Choice Requires="p14">
          <p:contentPart p14:bwMode="auto" r:id="rId2">
            <p14:nvContentPartPr>
              <p14:cNvPr id="12" name="Ink 11">
                <a:extLst>
                  <a:ext uri="{FF2B5EF4-FFF2-40B4-BE49-F238E27FC236}">
                    <a16:creationId xmlns:a16="http://schemas.microsoft.com/office/drawing/2014/main" id="{6AC877EC-F06A-20F3-9BB2-7790C440518A}"/>
                  </a:ext>
                </a:extLst>
              </p14:cNvPr>
              <p14:cNvContentPartPr/>
              <p14:nvPr/>
            </p14:nvContentPartPr>
            <p14:xfrm>
              <a:off x="4326097" y="5692908"/>
              <a:ext cx="360" cy="360"/>
            </p14:xfrm>
          </p:contentPart>
        </mc:Choice>
        <mc:Fallback xmlns="">
          <p:pic>
            <p:nvPicPr>
              <p:cNvPr id="12" name="Ink 11">
                <a:extLst>
                  <a:ext uri="{FF2B5EF4-FFF2-40B4-BE49-F238E27FC236}">
                    <a16:creationId xmlns:a16="http://schemas.microsoft.com/office/drawing/2014/main" id="{6AC877EC-F06A-20F3-9BB2-7790C440518A}"/>
                  </a:ext>
                </a:extLst>
              </p:cNvPr>
              <p:cNvPicPr/>
              <p:nvPr/>
            </p:nvPicPr>
            <p:blipFill>
              <a:blip r:embed="rId3"/>
              <a:stretch>
                <a:fillRect/>
              </a:stretch>
            </p:blipFill>
            <p:spPr>
              <a:xfrm>
                <a:off x="4308457" y="5674908"/>
                <a:ext cx="36000" cy="3600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13" name="Ink 12">
                <a:extLst>
                  <a:ext uri="{FF2B5EF4-FFF2-40B4-BE49-F238E27FC236}">
                    <a16:creationId xmlns:a16="http://schemas.microsoft.com/office/drawing/2014/main" id="{2FA67C48-FC3E-A9D4-DF6A-0019C5F0CE53}"/>
                  </a:ext>
                </a:extLst>
              </p14:cNvPr>
              <p14:cNvContentPartPr/>
              <p14:nvPr/>
            </p14:nvContentPartPr>
            <p14:xfrm>
              <a:off x="7708297" y="2251308"/>
              <a:ext cx="10080" cy="360"/>
            </p14:xfrm>
          </p:contentPart>
        </mc:Choice>
        <mc:Fallback xmlns="">
          <p:pic>
            <p:nvPicPr>
              <p:cNvPr id="13" name="Ink 12">
                <a:extLst>
                  <a:ext uri="{FF2B5EF4-FFF2-40B4-BE49-F238E27FC236}">
                    <a16:creationId xmlns:a16="http://schemas.microsoft.com/office/drawing/2014/main" id="{2FA67C48-FC3E-A9D4-DF6A-0019C5F0CE53}"/>
                  </a:ext>
                </a:extLst>
              </p:cNvPr>
              <p:cNvPicPr/>
              <p:nvPr/>
            </p:nvPicPr>
            <p:blipFill>
              <a:blip r:embed="rId5"/>
              <a:stretch>
                <a:fillRect/>
              </a:stretch>
            </p:blipFill>
            <p:spPr>
              <a:xfrm>
                <a:off x="7690657" y="2233308"/>
                <a:ext cx="45720" cy="36000"/>
              </a:xfrm>
              <a:prstGeom prst="rect">
                <a:avLst/>
              </a:prstGeom>
            </p:spPr>
          </p:pic>
        </mc:Fallback>
      </mc:AlternateContent>
      <p:sp>
        <p:nvSpPr>
          <p:cNvPr id="18" name="TextBox 17">
            <a:extLst>
              <a:ext uri="{FF2B5EF4-FFF2-40B4-BE49-F238E27FC236}">
                <a16:creationId xmlns:a16="http://schemas.microsoft.com/office/drawing/2014/main" id="{7CB01067-BF6C-283F-6CA1-257DB78B3743}"/>
              </a:ext>
            </a:extLst>
          </p:cNvPr>
          <p:cNvSpPr txBox="1"/>
          <p:nvPr/>
        </p:nvSpPr>
        <p:spPr>
          <a:xfrm>
            <a:off x="6093840" y="6265922"/>
            <a:ext cx="6096000" cy="400110"/>
          </a:xfrm>
          <a:prstGeom prst="rect">
            <a:avLst/>
          </a:prstGeom>
          <a:noFill/>
        </p:spPr>
        <p:txBody>
          <a:bodyPr wrap="square">
            <a:spAutoFit/>
          </a:bodyPr>
          <a:lstStyle/>
          <a:p>
            <a:r>
              <a:rPr lang="en-US" sz="2000" i="1" err="1">
                <a:latin typeface="+mj-lt"/>
              </a:rPr>
              <a:t>Vĩnh</a:t>
            </a:r>
            <a:r>
              <a:rPr lang="en-US" sz="2000" i="1">
                <a:latin typeface="+mj-lt"/>
              </a:rPr>
              <a:t> Long, </a:t>
            </a:r>
            <a:r>
              <a:rPr lang="en-US" sz="2000" i="1" err="1">
                <a:latin typeface="+mj-lt"/>
              </a:rPr>
              <a:t>Ngày</a:t>
            </a:r>
            <a:r>
              <a:rPr lang="en-US" sz="2000" i="1">
                <a:latin typeface="+mj-lt"/>
              </a:rPr>
              <a:t> 6 Tháng 1  </a:t>
            </a:r>
            <a:r>
              <a:rPr lang="en-US" sz="2000" i="1" err="1">
                <a:latin typeface="+mj-lt"/>
              </a:rPr>
              <a:t>Năm</a:t>
            </a:r>
            <a:r>
              <a:rPr lang="en-US" sz="2000" i="1">
                <a:latin typeface="+mj-lt"/>
              </a:rPr>
              <a:t> 2026</a:t>
            </a:r>
          </a:p>
        </p:txBody>
      </p:sp>
      <p:sp>
        <p:nvSpPr>
          <p:cNvPr id="23" name="Title 22">
            <a:extLst>
              <a:ext uri="{FF2B5EF4-FFF2-40B4-BE49-F238E27FC236}">
                <a16:creationId xmlns:a16="http://schemas.microsoft.com/office/drawing/2014/main" id="{A70D4D25-C11D-1B1F-6531-7F17C2BF2B65}"/>
              </a:ext>
            </a:extLst>
          </p:cNvPr>
          <p:cNvSpPr>
            <a:spLocks noGrp="1"/>
          </p:cNvSpPr>
          <p:nvPr>
            <p:ph type="ctrTitle"/>
          </p:nvPr>
        </p:nvSpPr>
        <p:spPr>
          <a:xfrm>
            <a:off x="1502134" y="2625868"/>
            <a:ext cx="9635253" cy="745249"/>
          </a:xfrm>
        </p:spPr>
        <p:txBody>
          <a:bodyPr>
            <a:normAutofit/>
          </a:bodyPr>
          <a:lstStyle/>
          <a:p>
            <a:r>
              <a:rPr lang="en-US" sz="4500" b="1">
                <a:solidFill>
                  <a:srgbClr val="FF0000"/>
                </a:solidFill>
              </a:rPr>
              <a:t>ĐỒ ÁN THỰC TẬP CƠ SỞ NGÀNH</a:t>
            </a:r>
          </a:p>
        </p:txBody>
      </p:sp>
      <p:pic>
        <p:nvPicPr>
          <p:cNvPr id="1034" name="Picture 10" descr="Trường Đại học Trà Vinh – Wikipedia tiếng Việt">
            <a:extLst>
              <a:ext uri="{FF2B5EF4-FFF2-40B4-BE49-F238E27FC236}">
                <a16:creationId xmlns:a16="http://schemas.microsoft.com/office/drawing/2014/main" id="{99BA11A1-39AB-11DD-BD96-0A5FC79ECFA6}"/>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21331" y="604703"/>
            <a:ext cx="961607" cy="961607"/>
          </a:xfrm>
          <a:prstGeom prst="rect">
            <a:avLst/>
          </a:prstGeom>
          <a:noFill/>
          <a:extLst>
            <a:ext uri="{909E8E84-426E-40DD-AFC4-6F175D3DCCD1}">
              <a14:hiddenFill xmlns:a14="http://schemas.microsoft.com/office/drawing/2010/main">
                <a:solidFill>
                  <a:srgbClr val="FFFFFF"/>
                </a:solidFill>
              </a14:hiddenFill>
            </a:ext>
          </a:extLst>
        </p:spPr>
      </p:pic>
      <p:sp>
        <p:nvSpPr>
          <p:cNvPr id="27" name="TextBox 26">
            <a:extLst>
              <a:ext uri="{FF2B5EF4-FFF2-40B4-BE49-F238E27FC236}">
                <a16:creationId xmlns:a16="http://schemas.microsoft.com/office/drawing/2014/main" id="{12FE3DB7-CA67-688D-386E-DEC229CA501A}"/>
              </a:ext>
            </a:extLst>
          </p:cNvPr>
          <p:cNvSpPr txBox="1"/>
          <p:nvPr/>
        </p:nvSpPr>
        <p:spPr>
          <a:xfrm>
            <a:off x="1982938" y="604703"/>
            <a:ext cx="8431158" cy="1554272"/>
          </a:xfrm>
          <a:prstGeom prst="rect">
            <a:avLst/>
          </a:prstGeom>
          <a:noFill/>
        </p:spPr>
        <p:txBody>
          <a:bodyPr wrap="square">
            <a:spAutoFit/>
          </a:bodyPr>
          <a:lstStyle/>
          <a:p>
            <a:pPr algn="ctr"/>
            <a:r>
              <a:rPr lang="en-US" sz="5000" b="1">
                <a:solidFill>
                  <a:schemeClr val="tx2">
                    <a:lumMod val="90000"/>
                    <a:lumOff val="10000"/>
                  </a:schemeClr>
                </a:solidFill>
              </a:rPr>
              <a:t>TRƯỜNG ĐẠI HỌC TRÀ VINH</a:t>
            </a:r>
          </a:p>
          <a:p>
            <a:pPr algn="ctr"/>
            <a:r>
              <a:rPr lang="en-US" sz="2500" b="1">
                <a:solidFill>
                  <a:schemeClr val="tx2"/>
                </a:solidFill>
              </a:rPr>
              <a:t>TRƯỜNG KỸ THUẬT &amp; CÔNG NGHỆ</a:t>
            </a:r>
          </a:p>
          <a:p>
            <a:pPr algn="ctr"/>
            <a:r>
              <a:rPr lang="en-US" sz="2000" b="1">
                <a:solidFill>
                  <a:schemeClr val="bg2">
                    <a:lumMod val="25000"/>
                  </a:schemeClr>
                </a:solidFill>
              </a:rPr>
              <a:t>KHOA CÔNG NGHỆ THÔNG TIN</a:t>
            </a:r>
          </a:p>
        </p:txBody>
      </p:sp>
      <p:sp>
        <p:nvSpPr>
          <p:cNvPr id="31" name="Rectangle 30">
            <a:extLst>
              <a:ext uri="{FF2B5EF4-FFF2-40B4-BE49-F238E27FC236}">
                <a16:creationId xmlns:a16="http://schemas.microsoft.com/office/drawing/2014/main" id="{70ADAF5E-14DA-623B-DD27-38A3B5895741}"/>
              </a:ext>
            </a:extLst>
          </p:cNvPr>
          <p:cNvSpPr/>
          <p:nvPr/>
        </p:nvSpPr>
        <p:spPr>
          <a:xfrm>
            <a:off x="0" y="6725264"/>
            <a:ext cx="12189840" cy="131295"/>
          </a:xfrm>
          <a:prstGeom prst="rect">
            <a:avLst/>
          </a:prstGeom>
          <a:solidFill>
            <a:schemeClr val="tx2">
              <a:lumMod val="90000"/>
              <a:lumOff val="1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893D9A89-3414-0EA2-ED30-B82B332726DC}"/>
              </a:ext>
            </a:extLst>
          </p:cNvPr>
          <p:cNvSpPr txBox="1"/>
          <p:nvPr/>
        </p:nvSpPr>
        <p:spPr>
          <a:xfrm>
            <a:off x="6093840" y="4653670"/>
            <a:ext cx="3433618" cy="400110"/>
          </a:xfrm>
          <a:prstGeom prst="rect">
            <a:avLst/>
          </a:prstGeom>
          <a:noFill/>
        </p:spPr>
        <p:txBody>
          <a:bodyPr wrap="square">
            <a:spAutoFit/>
          </a:bodyPr>
          <a:lstStyle/>
          <a:p>
            <a:pPr algn="just"/>
            <a:r>
              <a:rPr lang="en-US" sz="2000">
                <a:latin typeface="+mj-lt"/>
              </a:rPr>
              <a:t>LỚP : DA23TTD</a:t>
            </a:r>
          </a:p>
        </p:txBody>
      </p:sp>
    </p:spTree>
    <p:extLst>
      <p:ext uri="{BB962C8B-B14F-4D97-AF65-F5344CB8AC3E}">
        <p14:creationId xmlns:p14="http://schemas.microsoft.com/office/powerpoint/2010/main" val="409755590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5FFFB9-4994-34EF-C9D4-354DE7EB88D7}"/>
              </a:ext>
            </a:extLst>
          </p:cNvPr>
          <p:cNvSpPr>
            <a:spLocks noGrp="1"/>
          </p:cNvSpPr>
          <p:nvPr>
            <p:ph type="title"/>
          </p:nvPr>
        </p:nvSpPr>
        <p:spPr>
          <a:xfrm>
            <a:off x="300516" y="2805752"/>
            <a:ext cx="11796002" cy="1246495"/>
          </a:xfrm>
        </p:spPr>
        <p:txBody>
          <a:bodyPr>
            <a:normAutofit fontScale="90000"/>
          </a:bodyPr>
          <a:lstStyle/>
          <a:p>
            <a:pPr algn="ctr"/>
            <a:br>
              <a:rPr lang="en-US" sz="4200" b="1">
                <a:solidFill>
                  <a:srgbClr val="FF0000"/>
                </a:solidFill>
              </a:rPr>
            </a:br>
            <a:r>
              <a:rPr lang="en-US" sz="4200" b="1">
                <a:solidFill>
                  <a:srgbClr val="FF0000"/>
                </a:solidFill>
              </a:rPr>
              <a:t>ĐỀ TÀI: XÂY DỰNG WEBSITE CUNG CẤP THÔNG TIN KỸ THUẬT NUÔI TRỒNG THỦY SẢN</a:t>
            </a:r>
          </a:p>
        </p:txBody>
      </p:sp>
      <mc:AlternateContent xmlns:mc="http://schemas.openxmlformats.org/markup-compatibility/2006" xmlns:p14="http://schemas.microsoft.com/office/powerpoint/2010/main">
        <mc:Choice Requires="p14">
          <p:contentPart p14:bwMode="auto" r:id="rId2">
            <p14:nvContentPartPr>
              <p14:cNvPr id="4" name="Ink 3">
                <a:extLst>
                  <a:ext uri="{FF2B5EF4-FFF2-40B4-BE49-F238E27FC236}">
                    <a16:creationId xmlns:a16="http://schemas.microsoft.com/office/drawing/2014/main" id="{28F20031-99E1-D59D-6E30-F2BC4DB8CB2C}"/>
                  </a:ext>
                </a:extLst>
              </p14:cNvPr>
              <p14:cNvContentPartPr/>
              <p14:nvPr/>
            </p14:nvContentPartPr>
            <p14:xfrm>
              <a:off x="7708297" y="2251308"/>
              <a:ext cx="10080" cy="360"/>
            </p14:xfrm>
          </p:contentPart>
        </mc:Choice>
        <mc:Fallback xmlns="">
          <p:pic>
            <p:nvPicPr>
              <p:cNvPr id="4" name="Ink 3">
                <a:extLst>
                  <a:ext uri="{FF2B5EF4-FFF2-40B4-BE49-F238E27FC236}">
                    <a16:creationId xmlns:a16="http://schemas.microsoft.com/office/drawing/2014/main" id="{28F20031-99E1-D59D-6E30-F2BC4DB8CB2C}"/>
                  </a:ext>
                </a:extLst>
              </p:cNvPr>
              <p:cNvPicPr/>
              <p:nvPr/>
            </p:nvPicPr>
            <p:blipFill>
              <a:blip r:embed="rId3"/>
              <a:stretch>
                <a:fillRect/>
              </a:stretch>
            </p:blipFill>
            <p:spPr>
              <a:xfrm>
                <a:off x="7690657" y="2233308"/>
                <a:ext cx="45720" cy="36000"/>
              </a:xfrm>
              <a:prstGeom prst="rect">
                <a:avLst/>
              </a:prstGeom>
            </p:spPr>
          </p:pic>
        </mc:Fallback>
      </mc:AlternateContent>
      <p:pic>
        <p:nvPicPr>
          <p:cNvPr id="5" name="Picture 10" descr="Trường Đại học Trà Vinh – Wikipedia tiếng Việt">
            <a:extLst>
              <a:ext uri="{FF2B5EF4-FFF2-40B4-BE49-F238E27FC236}">
                <a16:creationId xmlns:a16="http://schemas.microsoft.com/office/drawing/2014/main" id="{12EB8F7A-820D-2900-5924-640A38C8B40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21331" y="604703"/>
            <a:ext cx="961607" cy="961607"/>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5576CA7C-EC34-843F-DD7A-0815C3B82DFC}"/>
              </a:ext>
            </a:extLst>
          </p:cNvPr>
          <p:cNvSpPr txBox="1"/>
          <p:nvPr/>
        </p:nvSpPr>
        <p:spPr>
          <a:xfrm>
            <a:off x="1982938" y="604703"/>
            <a:ext cx="8431158" cy="1554272"/>
          </a:xfrm>
          <a:prstGeom prst="rect">
            <a:avLst/>
          </a:prstGeom>
          <a:noFill/>
        </p:spPr>
        <p:txBody>
          <a:bodyPr wrap="square">
            <a:spAutoFit/>
          </a:bodyPr>
          <a:lstStyle/>
          <a:p>
            <a:pPr algn="ctr"/>
            <a:r>
              <a:rPr lang="en-US" sz="5000" b="1">
                <a:solidFill>
                  <a:schemeClr val="tx2">
                    <a:lumMod val="90000"/>
                    <a:lumOff val="10000"/>
                  </a:schemeClr>
                </a:solidFill>
              </a:rPr>
              <a:t>TRƯỜNG ĐẠI HỌC TRÀ VINH</a:t>
            </a:r>
          </a:p>
          <a:p>
            <a:pPr algn="ctr"/>
            <a:r>
              <a:rPr lang="en-US" sz="2500" b="1">
                <a:solidFill>
                  <a:schemeClr val="tx2"/>
                </a:solidFill>
              </a:rPr>
              <a:t>TRƯỜNG KỸ THUẬT &amp; CÔNG NGHỆ</a:t>
            </a:r>
          </a:p>
          <a:p>
            <a:pPr algn="ctr"/>
            <a:r>
              <a:rPr lang="en-US" sz="2000" b="1">
                <a:solidFill>
                  <a:schemeClr val="bg2">
                    <a:lumMod val="10000"/>
                  </a:schemeClr>
                </a:solidFill>
                <a:latin typeface="+mj-lt"/>
              </a:rPr>
              <a:t>KHOA CÔNG NGHỆ THÔNG TIN</a:t>
            </a:r>
          </a:p>
        </p:txBody>
      </p:sp>
      <p:sp>
        <p:nvSpPr>
          <p:cNvPr id="3" name="Rectangle 2">
            <a:extLst>
              <a:ext uri="{FF2B5EF4-FFF2-40B4-BE49-F238E27FC236}">
                <a16:creationId xmlns:a16="http://schemas.microsoft.com/office/drawing/2014/main" id="{AF853DB7-6521-F3CF-30DB-F262127C3516}"/>
              </a:ext>
            </a:extLst>
          </p:cNvPr>
          <p:cNvSpPr/>
          <p:nvPr/>
        </p:nvSpPr>
        <p:spPr>
          <a:xfrm>
            <a:off x="0" y="6725264"/>
            <a:ext cx="12189840" cy="131295"/>
          </a:xfrm>
          <a:prstGeom prst="rect">
            <a:avLst/>
          </a:prstGeom>
          <a:solidFill>
            <a:schemeClr val="tx2">
              <a:lumMod val="90000"/>
              <a:lumOff val="1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48513343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36" name="Picture 35">
            <a:extLst>
              <a:ext uri="{FF2B5EF4-FFF2-40B4-BE49-F238E27FC236}">
                <a16:creationId xmlns:a16="http://schemas.microsoft.com/office/drawing/2014/main" id="{A091CA50-2B08-A4BE-E6BA-7C59D657A2A6}"/>
              </a:ext>
            </a:extLst>
          </p:cNvPr>
          <p:cNvPicPr>
            <a:picLocks noChangeAspect="1"/>
          </p:cNvPicPr>
          <p:nvPr/>
        </p:nvPicPr>
        <p:blipFill>
          <a:blip r:embed="rId2">
            <a:duotone>
              <a:schemeClr val="bg2">
                <a:shade val="45000"/>
                <a:satMod val="135000"/>
              </a:schemeClr>
              <a:prstClr val="white"/>
            </a:duotone>
          </a:blip>
          <a:srcRect t="9819" r="9091" b="13573"/>
          <a:stretch>
            <a:fillRect/>
          </a:stretch>
        </p:blipFill>
        <p:spPr>
          <a:xfrm>
            <a:off x="20" y="10"/>
            <a:ext cx="12191980" cy="6857990"/>
          </a:xfrm>
          <a:prstGeom prst="rect">
            <a:avLst/>
          </a:prstGeom>
        </p:spPr>
      </p:pic>
      <p:sp>
        <p:nvSpPr>
          <p:cNvPr id="41" name="Rectangle 40">
            <a:extLst>
              <a:ext uri="{FF2B5EF4-FFF2-40B4-BE49-F238E27FC236}">
                <a16:creationId xmlns:a16="http://schemas.microsoft.com/office/drawing/2014/main" id="{B50AB553-2A96-4A92-96F2-93548E0969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gradFill>
            <a:gsLst>
              <a:gs pos="10000">
                <a:schemeClr val="bg2">
                  <a:alpha val="68000"/>
                </a:schemeClr>
              </a:gs>
              <a:gs pos="85000">
                <a:schemeClr val="bg2">
                  <a:alpha val="97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872E436-E408-C40D-7CA8-42105F13B1B6}"/>
              </a:ext>
            </a:extLst>
          </p:cNvPr>
          <p:cNvSpPr>
            <a:spLocks noGrp="1"/>
          </p:cNvSpPr>
          <p:nvPr>
            <p:ph type="title"/>
          </p:nvPr>
        </p:nvSpPr>
        <p:spPr>
          <a:xfrm>
            <a:off x="838200" y="365125"/>
            <a:ext cx="10515600" cy="1325563"/>
          </a:xfrm>
        </p:spPr>
        <p:txBody>
          <a:bodyPr>
            <a:normAutofit/>
          </a:bodyPr>
          <a:lstStyle/>
          <a:p>
            <a:r>
              <a:rPr lang="en-US" b="1"/>
              <a:t>NỘI DUNG CHÍNH</a:t>
            </a:r>
          </a:p>
        </p:txBody>
      </p:sp>
      <p:sp>
        <p:nvSpPr>
          <p:cNvPr id="3" name="Rectangle 2">
            <a:extLst>
              <a:ext uri="{FF2B5EF4-FFF2-40B4-BE49-F238E27FC236}">
                <a16:creationId xmlns:a16="http://schemas.microsoft.com/office/drawing/2014/main" id="{D0E0E28C-551E-38CF-2C5D-D0062DE3422B}"/>
              </a:ext>
            </a:extLst>
          </p:cNvPr>
          <p:cNvSpPr/>
          <p:nvPr/>
        </p:nvSpPr>
        <p:spPr>
          <a:xfrm>
            <a:off x="0" y="6725264"/>
            <a:ext cx="12189840" cy="131295"/>
          </a:xfrm>
          <a:prstGeom prst="rect">
            <a:avLst/>
          </a:prstGeom>
          <a:solidFill>
            <a:schemeClr val="tx2">
              <a:lumMod val="90000"/>
              <a:lumOff val="1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Content Placeholder 2">
            <a:extLst>
              <a:ext uri="{FF2B5EF4-FFF2-40B4-BE49-F238E27FC236}">
                <a16:creationId xmlns:a16="http://schemas.microsoft.com/office/drawing/2014/main" id="{6EEC00CE-B6FB-5768-6057-3D8872A69602}"/>
              </a:ext>
            </a:extLst>
          </p:cNvPr>
          <p:cNvGraphicFramePr>
            <a:graphicFrameLocks noGrp="1"/>
          </p:cNvGraphicFramePr>
          <p:nvPr>
            <p:ph idx="1"/>
            <p:extLst>
              <p:ext uri="{D42A27DB-BD31-4B8C-83A1-F6EECF244321}">
                <p14:modId xmlns:p14="http://schemas.microsoft.com/office/powerpoint/2010/main" val="1275352907"/>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10300944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1CE4C6-2E93-68D7-C6F8-18ADB3555521}"/>
              </a:ext>
            </a:extLst>
          </p:cNvPr>
          <p:cNvSpPr>
            <a:spLocks noGrp="1"/>
          </p:cNvSpPr>
          <p:nvPr>
            <p:ph type="title"/>
          </p:nvPr>
        </p:nvSpPr>
        <p:spPr>
          <a:xfrm>
            <a:off x="684721" y="2141855"/>
            <a:ext cx="10820397" cy="2764028"/>
          </a:xfrm>
        </p:spPr>
        <p:txBody>
          <a:bodyPr vert="horz" lIns="91440" tIns="45720" rIns="91440" bIns="45720" rtlCol="0" anchor="ctr">
            <a:normAutofit/>
          </a:bodyPr>
          <a:lstStyle/>
          <a:p>
            <a:pPr algn="ctr"/>
            <a:r>
              <a:rPr lang="en-US" sz="6100" b="1" kern="1200">
                <a:solidFill>
                  <a:schemeClr val="tx1"/>
                </a:solidFill>
                <a:latin typeface="+mj-lt"/>
                <a:ea typeface="+mj-ea"/>
                <a:cs typeface="+mj-cs"/>
              </a:rPr>
              <a:t>PHẦN 1: TỔNG QUAN VỀ ĐỀ TÀI</a:t>
            </a:r>
            <a:br>
              <a:rPr lang="en-US" sz="6100" kern="1200">
                <a:solidFill>
                  <a:schemeClr val="tx1"/>
                </a:solidFill>
                <a:latin typeface="+mj-lt"/>
                <a:ea typeface="+mj-ea"/>
                <a:cs typeface="+mj-cs"/>
              </a:rPr>
            </a:br>
            <a:r>
              <a:rPr lang="en-US" sz="6100" kern="1200">
                <a:solidFill>
                  <a:schemeClr val="tx1"/>
                </a:solidFill>
                <a:latin typeface="+mj-lt"/>
                <a:ea typeface="+mj-ea"/>
                <a:cs typeface="+mj-cs"/>
              </a:rPr>
              <a:t> </a:t>
            </a:r>
          </a:p>
        </p:txBody>
      </p:sp>
      <p:sp>
        <p:nvSpPr>
          <p:cNvPr id="3" name="Rectangle 2">
            <a:extLst>
              <a:ext uri="{FF2B5EF4-FFF2-40B4-BE49-F238E27FC236}">
                <a16:creationId xmlns:a16="http://schemas.microsoft.com/office/drawing/2014/main" id="{AD344C57-0E48-163B-3606-060753C59838}"/>
              </a:ext>
            </a:extLst>
          </p:cNvPr>
          <p:cNvSpPr/>
          <p:nvPr/>
        </p:nvSpPr>
        <p:spPr>
          <a:xfrm>
            <a:off x="0" y="6725264"/>
            <a:ext cx="12189840" cy="131295"/>
          </a:xfrm>
          <a:prstGeom prst="rect">
            <a:avLst/>
          </a:prstGeom>
          <a:solidFill>
            <a:schemeClr val="tx2">
              <a:lumMod val="90000"/>
              <a:lumOff val="1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004549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0288C6B4-AFC3-407F-A595-EFFD38D4CC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2" name="Freeform: Shape 11">
            <a:extLst>
              <a:ext uri="{FF2B5EF4-FFF2-40B4-BE49-F238E27FC236}">
                <a16:creationId xmlns:a16="http://schemas.microsoft.com/office/drawing/2014/main" id="{CF236821-17FE-429B-8D2C-08E13A64EA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455673" cy="6858000"/>
          </a:xfrm>
          <a:custGeom>
            <a:avLst/>
            <a:gdLst>
              <a:gd name="connsiteX0" fmla="*/ 0 w 4455673"/>
              <a:gd name="connsiteY0" fmla="*/ 0 h 6858000"/>
              <a:gd name="connsiteX1" fmla="*/ 3242695 w 4455673"/>
              <a:gd name="connsiteY1" fmla="*/ 0 h 6858000"/>
              <a:gd name="connsiteX2" fmla="*/ 3305678 w 4455673"/>
              <a:gd name="connsiteY2" fmla="*/ 69271 h 6858000"/>
              <a:gd name="connsiteX3" fmla="*/ 4455673 w 4455673"/>
              <a:gd name="connsiteY3" fmla="*/ 3429000 h 6858000"/>
              <a:gd name="connsiteX4" fmla="*/ 3305678 w 4455673"/>
              <a:gd name="connsiteY4" fmla="*/ 6788730 h 6858000"/>
              <a:gd name="connsiteX5" fmla="*/ 3242695 w 4455673"/>
              <a:gd name="connsiteY5" fmla="*/ 6858000 h 6858000"/>
              <a:gd name="connsiteX6" fmla="*/ 0 w 4455673"/>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55673" h="6858000">
                <a:moveTo>
                  <a:pt x="0" y="0"/>
                </a:moveTo>
                <a:lnTo>
                  <a:pt x="3242695" y="0"/>
                </a:lnTo>
                <a:lnTo>
                  <a:pt x="3305678" y="69271"/>
                </a:lnTo>
                <a:cubicBezTo>
                  <a:pt x="4016204" y="929100"/>
                  <a:pt x="4455673" y="2116944"/>
                  <a:pt x="4455673" y="3429000"/>
                </a:cubicBezTo>
                <a:cubicBezTo>
                  <a:pt x="4455673" y="4741056"/>
                  <a:pt x="4016204" y="5928900"/>
                  <a:pt x="3305678" y="6788730"/>
                </a:cubicBezTo>
                <a:lnTo>
                  <a:pt x="3242695" y="6858000"/>
                </a:lnTo>
                <a:lnTo>
                  <a:pt x="0" y="6858000"/>
                </a:lnTo>
                <a:close/>
              </a:path>
            </a:pathLst>
          </a:custGeom>
          <a:ln w="9525">
            <a:solidFill>
              <a:srgbClr val="EFEFEF"/>
            </a:solidFill>
          </a:ln>
          <a:effectLst>
            <a:outerShdw blurRad="88900" dist="38100" algn="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4" name="Freeform: Shape 13">
            <a:extLst>
              <a:ext uri="{FF2B5EF4-FFF2-40B4-BE49-F238E27FC236}">
                <a16:creationId xmlns:a16="http://schemas.microsoft.com/office/drawing/2014/main" id="{C0BDBCD2-E081-43AB-9119-C55465E597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446529" cy="6858000"/>
          </a:xfrm>
          <a:custGeom>
            <a:avLst/>
            <a:gdLst>
              <a:gd name="connsiteX0" fmla="*/ 0 w 4446529"/>
              <a:gd name="connsiteY0" fmla="*/ 0 h 6858000"/>
              <a:gd name="connsiteX1" fmla="*/ 3233551 w 4446529"/>
              <a:gd name="connsiteY1" fmla="*/ 0 h 6858000"/>
              <a:gd name="connsiteX2" fmla="*/ 3296534 w 4446529"/>
              <a:gd name="connsiteY2" fmla="*/ 69271 h 6858000"/>
              <a:gd name="connsiteX3" fmla="*/ 4446529 w 4446529"/>
              <a:gd name="connsiteY3" fmla="*/ 3429000 h 6858000"/>
              <a:gd name="connsiteX4" fmla="*/ 3296534 w 4446529"/>
              <a:gd name="connsiteY4" fmla="*/ 6788730 h 6858000"/>
              <a:gd name="connsiteX5" fmla="*/ 3233551 w 4446529"/>
              <a:gd name="connsiteY5" fmla="*/ 6858000 h 6858000"/>
              <a:gd name="connsiteX6" fmla="*/ 0 w 4446529"/>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46529" h="6858000">
                <a:moveTo>
                  <a:pt x="0" y="0"/>
                </a:moveTo>
                <a:lnTo>
                  <a:pt x="3233551" y="0"/>
                </a:lnTo>
                <a:lnTo>
                  <a:pt x="3296534" y="69271"/>
                </a:lnTo>
                <a:cubicBezTo>
                  <a:pt x="4007060" y="929100"/>
                  <a:pt x="4446529" y="2116944"/>
                  <a:pt x="4446529" y="3429000"/>
                </a:cubicBezTo>
                <a:cubicBezTo>
                  <a:pt x="4446529" y="4741056"/>
                  <a:pt x="4007060" y="5928900"/>
                  <a:pt x="3296534" y="6788730"/>
                </a:cubicBezTo>
                <a:lnTo>
                  <a:pt x="3233551"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DBB18A35-36CA-AD02-CC4B-4C6100668070}"/>
              </a:ext>
            </a:extLst>
          </p:cNvPr>
          <p:cNvSpPr>
            <a:spLocks noGrp="1"/>
          </p:cNvSpPr>
          <p:nvPr>
            <p:ph type="title"/>
          </p:nvPr>
        </p:nvSpPr>
        <p:spPr>
          <a:xfrm>
            <a:off x="371094" y="1161288"/>
            <a:ext cx="3438144" cy="1239012"/>
          </a:xfrm>
        </p:spPr>
        <p:txBody>
          <a:bodyPr anchor="ctr">
            <a:normAutofit/>
          </a:bodyPr>
          <a:lstStyle/>
          <a:p>
            <a:r>
              <a:rPr lang="en-US" sz="2800" b="1"/>
              <a:t>TỔNG QUAN ĐỀ TÀI</a:t>
            </a:r>
          </a:p>
        </p:txBody>
      </p:sp>
      <p:sp>
        <p:nvSpPr>
          <p:cNvPr id="16" name="Rectangle 15">
            <a:extLst>
              <a:ext uri="{FF2B5EF4-FFF2-40B4-BE49-F238E27FC236}">
                <a16:creationId xmlns:a16="http://schemas.microsoft.com/office/drawing/2014/main" id="{98E79BE4-34FE-485A-98A5-92CE8F7C47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426546"/>
            <a:ext cx="128016" cy="65390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8" name="Rectangle 17">
            <a:extLst>
              <a:ext uri="{FF2B5EF4-FFF2-40B4-BE49-F238E27FC236}">
                <a16:creationId xmlns:a16="http://schemas.microsoft.com/office/drawing/2014/main" id="{7A5F0580-5EE9-419F-96EE-B6529EF6E7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95893" y="2443480"/>
            <a:ext cx="338328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DE0F73B2-5204-C2E6-0F02-D000DE47E729}"/>
              </a:ext>
            </a:extLst>
          </p:cNvPr>
          <p:cNvSpPr>
            <a:spLocks noGrp="1"/>
          </p:cNvSpPr>
          <p:nvPr>
            <p:ph idx="1"/>
          </p:nvPr>
        </p:nvSpPr>
        <p:spPr>
          <a:xfrm>
            <a:off x="395893" y="2504948"/>
            <a:ext cx="3438906" cy="3207258"/>
          </a:xfrm>
        </p:spPr>
        <p:txBody>
          <a:bodyPr anchor="t">
            <a:noAutofit/>
          </a:bodyPr>
          <a:lstStyle/>
          <a:p>
            <a:pPr marL="0" indent="0" algn="just">
              <a:buNone/>
            </a:pPr>
            <a:r>
              <a:rPr lang="en-US" sz="1800">
                <a:latin typeface="+mj-lt"/>
              </a:rPr>
              <a:t>Nhận thấy, so với việc tìm kiếm thông tin tài liệu về thủy sản truyền thống thì việc tìm kiếm thông tin trên một trang Web chuyên về Thủy Sản , có một nơi để cộng đồng chăn nuôi thủy sản có thể cùng nhau chia sẻ kiến thức ,nhận cảnh báo phòng chóng dịch bệnh sớm nhất đạt hiệu quả cao hơn với lợi thế của công nghệ internet nên việc truyền tải thông tin về thủy sản nhann chóng , an toàn và tiện lợi cho người nuôi.</a:t>
            </a:r>
          </a:p>
        </p:txBody>
      </p:sp>
      <p:pic>
        <p:nvPicPr>
          <p:cNvPr id="5" name="Picture 4" descr="A screenshot of a website&#10;&#10;AI-generated content may be incorrect.">
            <a:extLst>
              <a:ext uri="{FF2B5EF4-FFF2-40B4-BE49-F238E27FC236}">
                <a16:creationId xmlns:a16="http://schemas.microsoft.com/office/drawing/2014/main" id="{0D83EB7C-2F25-8495-1BA3-C29E6FACC47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901184" y="1826663"/>
            <a:ext cx="6922008" cy="3305258"/>
          </a:xfrm>
          <a:prstGeom prst="rect">
            <a:avLst/>
          </a:prstGeom>
        </p:spPr>
      </p:pic>
      <p:sp>
        <p:nvSpPr>
          <p:cNvPr id="4" name="Rectangle 3">
            <a:extLst>
              <a:ext uri="{FF2B5EF4-FFF2-40B4-BE49-F238E27FC236}">
                <a16:creationId xmlns:a16="http://schemas.microsoft.com/office/drawing/2014/main" id="{EC82A751-2F4B-9CF6-BD39-5A2FF1DE807D}"/>
              </a:ext>
            </a:extLst>
          </p:cNvPr>
          <p:cNvSpPr/>
          <p:nvPr/>
        </p:nvSpPr>
        <p:spPr>
          <a:xfrm>
            <a:off x="0" y="6725264"/>
            <a:ext cx="12189840" cy="131295"/>
          </a:xfrm>
          <a:prstGeom prst="rect">
            <a:avLst/>
          </a:prstGeom>
          <a:solidFill>
            <a:schemeClr val="tx2">
              <a:lumMod val="90000"/>
              <a:lumOff val="1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86784997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CE73C3-D4CC-998E-621B-34A02BA56D21}"/>
              </a:ext>
            </a:extLst>
          </p:cNvPr>
          <p:cNvSpPr>
            <a:spLocks noGrp="1"/>
          </p:cNvSpPr>
          <p:nvPr>
            <p:ph type="title"/>
          </p:nvPr>
        </p:nvSpPr>
        <p:spPr>
          <a:xfrm>
            <a:off x="636082" y="203876"/>
            <a:ext cx="5458838" cy="1325563"/>
          </a:xfrm>
        </p:spPr>
        <p:txBody>
          <a:bodyPr vert="horz" lIns="91440" tIns="45720" rIns="91440" bIns="45720" rtlCol="0" anchor="ctr">
            <a:normAutofit/>
          </a:bodyPr>
          <a:lstStyle/>
          <a:p>
            <a:r>
              <a:rPr lang="en-US" sz="2800" b="1" kern="1200">
                <a:latin typeface="+mj-lt"/>
                <a:ea typeface="+mj-ea"/>
                <a:cs typeface="+mj-cs"/>
              </a:rPr>
              <a:t>LÝ DO CHỌN ĐỀ TÀI</a:t>
            </a:r>
          </a:p>
        </p:txBody>
      </p:sp>
      <p:sp>
        <p:nvSpPr>
          <p:cNvPr id="9" name="TextBox 8">
            <a:extLst>
              <a:ext uri="{FF2B5EF4-FFF2-40B4-BE49-F238E27FC236}">
                <a16:creationId xmlns:a16="http://schemas.microsoft.com/office/drawing/2014/main" id="{5F3989D9-CC76-92F2-201C-34CF53753FD0}"/>
              </a:ext>
            </a:extLst>
          </p:cNvPr>
          <p:cNvSpPr txBox="1"/>
          <p:nvPr/>
        </p:nvSpPr>
        <p:spPr>
          <a:xfrm>
            <a:off x="741247" y="4980961"/>
            <a:ext cx="11185281" cy="673774"/>
          </a:xfrm>
          <a:prstGeom prst="rect">
            <a:avLst/>
          </a:prstGeom>
        </p:spPr>
        <p:txBody>
          <a:bodyPr vert="horz" lIns="91440" tIns="45720" rIns="91440" bIns="45720" rtlCol="0">
            <a:noAutofit/>
          </a:bodyPr>
          <a:lstStyle/>
          <a:p>
            <a:pPr algn="just" defTabSz="914400">
              <a:lnSpc>
                <a:spcPct val="90000"/>
              </a:lnSpc>
              <a:spcAft>
                <a:spcPts val="600"/>
              </a:spcAft>
            </a:pPr>
            <a:r>
              <a:rPr lang="en-US">
                <a:latin typeface="+mj-lt"/>
              </a:rPr>
              <a:t>“Xây dựng Website cung cấp kỹ thuật thông tin nuôi trồng thủy sản” là việc cần thiết để tạo điều kiện thuận lợi cho người nuôi trồng thủy sản, cập nhật thông tin liên tục  mọi lúc mọi nơi một cách nhanh chóng.</a:t>
            </a:r>
          </a:p>
        </p:txBody>
      </p:sp>
      <p:sp>
        <p:nvSpPr>
          <p:cNvPr id="3" name="Rectangle 2">
            <a:extLst>
              <a:ext uri="{FF2B5EF4-FFF2-40B4-BE49-F238E27FC236}">
                <a16:creationId xmlns:a16="http://schemas.microsoft.com/office/drawing/2014/main" id="{9503A435-A4CA-A7E6-F0DC-C7B471897448}"/>
              </a:ext>
            </a:extLst>
          </p:cNvPr>
          <p:cNvSpPr/>
          <p:nvPr/>
        </p:nvSpPr>
        <p:spPr>
          <a:xfrm>
            <a:off x="0" y="6725264"/>
            <a:ext cx="12189840" cy="131295"/>
          </a:xfrm>
          <a:prstGeom prst="rect">
            <a:avLst/>
          </a:prstGeom>
          <a:solidFill>
            <a:schemeClr val="tx2">
              <a:lumMod val="90000"/>
              <a:lumOff val="1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8323DA7B-10E7-B4C4-E7A0-B345F9C226E1}"/>
              </a:ext>
            </a:extLst>
          </p:cNvPr>
          <p:cNvSpPr txBox="1"/>
          <p:nvPr/>
        </p:nvSpPr>
        <p:spPr>
          <a:xfrm>
            <a:off x="743408" y="1439006"/>
            <a:ext cx="11183121" cy="369332"/>
          </a:xfrm>
          <a:prstGeom prst="rect">
            <a:avLst/>
          </a:prstGeom>
          <a:noFill/>
        </p:spPr>
        <p:txBody>
          <a:bodyPr wrap="square">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cap="none" spc="0">
                <a:solidFill>
                  <a:schemeClr val="tx1"/>
                </a:solidFill>
                <a:latin typeface="+mj-lt"/>
              </a:rPr>
              <a:t>Mong muốn đưa thông tin kỹ thuật chăn nuôi tốt nhất đến người nuôi thông qua website.</a:t>
            </a:r>
          </a:p>
        </p:txBody>
      </p:sp>
      <p:sp>
        <p:nvSpPr>
          <p:cNvPr id="7" name="TextBox 6">
            <a:extLst>
              <a:ext uri="{FF2B5EF4-FFF2-40B4-BE49-F238E27FC236}">
                <a16:creationId xmlns:a16="http://schemas.microsoft.com/office/drawing/2014/main" id="{A9534D7A-8D9E-3103-B3AF-6F9AFEBA9168}"/>
              </a:ext>
            </a:extLst>
          </p:cNvPr>
          <p:cNvSpPr txBox="1"/>
          <p:nvPr/>
        </p:nvSpPr>
        <p:spPr>
          <a:xfrm>
            <a:off x="741248" y="1959139"/>
            <a:ext cx="11448592"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cap="none" spc="0">
                <a:solidFill>
                  <a:schemeClr val="tx1"/>
                </a:solidFill>
                <a:latin typeface="+mj-lt"/>
              </a:rPr>
              <a:t>Giúp tối ưu hóa chi phí, nâng cao hiệu quả năng suất sản lượng. Dễ dàng tiếp cận tìm kiếm thông tin về Thủy Sản.</a:t>
            </a:r>
          </a:p>
        </p:txBody>
      </p:sp>
      <p:sp>
        <p:nvSpPr>
          <p:cNvPr id="8" name="TextBox 7">
            <a:extLst>
              <a:ext uri="{FF2B5EF4-FFF2-40B4-BE49-F238E27FC236}">
                <a16:creationId xmlns:a16="http://schemas.microsoft.com/office/drawing/2014/main" id="{BC434030-7AEA-AF0C-D0A4-819CD4D97123}"/>
              </a:ext>
            </a:extLst>
          </p:cNvPr>
          <p:cNvSpPr txBox="1"/>
          <p:nvPr/>
        </p:nvSpPr>
        <p:spPr>
          <a:xfrm>
            <a:off x="741247" y="2364808"/>
            <a:ext cx="3447294" cy="369332"/>
          </a:xfrm>
          <a:prstGeom prst="rect">
            <a:avLst/>
          </a:prstGeom>
          <a:noFill/>
        </p:spPr>
        <p:txBody>
          <a:bodyPr wrap="square">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i="0" u="none" strike="noStrike" cap="none" normalizeH="0" baseline="0">
                <a:ln>
                  <a:noFill/>
                </a:ln>
                <a:effectLst/>
                <a:latin typeface="+mj-lt"/>
              </a:rPr>
              <a:t>Thách thức </a:t>
            </a:r>
            <a:r>
              <a:rPr lang="en-US" altLang="en-US">
                <a:latin typeface="+mj-lt"/>
              </a:rPr>
              <a:t>của người nuôi:</a:t>
            </a:r>
            <a:endParaRPr kumimoji="0" lang="en-US" altLang="en-US" i="0" u="none" strike="noStrike" cap="none" normalizeH="0" baseline="0">
              <a:ln>
                <a:noFill/>
              </a:ln>
              <a:effectLst/>
              <a:latin typeface="+mj-lt"/>
            </a:endParaRPr>
          </a:p>
        </p:txBody>
      </p:sp>
      <p:sp>
        <p:nvSpPr>
          <p:cNvPr id="11" name="TextBox 10">
            <a:extLst>
              <a:ext uri="{FF2B5EF4-FFF2-40B4-BE49-F238E27FC236}">
                <a16:creationId xmlns:a16="http://schemas.microsoft.com/office/drawing/2014/main" id="{6812AA0D-DFC0-6745-7A6F-1B1649B47951}"/>
              </a:ext>
            </a:extLst>
          </p:cNvPr>
          <p:cNvSpPr txBox="1"/>
          <p:nvPr/>
        </p:nvSpPr>
        <p:spPr>
          <a:xfrm>
            <a:off x="741248" y="2836302"/>
            <a:ext cx="11362262" cy="646331"/>
          </a:xfrm>
          <a:prstGeom prst="rect">
            <a:avLst/>
          </a:prstGeom>
          <a:noFill/>
        </p:spPr>
        <p:txBody>
          <a:bodyPr wrap="square">
            <a:spAutoFit/>
          </a:bodyPr>
          <a:lstStyle/>
          <a:p>
            <a:pPr marL="0" marR="0" lvl="0" indent="0" algn="just" defTabSz="914400" rtl="0" eaLnBrk="0" fontAlgn="base" latinLnBrk="0" hangingPunct="0">
              <a:lnSpc>
                <a:spcPct val="100000"/>
              </a:lnSpc>
              <a:spcBef>
                <a:spcPct val="0"/>
              </a:spcBef>
              <a:spcAft>
                <a:spcPct val="0"/>
              </a:spcAft>
              <a:buClrTx/>
              <a:buSzTx/>
              <a:tabLst/>
            </a:pPr>
            <a:r>
              <a:rPr kumimoji="0" lang="en-US" altLang="en-US" i="0" u="none" strike="noStrike" cap="none" normalizeH="0" baseline="0">
                <a:ln>
                  <a:noFill/>
                </a:ln>
                <a:solidFill>
                  <a:schemeClr val="tx1"/>
                </a:solidFill>
                <a:effectLst/>
                <a:latin typeface="+mj-lt"/>
              </a:rPr>
              <a:t> - Hố ngăn cách tri thức: Thiếu thông tin chính thống; rủi ro cao khi áp dụng kỹ thuật từ các nguồn tin không kiểm chứng trên mạng xã hội. </a:t>
            </a:r>
          </a:p>
        </p:txBody>
      </p:sp>
      <p:sp>
        <p:nvSpPr>
          <p:cNvPr id="13" name="TextBox 12">
            <a:extLst>
              <a:ext uri="{FF2B5EF4-FFF2-40B4-BE49-F238E27FC236}">
                <a16:creationId xmlns:a16="http://schemas.microsoft.com/office/drawing/2014/main" id="{F28C8262-0E19-5F24-2B1D-E2A79850B77C}"/>
              </a:ext>
            </a:extLst>
          </p:cNvPr>
          <p:cNvSpPr txBox="1"/>
          <p:nvPr/>
        </p:nvSpPr>
        <p:spPr>
          <a:xfrm>
            <a:off x="741247" y="4160084"/>
            <a:ext cx="10487191" cy="646331"/>
          </a:xfrm>
          <a:prstGeom prst="rect">
            <a:avLst/>
          </a:prstGeom>
          <a:noFill/>
        </p:spPr>
        <p:txBody>
          <a:bodyPr wrap="square">
            <a:spAutoFit/>
          </a:bodyPr>
          <a:lstStyle/>
          <a:p>
            <a:pPr marL="0" marR="0" lvl="0" indent="0" algn="just" defTabSz="914400" rtl="0" eaLnBrk="0" fontAlgn="base" latinLnBrk="0" hangingPunct="0">
              <a:lnSpc>
                <a:spcPct val="100000"/>
              </a:lnSpc>
              <a:spcBef>
                <a:spcPct val="0"/>
              </a:spcBef>
              <a:spcAft>
                <a:spcPct val="0"/>
              </a:spcAft>
              <a:buClrTx/>
              <a:buSzTx/>
              <a:tabLst/>
            </a:pPr>
            <a:r>
              <a:rPr kumimoji="0" lang="en-US" altLang="en-US" i="0" u="none" strike="noStrike" cap="none" normalizeH="0" baseline="0">
                <a:ln>
                  <a:noFill/>
                </a:ln>
                <a:solidFill>
                  <a:schemeClr val="tx1"/>
                </a:solidFill>
                <a:effectLst/>
                <a:latin typeface="+mj-lt"/>
              </a:rPr>
              <a:t> - Dịch bệnh khẩn cấp: Các bệnh nguy hiểm (đốm trắng, gan tụy) diễn biến nhanh, cần phác đồ điều trị chuẩn xác và tức thời.</a:t>
            </a:r>
          </a:p>
        </p:txBody>
      </p:sp>
      <p:sp>
        <p:nvSpPr>
          <p:cNvPr id="15" name="TextBox 14">
            <a:extLst>
              <a:ext uri="{FF2B5EF4-FFF2-40B4-BE49-F238E27FC236}">
                <a16:creationId xmlns:a16="http://schemas.microsoft.com/office/drawing/2014/main" id="{ECB564F7-B64F-26E6-B3D9-62F7AB9E7275}"/>
              </a:ext>
            </a:extLst>
          </p:cNvPr>
          <p:cNvSpPr txBox="1"/>
          <p:nvPr/>
        </p:nvSpPr>
        <p:spPr>
          <a:xfrm>
            <a:off x="741247" y="3541101"/>
            <a:ext cx="11185281" cy="369332"/>
          </a:xfrm>
          <a:prstGeom prst="rect">
            <a:avLst/>
          </a:prstGeom>
          <a:noFill/>
        </p:spPr>
        <p:txBody>
          <a:bodyPr wrap="square">
            <a:spAutoFit/>
          </a:bodyPr>
          <a:lstStyle/>
          <a:p>
            <a:pPr marL="0" marR="0" lvl="0" indent="0" algn="just" defTabSz="914400" rtl="0" eaLnBrk="0" fontAlgn="base" latinLnBrk="0" hangingPunct="0">
              <a:lnSpc>
                <a:spcPct val="100000"/>
              </a:lnSpc>
              <a:spcBef>
                <a:spcPct val="0"/>
              </a:spcBef>
              <a:spcAft>
                <a:spcPct val="0"/>
              </a:spcAft>
              <a:buClrTx/>
              <a:buSzTx/>
              <a:tabLst/>
            </a:pPr>
            <a:r>
              <a:rPr kumimoji="0" lang="en-US" altLang="en-US" i="0" u="none" strike="noStrike" cap="none" normalizeH="0" baseline="0">
                <a:ln>
                  <a:noFill/>
                </a:ln>
                <a:solidFill>
                  <a:schemeClr val="tx1"/>
                </a:solidFill>
                <a:effectLst/>
                <a:latin typeface="+mj-lt"/>
              </a:rPr>
              <a:t> - Thao túng giá: Thường bị thương lái ép giá do không có kênh tham chiếu giá thực tế tại địa phương theo giờ.</a:t>
            </a:r>
          </a:p>
        </p:txBody>
      </p:sp>
    </p:spTree>
    <p:extLst>
      <p:ext uri="{BB962C8B-B14F-4D97-AF65-F5344CB8AC3E}">
        <p14:creationId xmlns:p14="http://schemas.microsoft.com/office/powerpoint/2010/main" val="215972748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
                                            <p:txEl>
                                              <p:pRg st="0" end="0"/>
                                            </p:txEl>
                                          </p:spTgt>
                                        </p:tgtEl>
                                        <p:attrNameLst>
                                          <p:attrName>style.visibility</p:attrName>
                                        </p:attrNameLst>
                                      </p:cBhvr>
                                      <p:to>
                                        <p:strVal val="visible"/>
                                      </p:to>
                                    </p:set>
                                    <p:animEffect transition="in" filter="fade">
                                      <p:cBhvr>
                                        <p:cTn id="12" dur="500"/>
                                        <p:tgtEl>
                                          <p:spTgt spid="7">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8">
                                            <p:txEl>
                                              <p:pRg st="0" end="0"/>
                                            </p:txEl>
                                          </p:spTgt>
                                        </p:tgtEl>
                                        <p:attrNameLst>
                                          <p:attrName>style.visibility</p:attrName>
                                        </p:attrNameLst>
                                      </p:cBhvr>
                                      <p:to>
                                        <p:strVal val="visible"/>
                                      </p:to>
                                    </p:set>
                                    <p:animEffect transition="in" filter="fade">
                                      <p:cBhvr>
                                        <p:cTn id="17" dur="500"/>
                                        <p:tgtEl>
                                          <p:spTgt spid="8">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1">
                                            <p:txEl>
                                              <p:pRg st="0" end="0"/>
                                            </p:txEl>
                                          </p:spTgt>
                                        </p:tgtEl>
                                        <p:attrNameLst>
                                          <p:attrName>style.visibility</p:attrName>
                                        </p:attrNameLst>
                                      </p:cBhvr>
                                      <p:to>
                                        <p:strVal val="visible"/>
                                      </p:to>
                                    </p:set>
                                    <p:animEffect transition="in" filter="fade">
                                      <p:cBhvr>
                                        <p:cTn id="22" dur="500"/>
                                        <p:tgtEl>
                                          <p:spTgt spid="11">
                                            <p:txEl>
                                              <p:pRg st="0" end="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5">
                                            <p:txEl>
                                              <p:pRg st="0" end="0"/>
                                            </p:txEl>
                                          </p:spTgt>
                                        </p:tgtEl>
                                        <p:attrNameLst>
                                          <p:attrName>style.visibility</p:attrName>
                                        </p:attrNameLst>
                                      </p:cBhvr>
                                      <p:to>
                                        <p:strVal val="visible"/>
                                      </p:to>
                                    </p:set>
                                    <p:animEffect transition="in" filter="fade">
                                      <p:cBhvr>
                                        <p:cTn id="27" dur="500"/>
                                        <p:tgtEl>
                                          <p:spTgt spid="15">
                                            <p:txEl>
                                              <p:pRg st="0" end="0"/>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3">
                                            <p:txEl>
                                              <p:pRg st="0" end="0"/>
                                            </p:txEl>
                                          </p:spTgt>
                                        </p:tgtEl>
                                        <p:attrNameLst>
                                          <p:attrName>style.visibility</p:attrName>
                                        </p:attrNameLst>
                                      </p:cBhvr>
                                      <p:to>
                                        <p:strVal val="visible"/>
                                      </p:to>
                                    </p:set>
                                    <p:animEffect transition="in" filter="fade">
                                      <p:cBhvr>
                                        <p:cTn id="32" dur="500"/>
                                        <p:tgtEl>
                                          <p:spTgt spid="13">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9">
                                            <p:txEl>
                                              <p:pRg st="0" end="0"/>
                                            </p:txEl>
                                          </p:spTgt>
                                        </p:tgtEl>
                                        <p:attrNameLst>
                                          <p:attrName>style.visibility</p:attrName>
                                        </p:attrNameLst>
                                      </p:cBhvr>
                                      <p:to>
                                        <p:strVal val="visible"/>
                                      </p:to>
                                    </p:set>
                                    <p:animEffect transition="in" filter="fade">
                                      <p:cBhvr>
                                        <p:cTn id="37" dur="500"/>
                                        <p:tgtEl>
                                          <p:spTgt spid="9">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02ADFB-3272-E29D-DEAD-C3D21CD567BD}"/>
              </a:ext>
            </a:extLst>
          </p:cNvPr>
          <p:cNvSpPr>
            <a:spLocks noGrp="1"/>
          </p:cNvSpPr>
          <p:nvPr>
            <p:ph type="title"/>
          </p:nvPr>
        </p:nvSpPr>
        <p:spPr>
          <a:xfrm>
            <a:off x="838200" y="365126"/>
            <a:ext cx="10232923" cy="744384"/>
          </a:xfrm>
        </p:spPr>
        <p:txBody>
          <a:bodyPr>
            <a:normAutofit/>
          </a:bodyPr>
          <a:lstStyle/>
          <a:p>
            <a:r>
              <a:rPr lang="en-US" sz="2800" b="1"/>
              <a:t>GIỚI THIỆU NGÔN NGỮ - FRAMEWORK</a:t>
            </a:r>
          </a:p>
        </p:txBody>
      </p:sp>
      <p:pic>
        <p:nvPicPr>
          <p:cNvPr id="7" name="Content Placeholder 6" descr="Lập trình Web nên học ngôn ngữ nào là phù hợp?">
            <a:extLst>
              <a:ext uri="{FF2B5EF4-FFF2-40B4-BE49-F238E27FC236}">
                <a16:creationId xmlns:a16="http://schemas.microsoft.com/office/drawing/2014/main" id="{D864216F-3C39-511A-4C6D-AE827C8D57B7}"/>
              </a:ext>
            </a:extLst>
          </p:cNvPr>
          <p:cNvPicPr>
            <a:picLocks noGrp="1" noChangeAspect="1"/>
          </p:cNvPicPr>
          <p:nvPr>
            <p:ph idx="1"/>
          </p:nvPr>
        </p:nvPicPr>
        <p:blipFill>
          <a:blip r:embed="rId2"/>
          <a:srcRect l="66755"/>
          <a:stretch>
            <a:fillRect/>
          </a:stretch>
        </p:blipFill>
        <p:spPr>
          <a:xfrm>
            <a:off x="2969537" y="4992183"/>
            <a:ext cx="872090" cy="1231635"/>
          </a:xfrm>
          <a:prstGeom prst="rect">
            <a:avLst/>
          </a:prstGeom>
        </p:spPr>
      </p:pic>
      <p:pic>
        <p:nvPicPr>
          <p:cNvPr id="4" name="Picture 3" descr="Lập trình Web nên học ngôn ngữ nào là phù hợp?">
            <a:extLst>
              <a:ext uri="{FF2B5EF4-FFF2-40B4-BE49-F238E27FC236}">
                <a16:creationId xmlns:a16="http://schemas.microsoft.com/office/drawing/2014/main" id="{A9B77572-4BD7-78B0-605C-94BB5C45B7B0}"/>
              </a:ext>
            </a:extLst>
          </p:cNvPr>
          <p:cNvPicPr>
            <a:picLocks noChangeAspect="1"/>
          </p:cNvPicPr>
          <p:nvPr/>
        </p:nvPicPr>
        <p:blipFill>
          <a:blip r:embed="rId2"/>
          <a:srcRect r="64508"/>
          <a:stretch>
            <a:fillRect/>
          </a:stretch>
        </p:blipFill>
        <p:spPr>
          <a:xfrm>
            <a:off x="1853054" y="4992183"/>
            <a:ext cx="914995" cy="1210424"/>
          </a:xfrm>
          <a:prstGeom prst="rect">
            <a:avLst/>
          </a:prstGeom>
        </p:spPr>
      </p:pic>
      <p:pic>
        <p:nvPicPr>
          <p:cNvPr id="5" name="Picture 4" descr="HomeNest">
            <a:extLst>
              <a:ext uri="{FF2B5EF4-FFF2-40B4-BE49-F238E27FC236}">
                <a16:creationId xmlns:a16="http://schemas.microsoft.com/office/drawing/2014/main" id="{079E3564-4B0A-0851-6E51-1DBF6A789DED}"/>
              </a:ext>
            </a:extLst>
          </p:cNvPr>
          <p:cNvPicPr>
            <a:picLocks noChangeAspect="1"/>
          </p:cNvPicPr>
          <p:nvPr/>
        </p:nvPicPr>
        <p:blipFill>
          <a:blip r:embed="rId3"/>
          <a:stretch>
            <a:fillRect/>
          </a:stretch>
        </p:blipFill>
        <p:spPr>
          <a:xfrm>
            <a:off x="2094076" y="4058027"/>
            <a:ext cx="1612880" cy="830433"/>
          </a:xfrm>
          <a:prstGeom prst="rect">
            <a:avLst/>
          </a:prstGeom>
        </p:spPr>
      </p:pic>
      <p:pic>
        <p:nvPicPr>
          <p:cNvPr id="6" name="Picture 5" descr="PHP MYSQL | Chương trình Học viện công nghệ BKACAD">
            <a:extLst>
              <a:ext uri="{FF2B5EF4-FFF2-40B4-BE49-F238E27FC236}">
                <a16:creationId xmlns:a16="http://schemas.microsoft.com/office/drawing/2014/main" id="{A130DC9D-B336-EF38-6F94-CF9E8AA1FDAF}"/>
              </a:ext>
            </a:extLst>
          </p:cNvPr>
          <p:cNvPicPr>
            <a:picLocks noChangeAspect="1"/>
          </p:cNvPicPr>
          <p:nvPr/>
        </p:nvPicPr>
        <p:blipFill>
          <a:blip r:embed="rId4"/>
          <a:stretch>
            <a:fillRect/>
          </a:stretch>
        </p:blipFill>
        <p:spPr>
          <a:xfrm>
            <a:off x="7027721" y="4582446"/>
            <a:ext cx="2914650" cy="1571625"/>
          </a:xfrm>
          <a:prstGeom prst="rect">
            <a:avLst/>
          </a:prstGeom>
        </p:spPr>
      </p:pic>
      <p:sp>
        <p:nvSpPr>
          <p:cNvPr id="8" name="TextBox 7">
            <a:extLst>
              <a:ext uri="{FF2B5EF4-FFF2-40B4-BE49-F238E27FC236}">
                <a16:creationId xmlns:a16="http://schemas.microsoft.com/office/drawing/2014/main" id="{2E96FDD3-3DD2-B5B7-98C7-1C993EC49B32}"/>
              </a:ext>
            </a:extLst>
          </p:cNvPr>
          <p:cNvSpPr txBox="1"/>
          <p:nvPr/>
        </p:nvSpPr>
        <p:spPr>
          <a:xfrm>
            <a:off x="2265010" y="3688695"/>
            <a:ext cx="1612880" cy="369332"/>
          </a:xfrm>
          <a:prstGeom prst="rect">
            <a:avLst/>
          </a:prstGeom>
          <a:noFill/>
        </p:spPr>
        <p:txBody>
          <a:bodyPr wrap="square" rtlCol="0">
            <a:spAutoFit/>
          </a:bodyPr>
          <a:lstStyle/>
          <a:p>
            <a:r>
              <a:rPr lang="en-US" b="1"/>
              <a:t>FRONT END</a:t>
            </a:r>
          </a:p>
        </p:txBody>
      </p:sp>
      <p:sp>
        <p:nvSpPr>
          <p:cNvPr id="12" name="TextBox 11">
            <a:extLst>
              <a:ext uri="{FF2B5EF4-FFF2-40B4-BE49-F238E27FC236}">
                <a16:creationId xmlns:a16="http://schemas.microsoft.com/office/drawing/2014/main" id="{9299A899-246A-03E3-922D-B994E6FB7D41}"/>
              </a:ext>
            </a:extLst>
          </p:cNvPr>
          <p:cNvSpPr txBox="1"/>
          <p:nvPr/>
        </p:nvSpPr>
        <p:spPr>
          <a:xfrm>
            <a:off x="7624010" y="3721699"/>
            <a:ext cx="1380203" cy="553998"/>
          </a:xfrm>
          <a:prstGeom prst="rect">
            <a:avLst/>
          </a:prstGeom>
          <a:noFill/>
        </p:spPr>
        <p:txBody>
          <a:bodyPr wrap="square">
            <a:spAutoFit/>
          </a:bodyPr>
          <a:lstStyle/>
          <a:p>
            <a:r>
              <a:rPr lang="en-US" sz="3000"/>
              <a:t> </a:t>
            </a:r>
            <a:r>
              <a:rPr lang="en-US" b="1"/>
              <a:t>BACK END</a:t>
            </a:r>
          </a:p>
        </p:txBody>
      </p:sp>
      <p:sp>
        <p:nvSpPr>
          <p:cNvPr id="3" name="Rectangle 2">
            <a:extLst>
              <a:ext uri="{FF2B5EF4-FFF2-40B4-BE49-F238E27FC236}">
                <a16:creationId xmlns:a16="http://schemas.microsoft.com/office/drawing/2014/main" id="{2E55A86A-2E3D-D441-EF26-6E7918B9000F}"/>
              </a:ext>
            </a:extLst>
          </p:cNvPr>
          <p:cNvSpPr/>
          <p:nvPr/>
        </p:nvSpPr>
        <p:spPr>
          <a:xfrm>
            <a:off x="0" y="6725264"/>
            <a:ext cx="12189840" cy="131295"/>
          </a:xfrm>
          <a:prstGeom prst="rect">
            <a:avLst/>
          </a:prstGeom>
          <a:solidFill>
            <a:schemeClr val="tx2">
              <a:lumMod val="90000"/>
              <a:lumOff val="1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3FCFBB32-C7B0-9099-9A1C-EC6E878D291A}"/>
              </a:ext>
            </a:extLst>
          </p:cNvPr>
          <p:cNvSpPr txBox="1"/>
          <p:nvPr/>
        </p:nvSpPr>
        <p:spPr>
          <a:xfrm>
            <a:off x="838199" y="1179799"/>
            <a:ext cx="11235814" cy="646331"/>
          </a:xfrm>
          <a:prstGeom prst="rect">
            <a:avLst/>
          </a:prstGeom>
          <a:noFill/>
        </p:spPr>
        <p:txBody>
          <a:bodyPr wrap="square">
            <a:spAutoFit/>
          </a:bodyPr>
          <a:lstStyle/>
          <a:p>
            <a:pPr algn="just"/>
            <a:r>
              <a:rPr lang="vi-VN" b="1">
                <a:latin typeface="Aptos Display" panose="020B0004020202020204" pitchFamily="34" charset="0"/>
              </a:rPr>
              <a:t>Tailwind CSS (Frontend Framework):</a:t>
            </a:r>
            <a:r>
              <a:rPr lang="vi-VN">
                <a:latin typeface="Aptos Display" panose="020B0004020202020204" pitchFamily="34" charset="0"/>
              </a:rPr>
              <a:t> Xây dựng giao diện hiện đại theo phong cách Utility-First. Đảm bảo tính tương thích (Responsive) hoàn hảo trên cả máy tính và điện thoại di động</a:t>
            </a:r>
            <a:endParaRPr lang="en-US">
              <a:latin typeface="Aptos Display" panose="020B0004020202020204" pitchFamily="34" charset="0"/>
            </a:endParaRPr>
          </a:p>
        </p:txBody>
      </p:sp>
      <p:sp>
        <p:nvSpPr>
          <p:cNvPr id="15" name="TextBox 14">
            <a:extLst>
              <a:ext uri="{FF2B5EF4-FFF2-40B4-BE49-F238E27FC236}">
                <a16:creationId xmlns:a16="http://schemas.microsoft.com/office/drawing/2014/main" id="{6A115FAD-26F9-9F68-F9C1-2E7D885F59F6}"/>
              </a:ext>
            </a:extLst>
          </p:cNvPr>
          <p:cNvSpPr txBox="1"/>
          <p:nvPr/>
        </p:nvSpPr>
        <p:spPr>
          <a:xfrm>
            <a:off x="838199" y="1911996"/>
            <a:ext cx="11353801" cy="646331"/>
          </a:xfrm>
          <a:prstGeom prst="rect">
            <a:avLst/>
          </a:prstGeom>
          <a:noFill/>
        </p:spPr>
        <p:txBody>
          <a:bodyPr wrap="square">
            <a:spAutoFit/>
          </a:bodyPr>
          <a:lstStyle/>
          <a:p>
            <a:pPr algn="just"/>
            <a:r>
              <a:rPr lang="en-US" b="1">
                <a:latin typeface="+mj-lt"/>
              </a:rPr>
              <a:t>PHP 8.x (Backend):</a:t>
            </a:r>
            <a:r>
              <a:rPr lang="en-US">
                <a:latin typeface="+mj-lt"/>
              </a:rPr>
              <a:t> Ngôn ngữ chủ đạo điều phối toàn bộ logic nghiệp vụ, quản lý phiên làm việc (Session) và xử lý dữ liệu từ phía máy chủ</a:t>
            </a:r>
          </a:p>
        </p:txBody>
      </p:sp>
      <p:sp>
        <p:nvSpPr>
          <p:cNvPr id="17" name="TextBox 16">
            <a:extLst>
              <a:ext uri="{FF2B5EF4-FFF2-40B4-BE49-F238E27FC236}">
                <a16:creationId xmlns:a16="http://schemas.microsoft.com/office/drawing/2014/main" id="{F4789074-21C0-62B6-2C99-7A0DE716BDE9}"/>
              </a:ext>
            </a:extLst>
          </p:cNvPr>
          <p:cNvSpPr txBox="1"/>
          <p:nvPr/>
        </p:nvSpPr>
        <p:spPr>
          <a:xfrm>
            <a:off x="838199" y="2605997"/>
            <a:ext cx="11235814" cy="646331"/>
          </a:xfrm>
          <a:prstGeom prst="rect">
            <a:avLst/>
          </a:prstGeom>
          <a:noFill/>
        </p:spPr>
        <p:txBody>
          <a:bodyPr wrap="square">
            <a:spAutoFit/>
          </a:bodyPr>
          <a:lstStyle/>
          <a:p>
            <a:pPr algn="just"/>
            <a:r>
              <a:rPr lang="en-US" b="1">
                <a:latin typeface="+mj-lt"/>
              </a:rPr>
              <a:t>Kiến trúc 3 lớp (3-Tier Architecture):</a:t>
            </a:r>
            <a:r>
              <a:rPr lang="en-US">
                <a:latin typeface="+mj-lt"/>
              </a:rPr>
              <a:t> Khung kiến trúc phân tách rõ ràng giữa lớp Trình diễn (UI), lớp Xử lý nghiệp vụ (Logic) và lớp Dữ liệu (MySQL) để dễ dàng bảo trì và nâng cấp.</a:t>
            </a:r>
          </a:p>
        </p:txBody>
      </p:sp>
    </p:spTree>
    <p:extLst>
      <p:ext uri="{BB962C8B-B14F-4D97-AF65-F5344CB8AC3E}">
        <p14:creationId xmlns:p14="http://schemas.microsoft.com/office/powerpoint/2010/main" val="41280288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1AE229-4C90-3902-C6CF-57579CD9C905}"/>
              </a:ext>
            </a:extLst>
          </p:cNvPr>
          <p:cNvSpPr>
            <a:spLocks noGrp="1"/>
          </p:cNvSpPr>
          <p:nvPr>
            <p:ph type="title"/>
          </p:nvPr>
        </p:nvSpPr>
        <p:spPr>
          <a:xfrm>
            <a:off x="429343" y="141584"/>
            <a:ext cx="3861619" cy="598436"/>
          </a:xfrm>
        </p:spPr>
        <p:txBody>
          <a:bodyPr>
            <a:normAutofit/>
          </a:bodyPr>
          <a:lstStyle/>
          <a:p>
            <a:r>
              <a:rPr lang="en-US" sz="2800" b="1"/>
              <a:t>CHỨC NĂNG</a:t>
            </a:r>
          </a:p>
        </p:txBody>
      </p:sp>
      <p:sp>
        <p:nvSpPr>
          <p:cNvPr id="4" name="Rectangle 3">
            <a:extLst>
              <a:ext uri="{FF2B5EF4-FFF2-40B4-BE49-F238E27FC236}">
                <a16:creationId xmlns:a16="http://schemas.microsoft.com/office/drawing/2014/main" id="{72FCB75E-C4C2-63C1-4D95-C4AED3A9FF05}"/>
              </a:ext>
            </a:extLst>
          </p:cNvPr>
          <p:cNvSpPr/>
          <p:nvPr/>
        </p:nvSpPr>
        <p:spPr>
          <a:xfrm>
            <a:off x="0" y="6725264"/>
            <a:ext cx="12189840" cy="131295"/>
          </a:xfrm>
          <a:prstGeom prst="rect">
            <a:avLst/>
          </a:prstGeom>
          <a:solidFill>
            <a:schemeClr val="tx2">
              <a:lumMod val="90000"/>
              <a:lumOff val="1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Content Placeholder 5">
            <a:extLst>
              <a:ext uri="{FF2B5EF4-FFF2-40B4-BE49-F238E27FC236}">
                <a16:creationId xmlns:a16="http://schemas.microsoft.com/office/drawing/2014/main" id="{4346ED84-6E35-8DCC-B1E1-868AC0FBDEC2}"/>
              </a:ext>
            </a:extLst>
          </p:cNvPr>
          <p:cNvSpPr>
            <a:spLocks noGrp="1"/>
          </p:cNvSpPr>
          <p:nvPr>
            <p:ph idx="1"/>
          </p:nvPr>
        </p:nvSpPr>
        <p:spPr>
          <a:xfrm>
            <a:off x="710381" y="989883"/>
            <a:ext cx="10515600" cy="4351338"/>
          </a:xfrm>
        </p:spPr>
        <p:txBody>
          <a:bodyPr>
            <a:normAutofit/>
          </a:bodyPr>
          <a:lstStyle/>
          <a:p>
            <a:pPr marL="0" indent="0">
              <a:buNone/>
            </a:pPr>
            <a:r>
              <a:rPr lang="vi-VN" sz="2000" b="1"/>
              <a:t>1. Nhóm Khách (Guest - Người dùng chưa đăng nhập)</a:t>
            </a:r>
            <a:endParaRPr lang="en-US" sz="2000" b="1"/>
          </a:p>
          <a:p>
            <a:pPr marL="0" indent="0">
              <a:buNone/>
            </a:pPr>
            <a:r>
              <a:rPr lang="en-US" sz="1800"/>
              <a:t>  </a:t>
            </a:r>
            <a:r>
              <a:rPr lang="vi-VN" sz="1800"/>
              <a:t>Đây là nhóm người dùng truy cập để tìm kiếm thông tin nhanh chóng:</a:t>
            </a:r>
            <a:endParaRPr lang="en-US" sz="1800"/>
          </a:p>
          <a:p>
            <a:pPr marL="0" indent="0">
              <a:buNone/>
            </a:pPr>
            <a:r>
              <a:rPr lang="en-US" sz="1800" b="1"/>
              <a:t> - Xem tin tức &amp; Kỹ thuật:</a:t>
            </a:r>
            <a:r>
              <a:rPr lang="en-US" sz="1800"/>
              <a:t> Truy cập kho dữ liệu về quy trình nuôi tôm, cá tra và các bài viết phòng trị bệnh thủy sản.</a:t>
            </a:r>
          </a:p>
          <a:p>
            <a:pPr marL="0" indent="0">
              <a:buNone/>
            </a:pPr>
            <a:r>
              <a:rPr lang="en-US" sz="1800" b="1"/>
              <a:t> - </a:t>
            </a:r>
            <a:r>
              <a:rPr lang="vi-VN" sz="1800" b="1"/>
              <a:t>Tra cứu giá thủy sản:</a:t>
            </a:r>
            <a:r>
              <a:rPr lang="vi-VN" sz="1800"/>
              <a:t> Xem bảng giá thị trường được cập nhật theo thời gian thực tại các khu vực thuộc tỉnh Trà Vinh.</a:t>
            </a:r>
            <a:endParaRPr lang="en-US" sz="1800"/>
          </a:p>
          <a:p>
            <a:pPr marL="0" indent="0">
              <a:buNone/>
            </a:pPr>
            <a:r>
              <a:rPr lang="en-US" sz="1800" b="1"/>
              <a:t> - </a:t>
            </a:r>
            <a:r>
              <a:rPr lang="vi-VN" sz="1800" b="1"/>
              <a:t>Tương tác Chatbot AI:</a:t>
            </a:r>
            <a:r>
              <a:rPr lang="vi-VN" sz="1800"/>
              <a:t> Sử dụng trợ lý ảo để hỏi đáp nhanh các dấu hiệu bệnh học và thông số môi trường cơ bản.</a:t>
            </a:r>
            <a:endParaRPr lang="en-US" sz="1800"/>
          </a:p>
          <a:p>
            <a:pPr marL="0" indent="0">
              <a:buNone/>
            </a:pPr>
            <a:r>
              <a:rPr lang="en-US" sz="1800" b="1"/>
              <a:t> - </a:t>
            </a:r>
            <a:r>
              <a:rPr lang="vi-VN" sz="1800" b="1"/>
              <a:t>Tìm kiếm thông tin:</a:t>
            </a:r>
            <a:r>
              <a:rPr lang="vi-VN" sz="1800"/>
              <a:t> Sử dụng thanh công cụ để truy xuất bài viết theo từ khóa như "đốm trắng", "giá tôm".</a:t>
            </a:r>
            <a:endParaRPr lang="en-US" sz="1800"/>
          </a:p>
        </p:txBody>
      </p:sp>
    </p:spTree>
    <p:extLst>
      <p:ext uri="{BB962C8B-B14F-4D97-AF65-F5344CB8AC3E}">
        <p14:creationId xmlns:p14="http://schemas.microsoft.com/office/powerpoint/2010/main" val="242562740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C45809-AF24-9A0E-53C4-39B73006449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2056CA2-DE24-C4DD-6F7F-D6537DFA1AFC}"/>
              </a:ext>
            </a:extLst>
          </p:cNvPr>
          <p:cNvSpPr>
            <a:spLocks noGrp="1"/>
          </p:cNvSpPr>
          <p:nvPr>
            <p:ph type="title"/>
          </p:nvPr>
        </p:nvSpPr>
        <p:spPr>
          <a:xfrm>
            <a:off x="429343" y="141584"/>
            <a:ext cx="3861619" cy="598436"/>
          </a:xfrm>
        </p:spPr>
        <p:txBody>
          <a:bodyPr>
            <a:normAutofit/>
          </a:bodyPr>
          <a:lstStyle/>
          <a:p>
            <a:r>
              <a:rPr lang="en-US" sz="2800" b="1"/>
              <a:t>CHỨC NĂNG</a:t>
            </a:r>
          </a:p>
        </p:txBody>
      </p:sp>
      <p:sp>
        <p:nvSpPr>
          <p:cNvPr id="4" name="Rectangle 3">
            <a:extLst>
              <a:ext uri="{FF2B5EF4-FFF2-40B4-BE49-F238E27FC236}">
                <a16:creationId xmlns:a16="http://schemas.microsoft.com/office/drawing/2014/main" id="{AD9A2A59-A719-BC66-40F2-D8E2B1AB488C}"/>
              </a:ext>
            </a:extLst>
          </p:cNvPr>
          <p:cNvSpPr/>
          <p:nvPr/>
        </p:nvSpPr>
        <p:spPr>
          <a:xfrm>
            <a:off x="0" y="6725264"/>
            <a:ext cx="12189840" cy="131295"/>
          </a:xfrm>
          <a:prstGeom prst="rect">
            <a:avLst/>
          </a:prstGeom>
          <a:solidFill>
            <a:schemeClr val="tx2">
              <a:lumMod val="90000"/>
              <a:lumOff val="1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Content Placeholder 5">
            <a:extLst>
              <a:ext uri="{FF2B5EF4-FFF2-40B4-BE49-F238E27FC236}">
                <a16:creationId xmlns:a16="http://schemas.microsoft.com/office/drawing/2014/main" id="{749563FA-31AE-5B64-CC59-6E10EF3615FF}"/>
              </a:ext>
            </a:extLst>
          </p:cNvPr>
          <p:cNvSpPr>
            <a:spLocks noGrp="1"/>
          </p:cNvSpPr>
          <p:nvPr>
            <p:ph idx="1"/>
          </p:nvPr>
        </p:nvSpPr>
        <p:spPr>
          <a:xfrm>
            <a:off x="710381" y="989883"/>
            <a:ext cx="10515600" cy="4351338"/>
          </a:xfrm>
        </p:spPr>
        <p:txBody>
          <a:bodyPr>
            <a:normAutofit/>
          </a:bodyPr>
          <a:lstStyle/>
          <a:p>
            <a:pPr marL="0" indent="0">
              <a:buNone/>
            </a:pPr>
            <a:r>
              <a:rPr lang="en-US" sz="2000" b="1">
                <a:latin typeface="Arial" panose="020B0604020202020204" pitchFamily="34" charset="0"/>
                <a:cs typeface="Arial" panose="020B0604020202020204" pitchFamily="34" charset="0"/>
              </a:rPr>
              <a:t>2. Nhóm Thành viên (User đã đăng ký)</a:t>
            </a:r>
          </a:p>
          <a:p>
            <a:pPr marL="0" indent="0">
              <a:buNone/>
            </a:pPr>
            <a:r>
              <a:rPr lang="vi-VN" sz="1800"/>
              <a:t>Nhóm này có đầy đủ quyền hạn của Khách và thêm các tính năng tương tác sâu:</a:t>
            </a:r>
            <a:endParaRPr lang="en-US" sz="1800"/>
          </a:p>
          <a:p>
            <a:pPr marL="0" indent="0">
              <a:buNone/>
            </a:pPr>
            <a:r>
              <a:rPr lang="en-US" sz="1800" b="1"/>
              <a:t> - </a:t>
            </a:r>
            <a:r>
              <a:rPr lang="vi-VN" sz="1800" b="1"/>
              <a:t>Quản lý hồ sơ cá nhân:</a:t>
            </a:r>
            <a:r>
              <a:rPr lang="vi-VN" sz="1800"/>
              <a:t> Chỉnh sửa thông tin, cập nhật ảnh đại diện và theo dõi các huy hiệu thành tích.</a:t>
            </a:r>
            <a:endParaRPr lang="en-US" sz="1800"/>
          </a:p>
          <a:p>
            <a:pPr marL="0" indent="0">
              <a:buNone/>
            </a:pPr>
            <a:r>
              <a:rPr lang="en-US" sz="1800" b="1"/>
              <a:t> - </a:t>
            </a:r>
            <a:r>
              <a:rPr lang="vi-VN" sz="1800" b="1"/>
              <a:t>Chia sẻ tri thức:</a:t>
            </a:r>
            <a:r>
              <a:rPr lang="vi-VN" sz="1800"/>
              <a:t> Đăng bài viết chia sẻ kinh nghiệm nuôi trồng thực tế hoặc đặt câu hỏi kèm hình ảnh hiện trường.</a:t>
            </a:r>
            <a:endParaRPr lang="en-US" sz="1800"/>
          </a:p>
          <a:p>
            <a:pPr marL="0" indent="0">
              <a:buNone/>
            </a:pPr>
            <a:r>
              <a:rPr lang="en-US" sz="1800" b="1"/>
              <a:t> - </a:t>
            </a:r>
            <a:r>
              <a:rPr lang="vi-VN" sz="1800" b="1"/>
              <a:t>Tương tác cộng đồng:</a:t>
            </a:r>
            <a:r>
              <a:rPr lang="vi-VN" sz="1800"/>
              <a:t> Thực hiện đánh giá (Rating 1-5 sao) và bình luận dưới các bài viết kỹ thuật.</a:t>
            </a:r>
            <a:endParaRPr lang="en-US" sz="1800"/>
          </a:p>
          <a:p>
            <a:pPr marL="0" indent="0">
              <a:buNone/>
            </a:pPr>
            <a:r>
              <a:rPr lang="en-US" sz="1800" b="1"/>
              <a:t> - </a:t>
            </a:r>
            <a:r>
              <a:rPr lang="vi-VN" sz="1800" b="1"/>
              <a:t>Lưu trữ (Bookmark):</a:t>
            </a:r>
            <a:r>
              <a:rPr lang="vi-VN" sz="1800"/>
              <a:t> Lưu lại các phác đồ điều trị quan trọng vào kho dữ liệu cá nhân để tra cứu nhanh khi cần.</a:t>
            </a:r>
            <a:endParaRPr lang="en-US" sz="1800"/>
          </a:p>
        </p:txBody>
      </p:sp>
    </p:spTree>
    <p:extLst>
      <p:ext uri="{BB962C8B-B14F-4D97-AF65-F5344CB8AC3E}">
        <p14:creationId xmlns:p14="http://schemas.microsoft.com/office/powerpoint/2010/main" val="355309186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A081A3-B63A-813F-171F-687AE4A0B4A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18152F3-5F89-7C00-DC89-9543061801DB}"/>
              </a:ext>
            </a:extLst>
          </p:cNvPr>
          <p:cNvSpPr>
            <a:spLocks noGrp="1"/>
          </p:cNvSpPr>
          <p:nvPr>
            <p:ph type="title"/>
          </p:nvPr>
        </p:nvSpPr>
        <p:spPr>
          <a:xfrm>
            <a:off x="429343" y="141584"/>
            <a:ext cx="3861619" cy="598436"/>
          </a:xfrm>
        </p:spPr>
        <p:txBody>
          <a:bodyPr>
            <a:normAutofit/>
          </a:bodyPr>
          <a:lstStyle/>
          <a:p>
            <a:r>
              <a:rPr lang="en-US" sz="2800" b="1"/>
              <a:t>CHỨC NĂNG</a:t>
            </a:r>
          </a:p>
        </p:txBody>
      </p:sp>
      <p:sp>
        <p:nvSpPr>
          <p:cNvPr id="4" name="Rectangle 3">
            <a:extLst>
              <a:ext uri="{FF2B5EF4-FFF2-40B4-BE49-F238E27FC236}">
                <a16:creationId xmlns:a16="http://schemas.microsoft.com/office/drawing/2014/main" id="{FCB760DC-AD18-5226-5A8D-3554A6CB0DD4}"/>
              </a:ext>
            </a:extLst>
          </p:cNvPr>
          <p:cNvSpPr/>
          <p:nvPr/>
        </p:nvSpPr>
        <p:spPr>
          <a:xfrm>
            <a:off x="0" y="6725264"/>
            <a:ext cx="12189840" cy="131295"/>
          </a:xfrm>
          <a:prstGeom prst="rect">
            <a:avLst/>
          </a:prstGeom>
          <a:solidFill>
            <a:schemeClr val="tx2">
              <a:lumMod val="90000"/>
              <a:lumOff val="1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Content Placeholder 5">
            <a:extLst>
              <a:ext uri="{FF2B5EF4-FFF2-40B4-BE49-F238E27FC236}">
                <a16:creationId xmlns:a16="http://schemas.microsoft.com/office/drawing/2014/main" id="{9D7A908C-5927-FD14-BEE7-2435BADADE23}"/>
              </a:ext>
            </a:extLst>
          </p:cNvPr>
          <p:cNvSpPr>
            <a:spLocks noGrp="1"/>
          </p:cNvSpPr>
          <p:nvPr>
            <p:ph idx="1"/>
          </p:nvPr>
        </p:nvSpPr>
        <p:spPr>
          <a:xfrm>
            <a:off x="710381" y="989883"/>
            <a:ext cx="10515600" cy="4351338"/>
          </a:xfrm>
        </p:spPr>
        <p:txBody>
          <a:bodyPr>
            <a:normAutofit/>
          </a:bodyPr>
          <a:lstStyle/>
          <a:p>
            <a:pPr marL="0" indent="0">
              <a:buNone/>
            </a:pPr>
            <a:r>
              <a:rPr lang="en-US" sz="2000" b="1">
                <a:latin typeface="Arial" panose="020B0604020202020204" pitchFamily="34" charset="0"/>
                <a:cs typeface="Arial" panose="020B0604020202020204" pitchFamily="34" charset="0"/>
              </a:rPr>
              <a:t>3. Nhóm Quản trị viên (Admin)</a:t>
            </a:r>
          </a:p>
          <a:p>
            <a:pPr marL="0" indent="0">
              <a:buNone/>
            </a:pPr>
            <a:r>
              <a:rPr lang="en-US" sz="1800"/>
              <a:t>Nhóm có quyền hạn cao nhất, chịu trách nhiệm vận hành và kiểm soát tri thức:</a:t>
            </a:r>
          </a:p>
          <a:p>
            <a:pPr marL="0" indent="0">
              <a:buNone/>
            </a:pPr>
            <a:r>
              <a:rPr lang="en-US" sz="1800" b="1"/>
              <a:t> - </a:t>
            </a:r>
            <a:r>
              <a:rPr lang="vi-VN" sz="1800" b="1"/>
              <a:t>Kiểm duyệt nội dung:</a:t>
            </a:r>
            <a:r>
              <a:rPr lang="vi-VN" sz="1800"/>
              <a:t> Phê duyệt hoặc từ chối các bài đăng của người dùng để đảm bảo tính chính thống và an toàn kỹ thuật.</a:t>
            </a:r>
            <a:endParaRPr lang="en-US" sz="1800"/>
          </a:p>
          <a:p>
            <a:pPr marL="0" indent="0">
              <a:buNone/>
            </a:pPr>
            <a:r>
              <a:rPr lang="en-US" sz="1800" b="1"/>
              <a:t> - Bổ sung Ghi chú chuyên gia (Admin Note):</a:t>
            </a:r>
            <a:r>
              <a:rPr lang="en-US" sz="1800"/>
              <a:t> Đính chính thông tin hoặc thêm lời khuyên chuyên môn trực tiếp vào bài viết của nông dân.</a:t>
            </a:r>
          </a:p>
          <a:p>
            <a:pPr marL="0" indent="0">
              <a:buNone/>
            </a:pPr>
            <a:r>
              <a:rPr lang="en-US" sz="1800" b="1"/>
              <a:t> - Quản lý dữ liệu giá:</a:t>
            </a:r>
            <a:r>
              <a:rPr lang="en-US" sz="1800"/>
              <a:t> Cập nhật biến động giá cả thủy sản hàng ngày vào hệ thống theo dõi</a:t>
            </a:r>
          </a:p>
          <a:p>
            <a:pPr marL="0" indent="0">
              <a:buNone/>
            </a:pPr>
            <a:r>
              <a:rPr lang="en-US" sz="1800" b="1"/>
              <a:t> - </a:t>
            </a:r>
            <a:r>
              <a:rPr lang="vi-VN" sz="1800" b="1"/>
              <a:t>Quản trị người dùng:</a:t>
            </a:r>
            <a:r>
              <a:rPr lang="vi-VN" sz="1800"/>
              <a:t> Thực hiện khóa hoặc kích hoạt tài khoản thành viên để đảm bảo an ninh hệ thống.</a:t>
            </a:r>
            <a:endParaRPr lang="en-US" sz="1800"/>
          </a:p>
          <a:p>
            <a:pPr marL="0" indent="0">
              <a:buNone/>
            </a:pPr>
            <a:r>
              <a:rPr lang="en-US" sz="1800"/>
              <a:t> - </a:t>
            </a:r>
            <a:r>
              <a:rPr lang="en-US" sz="1800" b="1"/>
              <a:t>Quản trị toàn bộ những chức năng còn lại</a:t>
            </a:r>
          </a:p>
        </p:txBody>
      </p:sp>
    </p:spTree>
    <p:extLst>
      <p:ext uri="{BB962C8B-B14F-4D97-AF65-F5344CB8AC3E}">
        <p14:creationId xmlns:p14="http://schemas.microsoft.com/office/powerpoint/2010/main" val="50336424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EE869A-BC21-B9DE-49DE-C96CDCF9A3B7}"/>
              </a:ext>
            </a:extLst>
          </p:cNvPr>
          <p:cNvSpPr>
            <a:spLocks noGrp="1"/>
          </p:cNvSpPr>
          <p:nvPr>
            <p:ph type="title"/>
          </p:nvPr>
        </p:nvSpPr>
        <p:spPr>
          <a:xfrm>
            <a:off x="-1229" y="20998"/>
            <a:ext cx="3843184" cy="679092"/>
          </a:xfrm>
        </p:spPr>
        <p:txBody>
          <a:bodyPr>
            <a:normAutofit/>
          </a:bodyPr>
          <a:lstStyle/>
          <a:p>
            <a:r>
              <a:rPr lang="en-US" sz="2800" b="1"/>
              <a:t>QUY TRÌNH VẬN HÀNH</a:t>
            </a:r>
          </a:p>
        </p:txBody>
      </p:sp>
      <p:sp>
        <p:nvSpPr>
          <p:cNvPr id="8" name="Rectangle 7">
            <a:extLst>
              <a:ext uri="{FF2B5EF4-FFF2-40B4-BE49-F238E27FC236}">
                <a16:creationId xmlns:a16="http://schemas.microsoft.com/office/drawing/2014/main" id="{CE62EEA0-0CCA-CF39-FE20-A38F3E8ED95B}"/>
              </a:ext>
            </a:extLst>
          </p:cNvPr>
          <p:cNvSpPr/>
          <p:nvPr/>
        </p:nvSpPr>
        <p:spPr>
          <a:xfrm>
            <a:off x="124841" y="2914988"/>
            <a:ext cx="2117565" cy="86423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Quy Trình Tương Tác Người Dùng</a:t>
            </a:r>
          </a:p>
        </p:txBody>
      </p:sp>
      <p:sp>
        <p:nvSpPr>
          <p:cNvPr id="10" name="Rectangle 9">
            <a:extLst>
              <a:ext uri="{FF2B5EF4-FFF2-40B4-BE49-F238E27FC236}">
                <a16:creationId xmlns:a16="http://schemas.microsoft.com/office/drawing/2014/main" id="{CBD2AC0F-D2EB-7B52-2C43-0FB8068BD908}"/>
              </a:ext>
            </a:extLst>
          </p:cNvPr>
          <p:cNvSpPr/>
          <p:nvPr/>
        </p:nvSpPr>
        <p:spPr>
          <a:xfrm>
            <a:off x="4503167" y="489277"/>
            <a:ext cx="2359741" cy="49161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Bước 1: Tiếp cận thông tin</a:t>
            </a:r>
          </a:p>
        </p:txBody>
      </p:sp>
      <p:sp>
        <p:nvSpPr>
          <p:cNvPr id="12" name="Rectangle 11">
            <a:extLst>
              <a:ext uri="{FF2B5EF4-FFF2-40B4-BE49-F238E27FC236}">
                <a16:creationId xmlns:a16="http://schemas.microsoft.com/office/drawing/2014/main" id="{7F5E9642-532D-B92E-17B9-41F1C8E9E333}"/>
              </a:ext>
            </a:extLst>
          </p:cNvPr>
          <p:cNvSpPr/>
          <p:nvPr/>
        </p:nvSpPr>
        <p:spPr>
          <a:xfrm>
            <a:off x="4503167" y="1677635"/>
            <a:ext cx="2359741" cy="56894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Bước 2: Đăng bài chia sẻ</a:t>
            </a:r>
          </a:p>
        </p:txBody>
      </p:sp>
      <p:sp>
        <p:nvSpPr>
          <p:cNvPr id="14" name="Rectangle 13">
            <a:extLst>
              <a:ext uri="{FF2B5EF4-FFF2-40B4-BE49-F238E27FC236}">
                <a16:creationId xmlns:a16="http://schemas.microsoft.com/office/drawing/2014/main" id="{3338BF1A-F5A6-A7A0-D743-6EAD1E0740DF}"/>
              </a:ext>
            </a:extLst>
          </p:cNvPr>
          <p:cNvSpPr/>
          <p:nvPr/>
        </p:nvSpPr>
        <p:spPr>
          <a:xfrm>
            <a:off x="4503167" y="2935762"/>
            <a:ext cx="2359741" cy="65691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Bước 3: Trạng thái chờ duyệt</a:t>
            </a:r>
          </a:p>
        </p:txBody>
      </p:sp>
      <p:sp>
        <p:nvSpPr>
          <p:cNvPr id="18" name="Rectangle 17">
            <a:extLst>
              <a:ext uri="{FF2B5EF4-FFF2-40B4-BE49-F238E27FC236}">
                <a16:creationId xmlns:a16="http://schemas.microsoft.com/office/drawing/2014/main" id="{14D0EFCE-0E1C-92D2-0CC3-B03596542CF2}"/>
              </a:ext>
            </a:extLst>
          </p:cNvPr>
          <p:cNvSpPr/>
          <p:nvPr/>
        </p:nvSpPr>
        <p:spPr>
          <a:xfrm>
            <a:off x="4503167" y="4326956"/>
            <a:ext cx="2359741" cy="56894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Bước 4: Kiểm duyệt của Admin</a:t>
            </a:r>
          </a:p>
        </p:txBody>
      </p:sp>
      <p:sp>
        <p:nvSpPr>
          <p:cNvPr id="22" name="Rectangle 21">
            <a:extLst>
              <a:ext uri="{FF2B5EF4-FFF2-40B4-BE49-F238E27FC236}">
                <a16:creationId xmlns:a16="http://schemas.microsoft.com/office/drawing/2014/main" id="{75484BA0-926F-AA35-9590-C9783DE60D7C}"/>
              </a:ext>
            </a:extLst>
          </p:cNvPr>
          <p:cNvSpPr/>
          <p:nvPr/>
        </p:nvSpPr>
        <p:spPr>
          <a:xfrm>
            <a:off x="4503170" y="5753374"/>
            <a:ext cx="2359741" cy="56894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Bước 5: Đính chính &amp; Xuất Bản</a:t>
            </a:r>
          </a:p>
        </p:txBody>
      </p:sp>
      <p:sp>
        <p:nvSpPr>
          <p:cNvPr id="34" name="Rectangle 33">
            <a:extLst>
              <a:ext uri="{FF2B5EF4-FFF2-40B4-BE49-F238E27FC236}">
                <a16:creationId xmlns:a16="http://schemas.microsoft.com/office/drawing/2014/main" id="{9DB35C49-506B-4351-BF17-FA6BC00E48E8}"/>
              </a:ext>
            </a:extLst>
          </p:cNvPr>
          <p:cNvSpPr/>
          <p:nvPr/>
        </p:nvSpPr>
        <p:spPr>
          <a:xfrm>
            <a:off x="0" y="6725264"/>
            <a:ext cx="12189840" cy="131295"/>
          </a:xfrm>
          <a:prstGeom prst="rect">
            <a:avLst/>
          </a:prstGeom>
          <a:solidFill>
            <a:schemeClr val="tx2">
              <a:lumMod val="90000"/>
              <a:lumOff val="1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TextBox 35">
            <a:extLst>
              <a:ext uri="{FF2B5EF4-FFF2-40B4-BE49-F238E27FC236}">
                <a16:creationId xmlns:a16="http://schemas.microsoft.com/office/drawing/2014/main" id="{C55864DF-410B-D848-E878-1CF2D6701782}"/>
              </a:ext>
            </a:extLst>
          </p:cNvPr>
          <p:cNvSpPr txBox="1"/>
          <p:nvPr/>
        </p:nvSpPr>
        <p:spPr>
          <a:xfrm>
            <a:off x="2772697" y="1152200"/>
            <a:ext cx="1209368" cy="338554"/>
          </a:xfrm>
          <a:prstGeom prst="rect">
            <a:avLst/>
          </a:prstGeom>
        </p:spPr>
        <p:style>
          <a:lnRef idx="2">
            <a:schemeClr val="dk1">
              <a:shade val="15000"/>
            </a:schemeClr>
          </a:lnRef>
          <a:fillRef idx="1">
            <a:schemeClr val="dk1"/>
          </a:fillRef>
          <a:effectRef idx="0">
            <a:schemeClr val="dk1"/>
          </a:effectRef>
          <a:fontRef idx="minor">
            <a:schemeClr val="lt1"/>
          </a:fontRef>
        </p:style>
        <p:txBody>
          <a:bodyPr wrap="square" rtlCol="0">
            <a:spAutoFit/>
          </a:bodyPr>
          <a:lstStyle/>
          <a:p>
            <a:r>
              <a:rPr lang="en-US" sz="1600"/>
              <a:t>Tiến hành</a:t>
            </a:r>
          </a:p>
        </p:txBody>
      </p:sp>
      <p:cxnSp>
        <p:nvCxnSpPr>
          <p:cNvPr id="46" name="Straight Arrow Connector 45">
            <a:extLst>
              <a:ext uri="{FF2B5EF4-FFF2-40B4-BE49-F238E27FC236}">
                <a16:creationId xmlns:a16="http://schemas.microsoft.com/office/drawing/2014/main" id="{054619CD-5C0B-999D-A787-3A496ACFA211}"/>
              </a:ext>
            </a:extLst>
          </p:cNvPr>
          <p:cNvCxnSpPr>
            <a:stCxn id="10" idx="2"/>
            <a:endCxn id="12" idx="0"/>
          </p:cNvCxnSpPr>
          <p:nvPr/>
        </p:nvCxnSpPr>
        <p:spPr>
          <a:xfrm>
            <a:off x="5683038" y="980889"/>
            <a:ext cx="0" cy="69674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8" name="Straight Arrow Connector 47">
            <a:extLst>
              <a:ext uri="{FF2B5EF4-FFF2-40B4-BE49-F238E27FC236}">
                <a16:creationId xmlns:a16="http://schemas.microsoft.com/office/drawing/2014/main" id="{050BA10E-A356-D60F-B3A7-B0D571EB4664}"/>
              </a:ext>
            </a:extLst>
          </p:cNvPr>
          <p:cNvCxnSpPr>
            <a:cxnSpLocks/>
            <a:stCxn id="12" idx="2"/>
            <a:endCxn id="14" idx="0"/>
          </p:cNvCxnSpPr>
          <p:nvPr/>
        </p:nvCxnSpPr>
        <p:spPr>
          <a:xfrm>
            <a:off x="5683038" y="2246575"/>
            <a:ext cx="0" cy="68918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51" name="Straight Arrow Connector 50">
            <a:extLst>
              <a:ext uri="{FF2B5EF4-FFF2-40B4-BE49-F238E27FC236}">
                <a16:creationId xmlns:a16="http://schemas.microsoft.com/office/drawing/2014/main" id="{3D619148-0B21-D6AF-6D65-A93902C1C22F}"/>
              </a:ext>
            </a:extLst>
          </p:cNvPr>
          <p:cNvCxnSpPr>
            <a:stCxn id="14" idx="2"/>
            <a:endCxn id="18" idx="0"/>
          </p:cNvCxnSpPr>
          <p:nvPr/>
        </p:nvCxnSpPr>
        <p:spPr>
          <a:xfrm>
            <a:off x="5683038" y="3592675"/>
            <a:ext cx="0" cy="73428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53" name="Straight Arrow Connector 52">
            <a:extLst>
              <a:ext uri="{FF2B5EF4-FFF2-40B4-BE49-F238E27FC236}">
                <a16:creationId xmlns:a16="http://schemas.microsoft.com/office/drawing/2014/main" id="{79D5BB87-8217-3712-49A5-DEBD1652FFED}"/>
              </a:ext>
            </a:extLst>
          </p:cNvPr>
          <p:cNvCxnSpPr>
            <a:stCxn id="18" idx="2"/>
            <a:endCxn id="22" idx="0"/>
          </p:cNvCxnSpPr>
          <p:nvPr/>
        </p:nvCxnSpPr>
        <p:spPr>
          <a:xfrm>
            <a:off x="5683038" y="4895896"/>
            <a:ext cx="3" cy="85747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55" name="TextBox 54">
            <a:extLst>
              <a:ext uri="{FF2B5EF4-FFF2-40B4-BE49-F238E27FC236}">
                <a16:creationId xmlns:a16="http://schemas.microsoft.com/office/drawing/2014/main" id="{8606E087-B8E3-B6BE-2C8E-2349D041D3B0}"/>
              </a:ext>
            </a:extLst>
          </p:cNvPr>
          <p:cNvSpPr txBox="1"/>
          <p:nvPr/>
        </p:nvSpPr>
        <p:spPr>
          <a:xfrm>
            <a:off x="2912807" y="2465709"/>
            <a:ext cx="929148" cy="338554"/>
          </a:xfrm>
          <a:prstGeom prst="rect">
            <a:avLst/>
          </a:prstGeom>
        </p:spPr>
        <p:style>
          <a:lnRef idx="2">
            <a:schemeClr val="dk1">
              <a:shade val="15000"/>
            </a:schemeClr>
          </a:lnRef>
          <a:fillRef idx="1">
            <a:schemeClr val="dk1"/>
          </a:fillRef>
          <a:effectRef idx="0">
            <a:schemeClr val="dk1"/>
          </a:effectRef>
          <a:fontRef idx="minor">
            <a:schemeClr val="lt1"/>
          </a:fontRef>
        </p:style>
        <p:txBody>
          <a:bodyPr wrap="square" rtlCol="0">
            <a:spAutoFit/>
          </a:bodyPr>
          <a:lstStyle/>
          <a:p>
            <a:r>
              <a:rPr lang="en-US" sz="1600"/>
              <a:t>Gửi bài</a:t>
            </a:r>
          </a:p>
        </p:txBody>
      </p:sp>
      <p:sp>
        <p:nvSpPr>
          <p:cNvPr id="56" name="TextBox 55">
            <a:extLst>
              <a:ext uri="{FF2B5EF4-FFF2-40B4-BE49-F238E27FC236}">
                <a16:creationId xmlns:a16="http://schemas.microsoft.com/office/drawing/2014/main" id="{7ABB05FD-71EB-C0B5-1EF5-D3B5158B2D36}"/>
              </a:ext>
            </a:extLst>
          </p:cNvPr>
          <p:cNvSpPr txBox="1"/>
          <p:nvPr/>
        </p:nvSpPr>
        <p:spPr>
          <a:xfrm>
            <a:off x="2681985" y="3779218"/>
            <a:ext cx="1390792" cy="338554"/>
          </a:xfrm>
          <a:prstGeom prst="rect">
            <a:avLst/>
          </a:prstGeom>
        </p:spPr>
        <p:style>
          <a:lnRef idx="2">
            <a:schemeClr val="dk1">
              <a:shade val="15000"/>
            </a:schemeClr>
          </a:lnRef>
          <a:fillRef idx="1">
            <a:schemeClr val="dk1"/>
          </a:fillRef>
          <a:effectRef idx="0">
            <a:schemeClr val="dk1"/>
          </a:effectRef>
          <a:fontRef idx="minor">
            <a:schemeClr val="lt1"/>
          </a:fontRef>
        </p:style>
        <p:txBody>
          <a:bodyPr wrap="square" rtlCol="0">
            <a:spAutoFit/>
          </a:bodyPr>
          <a:lstStyle/>
          <a:p>
            <a:r>
              <a:rPr lang="en-US" sz="1600"/>
              <a:t>Chuyển đến</a:t>
            </a:r>
          </a:p>
        </p:txBody>
      </p:sp>
      <p:sp>
        <p:nvSpPr>
          <p:cNvPr id="57" name="TextBox 56">
            <a:extLst>
              <a:ext uri="{FF2B5EF4-FFF2-40B4-BE49-F238E27FC236}">
                <a16:creationId xmlns:a16="http://schemas.microsoft.com/office/drawing/2014/main" id="{55D5E03E-F401-DB95-48CD-61D50B0AEA83}"/>
              </a:ext>
            </a:extLst>
          </p:cNvPr>
          <p:cNvSpPr txBox="1"/>
          <p:nvPr/>
        </p:nvSpPr>
        <p:spPr>
          <a:xfrm>
            <a:off x="2502310" y="5121024"/>
            <a:ext cx="2054942" cy="338554"/>
          </a:xfrm>
          <a:prstGeom prst="rect">
            <a:avLst/>
          </a:prstGeom>
        </p:spPr>
        <p:style>
          <a:lnRef idx="2">
            <a:schemeClr val="dk1">
              <a:shade val="15000"/>
            </a:schemeClr>
          </a:lnRef>
          <a:fillRef idx="1">
            <a:schemeClr val="dk1"/>
          </a:fillRef>
          <a:effectRef idx="0">
            <a:schemeClr val="dk1"/>
          </a:effectRef>
          <a:fontRef idx="minor">
            <a:schemeClr val="lt1"/>
          </a:fontRef>
        </p:style>
        <p:txBody>
          <a:bodyPr wrap="square" rtlCol="0">
            <a:spAutoFit/>
          </a:bodyPr>
          <a:lstStyle/>
          <a:p>
            <a:r>
              <a:rPr lang="en-US" sz="1600"/>
              <a:t>Hoàn tất kiểm duyệt</a:t>
            </a:r>
          </a:p>
        </p:txBody>
      </p:sp>
      <p:cxnSp>
        <p:nvCxnSpPr>
          <p:cNvPr id="63" name="Straight Arrow Connector 62">
            <a:extLst>
              <a:ext uri="{FF2B5EF4-FFF2-40B4-BE49-F238E27FC236}">
                <a16:creationId xmlns:a16="http://schemas.microsoft.com/office/drawing/2014/main" id="{FEE68D67-6199-0F71-4166-9F94888B876B}"/>
              </a:ext>
            </a:extLst>
          </p:cNvPr>
          <p:cNvCxnSpPr>
            <a:stCxn id="55" idx="3"/>
          </p:cNvCxnSpPr>
          <p:nvPr/>
        </p:nvCxnSpPr>
        <p:spPr>
          <a:xfrm flipV="1">
            <a:off x="3841955" y="2627655"/>
            <a:ext cx="1841083" cy="733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65" name="Straight Arrow Connector 64">
            <a:extLst>
              <a:ext uri="{FF2B5EF4-FFF2-40B4-BE49-F238E27FC236}">
                <a16:creationId xmlns:a16="http://schemas.microsoft.com/office/drawing/2014/main" id="{EB5FD097-7567-81BF-CC1F-68E3157B4E3F}"/>
              </a:ext>
            </a:extLst>
          </p:cNvPr>
          <p:cNvCxnSpPr>
            <a:stCxn id="36" idx="3"/>
          </p:cNvCxnSpPr>
          <p:nvPr/>
        </p:nvCxnSpPr>
        <p:spPr>
          <a:xfrm>
            <a:off x="3982065" y="1321477"/>
            <a:ext cx="1700973" cy="587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69" name="Straight Arrow Connector 68">
            <a:extLst>
              <a:ext uri="{FF2B5EF4-FFF2-40B4-BE49-F238E27FC236}">
                <a16:creationId xmlns:a16="http://schemas.microsoft.com/office/drawing/2014/main" id="{CBE9CD45-FC11-3BE7-29EE-B1D277EDB3FD}"/>
              </a:ext>
            </a:extLst>
          </p:cNvPr>
          <p:cNvCxnSpPr>
            <a:stCxn id="56" idx="3"/>
          </p:cNvCxnSpPr>
          <p:nvPr/>
        </p:nvCxnSpPr>
        <p:spPr>
          <a:xfrm flipV="1">
            <a:off x="4072777" y="3942735"/>
            <a:ext cx="1610261" cy="576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73" name="Straight Arrow Connector 72">
            <a:extLst>
              <a:ext uri="{FF2B5EF4-FFF2-40B4-BE49-F238E27FC236}">
                <a16:creationId xmlns:a16="http://schemas.microsoft.com/office/drawing/2014/main" id="{E725290B-28DC-BEA8-18EA-2B478FC91551}"/>
              </a:ext>
            </a:extLst>
          </p:cNvPr>
          <p:cNvCxnSpPr>
            <a:stCxn id="57" idx="3"/>
          </p:cNvCxnSpPr>
          <p:nvPr/>
        </p:nvCxnSpPr>
        <p:spPr>
          <a:xfrm>
            <a:off x="4557252" y="5290301"/>
            <a:ext cx="1125785"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74" name="TextBox 73">
            <a:extLst>
              <a:ext uri="{FF2B5EF4-FFF2-40B4-BE49-F238E27FC236}">
                <a16:creationId xmlns:a16="http://schemas.microsoft.com/office/drawing/2014/main" id="{0431C185-3907-6196-4536-26A6070619ED}"/>
              </a:ext>
            </a:extLst>
          </p:cNvPr>
          <p:cNvSpPr txBox="1"/>
          <p:nvPr/>
        </p:nvSpPr>
        <p:spPr>
          <a:xfrm>
            <a:off x="7152639" y="550417"/>
            <a:ext cx="3688077" cy="369332"/>
          </a:xfrm>
          <a:prstGeom prst="rect">
            <a:avLst/>
          </a:prstGeom>
          <a:noFill/>
        </p:spPr>
        <p:txBody>
          <a:bodyPr wrap="square" rtlCol="0">
            <a:spAutoFit/>
          </a:bodyPr>
          <a:lstStyle/>
          <a:p>
            <a:r>
              <a:rPr lang="en-US"/>
              <a:t>Xem bài viết, tin tức, giá thủy sản</a:t>
            </a:r>
          </a:p>
        </p:txBody>
      </p:sp>
      <p:sp>
        <p:nvSpPr>
          <p:cNvPr id="76" name="TextBox 75">
            <a:extLst>
              <a:ext uri="{FF2B5EF4-FFF2-40B4-BE49-F238E27FC236}">
                <a16:creationId xmlns:a16="http://schemas.microsoft.com/office/drawing/2014/main" id="{4A2DF985-3FC4-3F31-E5FD-68A4D8B011B0}"/>
              </a:ext>
            </a:extLst>
          </p:cNvPr>
          <p:cNvSpPr txBox="1"/>
          <p:nvPr/>
        </p:nvSpPr>
        <p:spPr>
          <a:xfrm>
            <a:off x="7152639" y="1816103"/>
            <a:ext cx="4135121" cy="369332"/>
          </a:xfrm>
          <a:prstGeom prst="rect">
            <a:avLst/>
          </a:prstGeom>
          <a:noFill/>
        </p:spPr>
        <p:txBody>
          <a:bodyPr wrap="square">
            <a:spAutoFit/>
          </a:bodyPr>
          <a:lstStyle/>
          <a:p>
            <a:r>
              <a:rPr lang="en-US"/>
              <a:t>Soạn thảo bài viết, đính kèm hình ảnh</a:t>
            </a:r>
          </a:p>
        </p:txBody>
      </p:sp>
      <p:sp>
        <p:nvSpPr>
          <p:cNvPr id="78" name="TextBox 77">
            <a:extLst>
              <a:ext uri="{FF2B5EF4-FFF2-40B4-BE49-F238E27FC236}">
                <a16:creationId xmlns:a16="http://schemas.microsoft.com/office/drawing/2014/main" id="{F9C9FE30-DA44-05F2-92E3-730709E08BCE}"/>
              </a:ext>
            </a:extLst>
          </p:cNvPr>
          <p:cNvSpPr txBox="1"/>
          <p:nvPr/>
        </p:nvSpPr>
        <p:spPr>
          <a:xfrm>
            <a:off x="7152639" y="3122553"/>
            <a:ext cx="4267201" cy="369332"/>
          </a:xfrm>
          <a:prstGeom prst="rect">
            <a:avLst/>
          </a:prstGeom>
          <a:noFill/>
        </p:spPr>
        <p:txBody>
          <a:bodyPr wrap="square">
            <a:spAutoFit/>
          </a:bodyPr>
          <a:lstStyle/>
          <a:p>
            <a:r>
              <a:rPr lang="en-US"/>
              <a:t>Bài viết ở trạng thái “ pending ”</a:t>
            </a:r>
          </a:p>
        </p:txBody>
      </p:sp>
      <p:sp>
        <p:nvSpPr>
          <p:cNvPr id="80" name="TextBox 79">
            <a:extLst>
              <a:ext uri="{FF2B5EF4-FFF2-40B4-BE49-F238E27FC236}">
                <a16:creationId xmlns:a16="http://schemas.microsoft.com/office/drawing/2014/main" id="{6C399C82-3336-FAAE-920E-2F92AC553C43}"/>
              </a:ext>
            </a:extLst>
          </p:cNvPr>
          <p:cNvSpPr txBox="1"/>
          <p:nvPr/>
        </p:nvSpPr>
        <p:spPr>
          <a:xfrm>
            <a:off x="7152639" y="4455349"/>
            <a:ext cx="4378958" cy="369332"/>
          </a:xfrm>
          <a:prstGeom prst="rect">
            <a:avLst/>
          </a:prstGeom>
          <a:noFill/>
        </p:spPr>
        <p:txBody>
          <a:bodyPr wrap="square">
            <a:spAutoFit/>
          </a:bodyPr>
          <a:lstStyle/>
          <a:p>
            <a:r>
              <a:rPr lang="en-US"/>
              <a:t>Admin kiểm tra nội dung, kỹ thuật</a:t>
            </a:r>
          </a:p>
        </p:txBody>
      </p:sp>
      <p:sp>
        <p:nvSpPr>
          <p:cNvPr id="82" name="TextBox 81">
            <a:extLst>
              <a:ext uri="{FF2B5EF4-FFF2-40B4-BE49-F238E27FC236}">
                <a16:creationId xmlns:a16="http://schemas.microsoft.com/office/drawing/2014/main" id="{2C6E2CC7-DB2C-7CB4-18FA-6BA648251CD3}"/>
              </a:ext>
            </a:extLst>
          </p:cNvPr>
          <p:cNvSpPr txBox="1"/>
          <p:nvPr/>
        </p:nvSpPr>
        <p:spPr>
          <a:xfrm>
            <a:off x="7025468" y="5740794"/>
            <a:ext cx="4506129" cy="923330"/>
          </a:xfrm>
          <a:prstGeom prst="rect">
            <a:avLst/>
          </a:prstGeom>
          <a:noFill/>
        </p:spPr>
        <p:txBody>
          <a:bodyPr wrap="square">
            <a:spAutoFit/>
          </a:bodyPr>
          <a:lstStyle/>
          <a:p>
            <a:r>
              <a:rPr lang="en-US"/>
              <a:t>Admin thêm “Admin Note ”</a:t>
            </a:r>
          </a:p>
          <a:p>
            <a:r>
              <a:rPr lang="en-US"/>
              <a:t>Phê duyệt bài viết lên trang chủ</a:t>
            </a:r>
          </a:p>
          <a:p>
            <a:endParaRPr lang="en-US"/>
          </a:p>
        </p:txBody>
      </p:sp>
    </p:spTree>
    <p:extLst>
      <p:ext uri="{BB962C8B-B14F-4D97-AF65-F5344CB8AC3E}">
        <p14:creationId xmlns:p14="http://schemas.microsoft.com/office/powerpoint/2010/main" val="354270095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F20D45-4973-4658-4880-7D9423D812A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A9AF7BA-E93B-0A9B-5BB3-D6304CACB244}"/>
              </a:ext>
            </a:extLst>
          </p:cNvPr>
          <p:cNvSpPr>
            <a:spLocks noGrp="1"/>
          </p:cNvSpPr>
          <p:nvPr>
            <p:ph type="title"/>
          </p:nvPr>
        </p:nvSpPr>
        <p:spPr>
          <a:xfrm>
            <a:off x="684721" y="2141855"/>
            <a:ext cx="10820397" cy="2764028"/>
          </a:xfrm>
        </p:spPr>
        <p:txBody>
          <a:bodyPr vert="horz" lIns="91440" tIns="45720" rIns="91440" bIns="45720" rtlCol="0" anchor="ctr">
            <a:normAutofit/>
          </a:bodyPr>
          <a:lstStyle/>
          <a:p>
            <a:pPr algn="ctr"/>
            <a:r>
              <a:rPr lang="en-US" sz="6100" b="1" kern="1200">
                <a:solidFill>
                  <a:schemeClr val="tx1"/>
                </a:solidFill>
                <a:latin typeface="+mj-lt"/>
                <a:ea typeface="+mj-ea"/>
                <a:cs typeface="+mj-cs"/>
              </a:rPr>
              <a:t>PHẦN 2: </a:t>
            </a:r>
            <a:r>
              <a:rPr lang="en-US" sz="6100" b="1"/>
              <a:t>MỤC TIÊU WEBSITE</a:t>
            </a:r>
            <a:br>
              <a:rPr lang="en-US" sz="6100" kern="1200">
                <a:solidFill>
                  <a:schemeClr val="tx1"/>
                </a:solidFill>
                <a:latin typeface="+mj-lt"/>
                <a:ea typeface="+mj-ea"/>
                <a:cs typeface="+mj-cs"/>
              </a:rPr>
            </a:br>
            <a:r>
              <a:rPr lang="en-US" sz="6100" kern="1200">
                <a:solidFill>
                  <a:schemeClr val="tx1"/>
                </a:solidFill>
                <a:latin typeface="+mj-lt"/>
                <a:ea typeface="+mj-ea"/>
                <a:cs typeface="+mj-cs"/>
              </a:rPr>
              <a:t> </a:t>
            </a:r>
          </a:p>
        </p:txBody>
      </p:sp>
      <p:sp>
        <p:nvSpPr>
          <p:cNvPr id="3" name="Rectangle 2">
            <a:extLst>
              <a:ext uri="{FF2B5EF4-FFF2-40B4-BE49-F238E27FC236}">
                <a16:creationId xmlns:a16="http://schemas.microsoft.com/office/drawing/2014/main" id="{0CFFC09B-8123-8E0F-CAB4-CF8090A98BFA}"/>
              </a:ext>
            </a:extLst>
          </p:cNvPr>
          <p:cNvSpPr/>
          <p:nvPr/>
        </p:nvSpPr>
        <p:spPr>
          <a:xfrm>
            <a:off x="0" y="6725264"/>
            <a:ext cx="12189840" cy="131295"/>
          </a:xfrm>
          <a:prstGeom prst="rect">
            <a:avLst/>
          </a:prstGeom>
          <a:solidFill>
            <a:schemeClr val="tx2">
              <a:lumMod val="90000"/>
              <a:lumOff val="1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9517482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759BE9-FB82-079A-6B4D-38FB2BF7F8FE}"/>
              </a:ext>
            </a:extLst>
          </p:cNvPr>
          <p:cNvSpPr>
            <a:spLocks noGrp="1"/>
          </p:cNvSpPr>
          <p:nvPr>
            <p:ph type="title"/>
          </p:nvPr>
        </p:nvSpPr>
        <p:spPr>
          <a:xfrm>
            <a:off x="587431" y="369763"/>
            <a:ext cx="4257040" cy="815688"/>
          </a:xfrm>
        </p:spPr>
        <p:txBody>
          <a:bodyPr/>
          <a:lstStyle/>
          <a:p>
            <a:r>
              <a:rPr lang="en-US" b="1"/>
              <a:t> </a:t>
            </a:r>
            <a:r>
              <a:rPr lang="en-US" sz="2800" b="1"/>
              <a:t>MỤC TIÊU ĐỀ TÀI</a:t>
            </a:r>
          </a:p>
        </p:txBody>
      </p:sp>
      <p:sp>
        <p:nvSpPr>
          <p:cNvPr id="3" name="Content Placeholder 2">
            <a:extLst>
              <a:ext uri="{FF2B5EF4-FFF2-40B4-BE49-F238E27FC236}">
                <a16:creationId xmlns:a16="http://schemas.microsoft.com/office/drawing/2014/main" id="{680BA119-1D04-0549-F48E-19F5087EF9EA}"/>
              </a:ext>
            </a:extLst>
          </p:cNvPr>
          <p:cNvSpPr>
            <a:spLocks noGrp="1"/>
          </p:cNvSpPr>
          <p:nvPr>
            <p:ph idx="1"/>
          </p:nvPr>
        </p:nvSpPr>
        <p:spPr>
          <a:xfrm>
            <a:off x="6778936" y="777607"/>
            <a:ext cx="4916534" cy="1212274"/>
          </a:xfrm>
        </p:spPr>
        <p:txBody>
          <a:bodyPr/>
          <a:lstStyle/>
          <a:p>
            <a:pPr marL="0" indent="0" algn="just">
              <a:buNone/>
            </a:pPr>
            <a:r>
              <a:rPr lang="en-US" sz="1800" b="1">
                <a:latin typeface="Arial" panose="020B0604020202020204" pitchFamily="34" charset="0"/>
                <a:cs typeface="Arial" panose="020B0604020202020204" pitchFamily="34" charset="0"/>
              </a:rPr>
              <a:t>Sự tương tác với người dùng</a:t>
            </a:r>
          </a:p>
          <a:p>
            <a:pPr marL="0" indent="0" algn="just">
              <a:buNone/>
            </a:pPr>
            <a:r>
              <a:rPr lang="en-US" sz="1800">
                <a:latin typeface="Arial" panose="020B0604020202020204" pitchFamily="34" charset="0"/>
                <a:cs typeface="Arial" panose="020B0604020202020204" pitchFamily="34" charset="0"/>
              </a:rPr>
              <a:t>Tìm kiếm thông tin dễ dàng với tính năng tìm kiếm, lọc theo yêu cầu.</a:t>
            </a:r>
          </a:p>
        </p:txBody>
      </p:sp>
      <p:sp>
        <p:nvSpPr>
          <p:cNvPr id="5" name="TextBox 4">
            <a:extLst>
              <a:ext uri="{FF2B5EF4-FFF2-40B4-BE49-F238E27FC236}">
                <a16:creationId xmlns:a16="http://schemas.microsoft.com/office/drawing/2014/main" id="{BC0FFDD0-9978-D66C-AF4F-E791E9B19BEA}"/>
              </a:ext>
            </a:extLst>
          </p:cNvPr>
          <p:cNvSpPr txBox="1"/>
          <p:nvPr/>
        </p:nvSpPr>
        <p:spPr>
          <a:xfrm>
            <a:off x="6778936" y="2022645"/>
            <a:ext cx="5260664" cy="923330"/>
          </a:xfrm>
          <a:prstGeom prst="rect">
            <a:avLst/>
          </a:prstGeom>
          <a:noFill/>
        </p:spPr>
        <p:txBody>
          <a:bodyPr wrap="square">
            <a:spAutoFit/>
          </a:bodyPr>
          <a:lstStyle/>
          <a:p>
            <a:pPr marL="0" indent="0" algn="just">
              <a:buNone/>
            </a:pPr>
            <a:r>
              <a:rPr lang="en-US" b="1">
                <a:latin typeface="Arial" panose="020B0604020202020204" pitchFamily="34" charset="0"/>
                <a:cs typeface="Arial" panose="020B0604020202020204" pitchFamily="34" charset="0"/>
              </a:rPr>
              <a:t>Đăng bài,quản lý, xem bài viết</a:t>
            </a:r>
          </a:p>
          <a:p>
            <a:pPr marL="0" indent="0" algn="just">
              <a:buNone/>
            </a:pPr>
            <a:r>
              <a:rPr lang="en-US">
                <a:latin typeface="Arial" panose="020B0604020202020204" pitchFamily="34" charset="0"/>
                <a:cs typeface="Arial" panose="020B0604020202020204" pitchFamily="34" charset="0"/>
              </a:rPr>
              <a:t>Hỗ trợ xem các bài viết thông tin không cần tài khoản và có tài khoản, quy trình đăng bài nhanh.</a:t>
            </a:r>
          </a:p>
        </p:txBody>
      </p:sp>
      <p:sp>
        <p:nvSpPr>
          <p:cNvPr id="7" name="TextBox 6">
            <a:extLst>
              <a:ext uri="{FF2B5EF4-FFF2-40B4-BE49-F238E27FC236}">
                <a16:creationId xmlns:a16="http://schemas.microsoft.com/office/drawing/2014/main" id="{2AB7D539-C5B2-8718-CE07-29C070AED779}"/>
              </a:ext>
            </a:extLst>
          </p:cNvPr>
          <p:cNvSpPr txBox="1"/>
          <p:nvPr/>
        </p:nvSpPr>
        <p:spPr>
          <a:xfrm>
            <a:off x="6778935" y="3312447"/>
            <a:ext cx="5260664" cy="923330"/>
          </a:xfrm>
          <a:prstGeom prst="rect">
            <a:avLst/>
          </a:prstGeom>
          <a:noFill/>
        </p:spPr>
        <p:txBody>
          <a:bodyPr wrap="square">
            <a:spAutoFit/>
          </a:bodyPr>
          <a:lstStyle/>
          <a:p>
            <a:pPr marL="0" indent="0" algn="just">
              <a:buNone/>
            </a:pPr>
            <a:r>
              <a:rPr lang="en-US" b="1">
                <a:latin typeface="Arial" panose="020B0604020202020204" pitchFamily="34" charset="0"/>
                <a:cs typeface="Arial" panose="020B0604020202020204" pitchFamily="34" charset="0"/>
              </a:rPr>
              <a:t>Quản lý website với người quản lý</a:t>
            </a:r>
          </a:p>
          <a:p>
            <a:pPr marL="0" indent="0" algn="just">
              <a:buNone/>
            </a:pPr>
            <a:r>
              <a:rPr lang="en-US">
                <a:latin typeface="Arial" panose="020B0604020202020204" pitchFamily="34" charset="0"/>
                <a:cs typeface="Arial" panose="020B0604020202020204" pitchFamily="34" charset="0"/>
              </a:rPr>
              <a:t>Các chức năng quản lý :Tin tức, Thông tin &amp; kỹ thuật nuôi trồng, Đăng tin..v…v</a:t>
            </a:r>
          </a:p>
        </p:txBody>
      </p:sp>
      <p:sp>
        <p:nvSpPr>
          <p:cNvPr id="9" name="TextBox 8">
            <a:extLst>
              <a:ext uri="{FF2B5EF4-FFF2-40B4-BE49-F238E27FC236}">
                <a16:creationId xmlns:a16="http://schemas.microsoft.com/office/drawing/2014/main" id="{860623EB-53E7-81CF-DA2A-47F1E528B9AA}"/>
              </a:ext>
            </a:extLst>
          </p:cNvPr>
          <p:cNvSpPr txBox="1"/>
          <p:nvPr/>
        </p:nvSpPr>
        <p:spPr>
          <a:xfrm>
            <a:off x="6778936" y="4479368"/>
            <a:ext cx="5128584" cy="646331"/>
          </a:xfrm>
          <a:prstGeom prst="rect">
            <a:avLst/>
          </a:prstGeom>
          <a:noFill/>
        </p:spPr>
        <p:txBody>
          <a:bodyPr wrap="square">
            <a:spAutoFit/>
          </a:bodyPr>
          <a:lstStyle/>
          <a:p>
            <a:pPr marL="0" indent="0" algn="just">
              <a:buNone/>
            </a:pPr>
            <a:r>
              <a:rPr lang="en-US" b="1">
                <a:latin typeface="Arial" panose="020B0604020202020204" pitchFamily="34" charset="0"/>
                <a:cs typeface="Arial" panose="020B0604020202020204" pitchFamily="34" charset="0"/>
              </a:rPr>
              <a:t>Phát triển thương hiệu của website</a:t>
            </a:r>
          </a:p>
          <a:p>
            <a:pPr marL="0" indent="0" algn="just">
              <a:buNone/>
            </a:pPr>
            <a:r>
              <a:rPr lang="en-US">
                <a:latin typeface="Arial" panose="020B0604020202020204" pitchFamily="34" charset="0"/>
                <a:cs typeface="Arial" panose="020B0604020202020204" pitchFamily="34" charset="0"/>
              </a:rPr>
              <a:t>Nâng cao chất lượng thông tin đến người dung.</a:t>
            </a:r>
          </a:p>
        </p:txBody>
      </p:sp>
      <p:pic>
        <p:nvPicPr>
          <p:cNvPr id="11" name="Picture 10" descr="A screenshot of a computer&#10;&#10;AI-generated content may be incorrect.">
            <a:extLst>
              <a:ext uri="{FF2B5EF4-FFF2-40B4-BE49-F238E27FC236}">
                <a16:creationId xmlns:a16="http://schemas.microsoft.com/office/drawing/2014/main" id="{2094542E-E656-17F3-FB4A-5ED8B9B6596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58551" y="1948824"/>
            <a:ext cx="5782889" cy="2727246"/>
          </a:xfrm>
          <a:prstGeom prst="rect">
            <a:avLst/>
          </a:prstGeom>
        </p:spPr>
      </p:pic>
      <p:sp>
        <p:nvSpPr>
          <p:cNvPr id="6" name="Rectangle 5">
            <a:extLst>
              <a:ext uri="{FF2B5EF4-FFF2-40B4-BE49-F238E27FC236}">
                <a16:creationId xmlns:a16="http://schemas.microsoft.com/office/drawing/2014/main" id="{1A0195BD-2F0E-CB7D-1907-D3FC273AFBD5}"/>
              </a:ext>
            </a:extLst>
          </p:cNvPr>
          <p:cNvSpPr/>
          <p:nvPr/>
        </p:nvSpPr>
        <p:spPr>
          <a:xfrm>
            <a:off x="0" y="6725264"/>
            <a:ext cx="12189840" cy="131295"/>
          </a:xfrm>
          <a:prstGeom prst="rect">
            <a:avLst/>
          </a:prstGeom>
          <a:solidFill>
            <a:schemeClr val="tx2">
              <a:lumMod val="90000"/>
              <a:lumOff val="1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68686934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739CF1-C53E-F33B-8634-1A347E8ACC5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0BD104A-8C7A-E006-06BD-38BF019D56C3}"/>
              </a:ext>
            </a:extLst>
          </p:cNvPr>
          <p:cNvSpPr>
            <a:spLocks noGrp="1"/>
          </p:cNvSpPr>
          <p:nvPr>
            <p:ph type="title"/>
          </p:nvPr>
        </p:nvSpPr>
        <p:spPr>
          <a:xfrm>
            <a:off x="684721" y="2141855"/>
            <a:ext cx="10820397" cy="2764028"/>
          </a:xfrm>
        </p:spPr>
        <p:txBody>
          <a:bodyPr vert="horz" lIns="91440" tIns="45720" rIns="91440" bIns="45720" rtlCol="0" anchor="ctr">
            <a:normAutofit/>
          </a:bodyPr>
          <a:lstStyle/>
          <a:p>
            <a:pPr algn="ctr"/>
            <a:r>
              <a:rPr lang="en-US" sz="6100" b="1" kern="1200">
                <a:solidFill>
                  <a:schemeClr val="tx1"/>
                </a:solidFill>
                <a:latin typeface="+mj-lt"/>
                <a:ea typeface="+mj-ea"/>
                <a:cs typeface="+mj-cs"/>
              </a:rPr>
              <a:t>PHẦN </a:t>
            </a:r>
            <a:r>
              <a:rPr lang="en-US" sz="6100" b="1"/>
              <a:t>3</a:t>
            </a:r>
            <a:r>
              <a:rPr lang="en-US" sz="6100" b="1" kern="1200">
                <a:solidFill>
                  <a:schemeClr val="tx1"/>
                </a:solidFill>
                <a:latin typeface="+mj-lt"/>
                <a:ea typeface="+mj-ea"/>
                <a:cs typeface="+mj-cs"/>
              </a:rPr>
              <a:t>: </a:t>
            </a:r>
            <a:r>
              <a:rPr lang="en-US" sz="6100" b="1"/>
              <a:t>PHÂN TÍCH HỆ THỐNG</a:t>
            </a:r>
            <a:br>
              <a:rPr lang="en-US" sz="6100" kern="1200">
                <a:solidFill>
                  <a:schemeClr val="tx1"/>
                </a:solidFill>
                <a:latin typeface="+mj-lt"/>
                <a:ea typeface="+mj-ea"/>
                <a:cs typeface="+mj-cs"/>
              </a:rPr>
            </a:br>
            <a:r>
              <a:rPr lang="en-US" sz="6100" kern="1200">
                <a:solidFill>
                  <a:schemeClr val="tx1"/>
                </a:solidFill>
                <a:latin typeface="+mj-lt"/>
                <a:ea typeface="+mj-ea"/>
                <a:cs typeface="+mj-cs"/>
              </a:rPr>
              <a:t> </a:t>
            </a:r>
          </a:p>
        </p:txBody>
      </p:sp>
      <p:sp>
        <p:nvSpPr>
          <p:cNvPr id="3" name="Rectangle 2">
            <a:extLst>
              <a:ext uri="{FF2B5EF4-FFF2-40B4-BE49-F238E27FC236}">
                <a16:creationId xmlns:a16="http://schemas.microsoft.com/office/drawing/2014/main" id="{6D7024F8-FF85-602F-E53D-5BADEC5FB28A}"/>
              </a:ext>
            </a:extLst>
          </p:cNvPr>
          <p:cNvSpPr/>
          <p:nvPr/>
        </p:nvSpPr>
        <p:spPr>
          <a:xfrm>
            <a:off x="0" y="6725264"/>
            <a:ext cx="12189840" cy="131295"/>
          </a:xfrm>
          <a:prstGeom prst="rect">
            <a:avLst/>
          </a:prstGeom>
          <a:solidFill>
            <a:schemeClr val="tx2">
              <a:lumMod val="90000"/>
              <a:lumOff val="1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2889780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107404-B28B-6567-DDAE-F6761F58A06D}"/>
              </a:ext>
            </a:extLst>
          </p:cNvPr>
          <p:cNvSpPr>
            <a:spLocks noGrp="1"/>
          </p:cNvSpPr>
          <p:nvPr>
            <p:ph type="title"/>
          </p:nvPr>
        </p:nvSpPr>
        <p:spPr>
          <a:xfrm>
            <a:off x="548640" y="325120"/>
            <a:ext cx="2956560" cy="528320"/>
          </a:xfrm>
        </p:spPr>
        <p:txBody>
          <a:bodyPr vert="horz" lIns="91440" tIns="45720" rIns="91440" bIns="45720" rtlCol="0" anchor="b">
            <a:normAutofit/>
          </a:bodyPr>
          <a:lstStyle/>
          <a:p>
            <a:r>
              <a:rPr lang="en-US" sz="2800" b="1" kern="1200">
                <a:latin typeface="+mj-lt"/>
                <a:ea typeface="+mj-ea"/>
                <a:cs typeface="+mj-cs"/>
              </a:rPr>
              <a:t>CƠ SỞ DỮ LIỆU</a:t>
            </a:r>
          </a:p>
        </p:txBody>
      </p:sp>
      <p:pic>
        <p:nvPicPr>
          <p:cNvPr id="9" name="Content Placeholder 8" descr="A screenshot of a computer&#10;&#10;AI-generated content may be incorrect.">
            <a:extLst>
              <a:ext uri="{FF2B5EF4-FFF2-40B4-BE49-F238E27FC236}">
                <a16:creationId xmlns:a16="http://schemas.microsoft.com/office/drawing/2014/main" id="{425BBA69-1610-7735-6D1D-6B3752E64681}"/>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898385" y="73076"/>
            <a:ext cx="5044965" cy="4023360"/>
          </a:xfrm>
          <a:prstGeom prst="rect">
            <a:avLst/>
          </a:prstGeom>
        </p:spPr>
      </p:pic>
      <p:sp>
        <p:nvSpPr>
          <p:cNvPr id="3" name="Rectangle 2">
            <a:extLst>
              <a:ext uri="{FF2B5EF4-FFF2-40B4-BE49-F238E27FC236}">
                <a16:creationId xmlns:a16="http://schemas.microsoft.com/office/drawing/2014/main" id="{6C8CA09E-AF9B-B5A2-FFEF-5048C9E83B09}"/>
              </a:ext>
            </a:extLst>
          </p:cNvPr>
          <p:cNvSpPr/>
          <p:nvPr/>
        </p:nvSpPr>
        <p:spPr>
          <a:xfrm>
            <a:off x="0" y="6725264"/>
            <a:ext cx="12189840" cy="131295"/>
          </a:xfrm>
          <a:prstGeom prst="rect">
            <a:avLst/>
          </a:prstGeom>
          <a:solidFill>
            <a:schemeClr val="tx2">
              <a:lumMod val="90000"/>
              <a:lumOff val="1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410BE316-C34C-47F3-7CF9-5DA6C07E7D41}"/>
              </a:ext>
            </a:extLst>
          </p:cNvPr>
          <p:cNvSpPr txBox="1"/>
          <p:nvPr/>
        </p:nvSpPr>
        <p:spPr>
          <a:xfrm>
            <a:off x="548640" y="1063375"/>
            <a:ext cx="3625850" cy="369332"/>
          </a:xfrm>
          <a:prstGeom prst="rect">
            <a:avLst/>
          </a:prstGeom>
          <a:noFill/>
        </p:spPr>
        <p:txBody>
          <a:bodyPr wrap="square">
            <a:spAutoFit/>
          </a:bodyPr>
          <a:lstStyle/>
          <a:p>
            <a:pPr algn="just"/>
            <a:r>
              <a:rPr lang="en-US" b="1"/>
              <a:t> 1.</a:t>
            </a:r>
            <a:r>
              <a:rPr lang="vi-VN" b="1"/>
              <a:t>Bảng users (Người dùng)</a:t>
            </a:r>
            <a:endParaRPr lang="en-US" b="1"/>
          </a:p>
        </p:txBody>
      </p:sp>
      <p:sp>
        <p:nvSpPr>
          <p:cNvPr id="7" name="TextBox 6">
            <a:extLst>
              <a:ext uri="{FF2B5EF4-FFF2-40B4-BE49-F238E27FC236}">
                <a16:creationId xmlns:a16="http://schemas.microsoft.com/office/drawing/2014/main" id="{9A868B58-23E1-9FC2-0326-43102845393C}"/>
              </a:ext>
            </a:extLst>
          </p:cNvPr>
          <p:cNvSpPr txBox="1"/>
          <p:nvPr/>
        </p:nvSpPr>
        <p:spPr>
          <a:xfrm>
            <a:off x="548640" y="1584921"/>
            <a:ext cx="3370580" cy="369333"/>
          </a:xfrm>
          <a:prstGeom prst="rect">
            <a:avLst/>
          </a:prstGeom>
          <a:noFill/>
        </p:spPr>
        <p:txBody>
          <a:bodyPr wrap="square">
            <a:spAutoFit/>
          </a:bodyPr>
          <a:lstStyle/>
          <a:p>
            <a:pPr algn="just"/>
            <a:r>
              <a:rPr lang="en-US" b="1"/>
              <a:t>2.</a:t>
            </a:r>
            <a:r>
              <a:rPr lang="vi-VN" b="1"/>
              <a:t>Bảng posts (Bài viết</a:t>
            </a:r>
            <a:r>
              <a:rPr lang="en-US" b="1"/>
              <a:t>)</a:t>
            </a:r>
          </a:p>
        </p:txBody>
      </p:sp>
      <p:sp>
        <p:nvSpPr>
          <p:cNvPr id="10" name="TextBox 9">
            <a:extLst>
              <a:ext uri="{FF2B5EF4-FFF2-40B4-BE49-F238E27FC236}">
                <a16:creationId xmlns:a16="http://schemas.microsoft.com/office/drawing/2014/main" id="{30F4A17D-C0F1-AE00-003D-69497CD47291}"/>
              </a:ext>
            </a:extLst>
          </p:cNvPr>
          <p:cNvSpPr txBox="1"/>
          <p:nvPr/>
        </p:nvSpPr>
        <p:spPr>
          <a:xfrm>
            <a:off x="548639" y="2131764"/>
            <a:ext cx="5044965" cy="369332"/>
          </a:xfrm>
          <a:prstGeom prst="rect">
            <a:avLst/>
          </a:prstGeom>
          <a:noFill/>
        </p:spPr>
        <p:txBody>
          <a:bodyPr wrap="square">
            <a:spAutoFit/>
          </a:bodyPr>
          <a:lstStyle/>
          <a:p>
            <a:pPr marL="111125" indent="-111125" algn="just"/>
            <a:r>
              <a:rPr lang="en-US" b="1"/>
              <a:t> 3.</a:t>
            </a:r>
            <a:r>
              <a:rPr lang="vi-VN" b="1"/>
              <a:t>Bảng ratings (Đánh giá)</a:t>
            </a:r>
            <a:endParaRPr lang="en-US" b="1"/>
          </a:p>
        </p:txBody>
      </p:sp>
      <p:sp>
        <p:nvSpPr>
          <p:cNvPr id="14" name="TextBox 13">
            <a:extLst>
              <a:ext uri="{FF2B5EF4-FFF2-40B4-BE49-F238E27FC236}">
                <a16:creationId xmlns:a16="http://schemas.microsoft.com/office/drawing/2014/main" id="{D9FB9941-E5BF-92FA-98D8-24BECBA53743}"/>
              </a:ext>
            </a:extLst>
          </p:cNvPr>
          <p:cNvSpPr txBox="1"/>
          <p:nvPr/>
        </p:nvSpPr>
        <p:spPr>
          <a:xfrm>
            <a:off x="468630" y="3646817"/>
            <a:ext cx="7208520" cy="369332"/>
          </a:xfrm>
          <a:prstGeom prst="rect">
            <a:avLst/>
          </a:prstGeom>
          <a:noFill/>
        </p:spPr>
        <p:txBody>
          <a:bodyPr wrap="square">
            <a:spAutoFit/>
          </a:bodyPr>
          <a:lstStyle/>
          <a:p>
            <a:r>
              <a:rPr lang="vi-VN" b="1"/>
              <a:t>Users</a:t>
            </a:r>
            <a:r>
              <a:rPr lang="vi-VN"/>
              <a:t> (1) ---- (n) </a:t>
            </a:r>
            <a:r>
              <a:rPr lang="vi-VN" b="1"/>
              <a:t>Posts</a:t>
            </a:r>
            <a:r>
              <a:rPr lang="vi-VN"/>
              <a:t>: Một người dùng có thể đăng nhiều bài viết.</a:t>
            </a:r>
            <a:endParaRPr lang="en-US"/>
          </a:p>
        </p:txBody>
      </p:sp>
      <p:sp>
        <p:nvSpPr>
          <p:cNvPr id="16" name="TextBox 15">
            <a:extLst>
              <a:ext uri="{FF2B5EF4-FFF2-40B4-BE49-F238E27FC236}">
                <a16:creationId xmlns:a16="http://schemas.microsoft.com/office/drawing/2014/main" id="{3537EE6D-17C3-97D5-DF9A-610A9E5E4C95}"/>
              </a:ext>
            </a:extLst>
          </p:cNvPr>
          <p:cNvSpPr txBox="1"/>
          <p:nvPr/>
        </p:nvSpPr>
        <p:spPr>
          <a:xfrm>
            <a:off x="468630" y="4246009"/>
            <a:ext cx="8074660" cy="369332"/>
          </a:xfrm>
          <a:prstGeom prst="rect">
            <a:avLst/>
          </a:prstGeom>
          <a:noFill/>
        </p:spPr>
        <p:txBody>
          <a:bodyPr wrap="square">
            <a:spAutoFit/>
          </a:bodyPr>
          <a:lstStyle/>
          <a:p>
            <a:r>
              <a:rPr lang="vi-VN" b="1"/>
              <a:t>Users</a:t>
            </a:r>
            <a:r>
              <a:rPr lang="vi-VN"/>
              <a:t> (1) ---- (n) </a:t>
            </a:r>
            <a:r>
              <a:rPr lang="vi-VN" b="1"/>
              <a:t>Ratings</a:t>
            </a:r>
            <a:r>
              <a:rPr lang="vi-VN"/>
              <a:t>: Một người dùng có thể thực hiện nhiều đánh giá.</a:t>
            </a:r>
            <a:endParaRPr lang="en-US"/>
          </a:p>
        </p:txBody>
      </p:sp>
      <p:sp>
        <p:nvSpPr>
          <p:cNvPr id="18" name="TextBox 17">
            <a:extLst>
              <a:ext uri="{FF2B5EF4-FFF2-40B4-BE49-F238E27FC236}">
                <a16:creationId xmlns:a16="http://schemas.microsoft.com/office/drawing/2014/main" id="{91E853C9-F112-40A2-55E7-07E57987A9FF}"/>
              </a:ext>
            </a:extLst>
          </p:cNvPr>
          <p:cNvSpPr txBox="1"/>
          <p:nvPr/>
        </p:nvSpPr>
        <p:spPr>
          <a:xfrm>
            <a:off x="468630" y="4830321"/>
            <a:ext cx="10167620" cy="369332"/>
          </a:xfrm>
          <a:prstGeom prst="rect">
            <a:avLst/>
          </a:prstGeom>
          <a:noFill/>
        </p:spPr>
        <p:txBody>
          <a:bodyPr wrap="square">
            <a:spAutoFit/>
          </a:bodyPr>
          <a:lstStyle/>
          <a:p>
            <a:r>
              <a:rPr lang="vi-VN" b="1"/>
              <a:t>Posts</a:t>
            </a:r>
            <a:r>
              <a:rPr lang="vi-VN"/>
              <a:t> (1) ---- (n) </a:t>
            </a:r>
            <a:r>
              <a:rPr lang="vi-VN" b="1"/>
              <a:t>Ratings</a:t>
            </a:r>
            <a:r>
              <a:rPr lang="vi-VN"/>
              <a:t>: Một bài viết có thể nhận được nhiều lượt đánh giá từ người dùng.</a:t>
            </a:r>
            <a:endParaRPr lang="en-US"/>
          </a:p>
        </p:txBody>
      </p:sp>
      <p:sp>
        <p:nvSpPr>
          <p:cNvPr id="20" name="TextBox 19">
            <a:extLst>
              <a:ext uri="{FF2B5EF4-FFF2-40B4-BE49-F238E27FC236}">
                <a16:creationId xmlns:a16="http://schemas.microsoft.com/office/drawing/2014/main" id="{E52E8834-7F53-9260-DA03-BD8080E277CE}"/>
              </a:ext>
            </a:extLst>
          </p:cNvPr>
          <p:cNvSpPr txBox="1"/>
          <p:nvPr/>
        </p:nvSpPr>
        <p:spPr>
          <a:xfrm>
            <a:off x="510540" y="2688139"/>
            <a:ext cx="5547360" cy="369332"/>
          </a:xfrm>
          <a:prstGeom prst="rect">
            <a:avLst/>
          </a:prstGeom>
          <a:noFill/>
        </p:spPr>
        <p:txBody>
          <a:bodyPr wrap="square">
            <a:spAutoFit/>
          </a:bodyPr>
          <a:lstStyle/>
          <a:p>
            <a:pPr algn="just"/>
            <a:r>
              <a:rPr lang="en-US" b="1"/>
              <a:t>4.</a:t>
            </a:r>
            <a:r>
              <a:rPr lang="vi-VN" b="1"/>
              <a:t>Bảng price_tracking (Theo dõi giá) </a:t>
            </a:r>
            <a:endParaRPr lang="en-US" b="1"/>
          </a:p>
        </p:txBody>
      </p:sp>
      <p:sp>
        <p:nvSpPr>
          <p:cNvPr id="22" name="TextBox 21">
            <a:extLst>
              <a:ext uri="{FF2B5EF4-FFF2-40B4-BE49-F238E27FC236}">
                <a16:creationId xmlns:a16="http://schemas.microsoft.com/office/drawing/2014/main" id="{7148098A-EC00-4C13-55EF-EE5AA916912B}"/>
              </a:ext>
            </a:extLst>
          </p:cNvPr>
          <p:cNvSpPr txBox="1"/>
          <p:nvPr/>
        </p:nvSpPr>
        <p:spPr>
          <a:xfrm>
            <a:off x="468630" y="5364106"/>
            <a:ext cx="10713720" cy="369332"/>
          </a:xfrm>
          <a:prstGeom prst="rect">
            <a:avLst/>
          </a:prstGeom>
          <a:noFill/>
        </p:spPr>
        <p:txBody>
          <a:bodyPr wrap="square">
            <a:spAutoFit/>
          </a:bodyPr>
          <a:lstStyle/>
          <a:p>
            <a:r>
              <a:rPr lang="vi-VN" b="1"/>
              <a:t>Price_tracking</a:t>
            </a:r>
            <a:r>
              <a:rPr lang="vi-VN"/>
              <a:t>: Bảng độc lập cung cấp dữ liệu giá thị trường cho toàn bộ hệ thống.</a:t>
            </a:r>
            <a:endParaRPr lang="en-US"/>
          </a:p>
        </p:txBody>
      </p:sp>
    </p:spTree>
    <p:extLst>
      <p:ext uri="{BB962C8B-B14F-4D97-AF65-F5344CB8AC3E}">
        <p14:creationId xmlns:p14="http://schemas.microsoft.com/office/powerpoint/2010/main" val="254929837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CA48EB-35D4-2790-7A70-9313C22DD17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55D9FAC-645D-40BE-5CD1-89C8A3C14D0F}"/>
              </a:ext>
            </a:extLst>
          </p:cNvPr>
          <p:cNvSpPr>
            <a:spLocks noGrp="1"/>
          </p:cNvSpPr>
          <p:nvPr>
            <p:ph type="title"/>
          </p:nvPr>
        </p:nvSpPr>
        <p:spPr>
          <a:xfrm>
            <a:off x="684721" y="2141855"/>
            <a:ext cx="10820397" cy="2764028"/>
          </a:xfrm>
        </p:spPr>
        <p:txBody>
          <a:bodyPr vert="horz" lIns="91440" tIns="45720" rIns="91440" bIns="45720" rtlCol="0" anchor="ctr">
            <a:normAutofit/>
          </a:bodyPr>
          <a:lstStyle/>
          <a:p>
            <a:pPr algn="ctr"/>
            <a:r>
              <a:rPr lang="en-US" sz="6100" b="1" kern="1200">
                <a:solidFill>
                  <a:schemeClr val="tx1"/>
                </a:solidFill>
                <a:latin typeface="+mj-lt"/>
                <a:ea typeface="+mj-ea"/>
                <a:cs typeface="+mj-cs"/>
              </a:rPr>
              <a:t>PHẦN </a:t>
            </a:r>
            <a:r>
              <a:rPr lang="en-US" sz="6100" b="1"/>
              <a:t>4: DEMO SẢN PHẨM</a:t>
            </a:r>
            <a:br>
              <a:rPr lang="en-US" sz="6100" kern="1200">
                <a:solidFill>
                  <a:schemeClr val="tx1"/>
                </a:solidFill>
                <a:latin typeface="+mj-lt"/>
                <a:ea typeface="+mj-ea"/>
                <a:cs typeface="+mj-cs"/>
              </a:rPr>
            </a:br>
            <a:r>
              <a:rPr lang="en-US" sz="6100" kern="1200">
                <a:solidFill>
                  <a:schemeClr val="tx1"/>
                </a:solidFill>
                <a:latin typeface="+mj-lt"/>
                <a:ea typeface="+mj-ea"/>
                <a:cs typeface="+mj-cs"/>
              </a:rPr>
              <a:t> </a:t>
            </a:r>
          </a:p>
        </p:txBody>
      </p:sp>
      <p:sp>
        <p:nvSpPr>
          <p:cNvPr id="3" name="Rectangle 2">
            <a:extLst>
              <a:ext uri="{FF2B5EF4-FFF2-40B4-BE49-F238E27FC236}">
                <a16:creationId xmlns:a16="http://schemas.microsoft.com/office/drawing/2014/main" id="{2CCCE1A8-5B25-C860-D285-C3F63D26BECE}"/>
              </a:ext>
            </a:extLst>
          </p:cNvPr>
          <p:cNvSpPr/>
          <p:nvPr/>
        </p:nvSpPr>
        <p:spPr>
          <a:xfrm>
            <a:off x="0" y="6725264"/>
            <a:ext cx="12189840" cy="131295"/>
          </a:xfrm>
          <a:prstGeom prst="rect">
            <a:avLst/>
          </a:prstGeom>
          <a:solidFill>
            <a:schemeClr val="tx2">
              <a:lumMod val="90000"/>
              <a:lumOff val="1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0282291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9221EC-7FD5-AFC9-75C8-175CC71E2E3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F075792-7D4A-6E38-1835-67D2CE6552CC}"/>
              </a:ext>
            </a:extLst>
          </p:cNvPr>
          <p:cNvSpPr>
            <a:spLocks noGrp="1"/>
          </p:cNvSpPr>
          <p:nvPr>
            <p:ph type="title"/>
          </p:nvPr>
        </p:nvSpPr>
        <p:spPr>
          <a:xfrm>
            <a:off x="684721" y="2141855"/>
            <a:ext cx="11182159" cy="2764028"/>
          </a:xfrm>
        </p:spPr>
        <p:txBody>
          <a:bodyPr vert="horz" lIns="91440" tIns="45720" rIns="91440" bIns="45720" rtlCol="0" anchor="ctr">
            <a:normAutofit/>
          </a:bodyPr>
          <a:lstStyle/>
          <a:p>
            <a:pPr algn="ctr"/>
            <a:r>
              <a:rPr lang="en-US" sz="6100" b="1" kern="1200">
                <a:solidFill>
                  <a:schemeClr val="tx1"/>
                </a:solidFill>
                <a:latin typeface="+mj-lt"/>
                <a:ea typeface="+mj-ea"/>
                <a:cs typeface="+mj-cs"/>
              </a:rPr>
              <a:t>PHẦN </a:t>
            </a:r>
            <a:r>
              <a:rPr lang="en-US" sz="6100" b="1"/>
              <a:t>5: KẾT LUẬN VÀ HƯỚNG PHÁT TRIỂN</a:t>
            </a:r>
            <a:br>
              <a:rPr lang="en-US" sz="6100" kern="1200">
                <a:solidFill>
                  <a:schemeClr val="tx1"/>
                </a:solidFill>
                <a:latin typeface="+mj-lt"/>
                <a:ea typeface="+mj-ea"/>
                <a:cs typeface="+mj-cs"/>
              </a:rPr>
            </a:br>
            <a:r>
              <a:rPr lang="en-US" sz="6100" kern="1200">
                <a:solidFill>
                  <a:schemeClr val="tx1"/>
                </a:solidFill>
                <a:latin typeface="+mj-lt"/>
                <a:ea typeface="+mj-ea"/>
                <a:cs typeface="+mj-cs"/>
              </a:rPr>
              <a:t> </a:t>
            </a:r>
          </a:p>
        </p:txBody>
      </p:sp>
      <p:sp>
        <p:nvSpPr>
          <p:cNvPr id="3" name="Rectangle 2">
            <a:extLst>
              <a:ext uri="{FF2B5EF4-FFF2-40B4-BE49-F238E27FC236}">
                <a16:creationId xmlns:a16="http://schemas.microsoft.com/office/drawing/2014/main" id="{0D83F64E-D6F9-ED42-4B8D-2CCB7996E095}"/>
              </a:ext>
            </a:extLst>
          </p:cNvPr>
          <p:cNvSpPr/>
          <p:nvPr/>
        </p:nvSpPr>
        <p:spPr>
          <a:xfrm>
            <a:off x="0" y="6725264"/>
            <a:ext cx="12189840" cy="131295"/>
          </a:xfrm>
          <a:prstGeom prst="rect">
            <a:avLst/>
          </a:prstGeom>
          <a:solidFill>
            <a:schemeClr val="tx2">
              <a:lumMod val="90000"/>
              <a:lumOff val="1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6030492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6" name="Rectangle 55">
            <a:extLst>
              <a:ext uri="{FF2B5EF4-FFF2-40B4-BE49-F238E27FC236}">
                <a16:creationId xmlns:a16="http://schemas.microsoft.com/office/drawing/2014/main" id="{955A2079-FA98-4876-80F0-72364A7D2E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E7D9755-D571-DAA9-8851-73445D2D6D43}"/>
              </a:ext>
            </a:extLst>
          </p:cNvPr>
          <p:cNvSpPr>
            <a:spLocks noGrp="1"/>
          </p:cNvSpPr>
          <p:nvPr>
            <p:ph type="title"/>
          </p:nvPr>
        </p:nvSpPr>
        <p:spPr>
          <a:xfrm>
            <a:off x="838200" y="557188"/>
            <a:ext cx="10515600" cy="1133499"/>
          </a:xfrm>
        </p:spPr>
        <p:txBody>
          <a:bodyPr>
            <a:normAutofit/>
          </a:bodyPr>
          <a:lstStyle/>
          <a:p>
            <a:pPr algn="ctr"/>
            <a:r>
              <a:rPr lang="en-US" sz="5200"/>
              <a:t>HẠN CHẾ</a:t>
            </a:r>
          </a:p>
        </p:txBody>
      </p:sp>
      <p:sp>
        <p:nvSpPr>
          <p:cNvPr id="3" name="Rectangle 2">
            <a:extLst>
              <a:ext uri="{FF2B5EF4-FFF2-40B4-BE49-F238E27FC236}">
                <a16:creationId xmlns:a16="http://schemas.microsoft.com/office/drawing/2014/main" id="{1BBAD2C3-D5F7-54B4-5F81-093D11D67796}"/>
              </a:ext>
            </a:extLst>
          </p:cNvPr>
          <p:cNvSpPr/>
          <p:nvPr/>
        </p:nvSpPr>
        <p:spPr>
          <a:xfrm>
            <a:off x="0" y="6725264"/>
            <a:ext cx="12189840" cy="131295"/>
          </a:xfrm>
          <a:prstGeom prst="rect">
            <a:avLst/>
          </a:prstGeom>
          <a:solidFill>
            <a:schemeClr val="tx2">
              <a:lumMod val="90000"/>
              <a:lumOff val="1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2" name="Content Placeholder 2">
            <a:extLst>
              <a:ext uri="{FF2B5EF4-FFF2-40B4-BE49-F238E27FC236}">
                <a16:creationId xmlns:a16="http://schemas.microsoft.com/office/drawing/2014/main" id="{20786840-1B2D-69E3-C4B5-BF6203DC4883}"/>
              </a:ext>
            </a:extLst>
          </p:cNvPr>
          <p:cNvGraphicFramePr>
            <a:graphicFrameLocks noGrp="1"/>
          </p:cNvGraphicFramePr>
          <p:nvPr>
            <p:ph idx="1"/>
            <p:extLst>
              <p:ext uri="{D42A27DB-BD31-4B8C-83A1-F6EECF244321}">
                <p14:modId xmlns:p14="http://schemas.microsoft.com/office/powerpoint/2010/main" val="256800425"/>
              </p:ext>
            </p:extLst>
          </p:nvPr>
        </p:nvGraphicFramePr>
        <p:xfrm>
          <a:off x="838200" y="1828800"/>
          <a:ext cx="10515600" cy="435254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24351060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2" name="Rectangle 31">
            <a:extLst>
              <a:ext uri="{FF2B5EF4-FFF2-40B4-BE49-F238E27FC236}">
                <a16:creationId xmlns:a16="http://schemas.microsoft.com/office/drawing/2014/main" id="{955A2079-FA98-4876-80F0-72364A7D2E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BA13C8D-2988-D99B-8F83-465E4D787308}"/>
              </a:ext>
            </a:extLst>
          </p:cNvPr>
          <p:cNvSpPr>
            <a:spLocks noGrp="1"/>
          </p:cNvSpPr>
          <p:nvPr>
            <p:ph type="title"/>
          </p:nvPr>
        </p:nvSpPr>
        <p:spPr>
          <a:xfrm>
            <a:off x="838200" y="557188"/>
            <a:ext cx="10515600" cy="1133499"/>
          </a:xfrm>
        </p:spPr>
        <p:txBody>
          <a:bodyPr>
            <a:normAutofit/>
          </a:bodyPr>
          <a:lstStyle/>
          <a:p>
            <a:pPr algn="ctr"/>
            <a:r>
              <a:rPr lang="en-US" sz="5200"/>
              <a:t>HƯỚNG PHÁT TRIỂN ĐỀ TÀI</a:t>
            </a:r>
          </a:p>
        </p:txBody>
      </p:sp>
      <p:sp>
        <p:nvSpPr>
          <p:cNvPr id="3" name="Rectangle 2">
            <a:extLst>
              <a:ext uri="{FF2B5EF4-FFF2-40B4-BE49-F238E27FC236}">
                <a16:creationId xmlns:a16="http://schemas.microsoft.com/office/drawing/2014/main" id="{EC755637-B936-5FEA-C2A0-AE556036461D}"/>
              </a:ext>
            </a:extLst>
          </p:cNvPr>
          <p:cNvSpPr/>
          <p:nvPr/>
        </p:nvSpPr>
        <p:spPr>
          <a:xfrm>
            <a:off x="0" y="6725264"/>
            <a:ext cx="12189840" cy="131295"/>
          </a:xfrm>
          <a:prstGeom prst="rect">
            <a:avLst/>
          </a:prstGeom>
          <a:solidFill>
            <a:schemeClr val="tx2">
              <a:lumMod val="90000"/>
              <a:lumOff val="1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22" name="Content Placeholder 2">
            <a:extLst>
              <a:ext uri="{FF2B5EF4-FFF2-40B4-BE49-F238E27FC236}">
                <a16:creationId xmlns:a16="http://schemas.microsoft.com/office/drawing/2014/main" id="{E8524EFA-6AEF-241F-C628-D86AE26DEACD}"/>
              </a:ext>
            </a:extLst>
          </p:cNvPr>
          <p:cNvGraphicFramePr>
            <a:graphicFrameLocks noGrp="1"/>
          </p:cNvGraphicFramePr>
          <p:nvPr>
            <p:ph idx="1"/>
            <p:extLst>
              <p:ext uri="{D42A27DB-BD31-4B8C-83A1-F6EECF244321}">
                <p14:modId xmlns:p14="http://schemas.microsoft.com/office/powerpoint/2010/main" val="4142295900"/>
              </p:ext>
            </p:extLst>
          </p:nvPr>
        </p:nvGraphicFramePr>
        <p:xfrm>
          <a:off x="838200" y="1828800"/>
          <a:ext cx="10515600" cy="435254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62987514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89ED1AA-8684-4D37-B208-8777E1A778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Graphic 33">
            <a:extLst>
              <a:ext uri="{FF2B5EF4-FFF2-40B4-BE49-F238E27FC236}">
                <a16:creationId xmlns:a16="http://schemas.microsoft.com/office/drawing/2014/main" id="{4180E01B-B1F4-437C-807D-1C930718EE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10784" y="0"/>
            <a:ext cx="9570431" cy="6858000"/>
          </a:xfrm>
          <a:custGeom>
            <a:avLst/>
            <a:gdLst>
              <a:gd name="connsiteX0" fmla="*/ 7178288 w 7187261"/>
              <a:gd name="connsiteY0" fmla="*/ 2604802 h 5150263"/>
              <a:gd name="connsiteX1" fmla="*/ 7169335 w 7187261"/>
              <a:gd name="connsiteY1" fmla="*/ 2328577 h 5150263"/>
              <a:gd name="connsiteX2" fmla="*/ 7060845 w 7187261"/>
              <a:gd name="connsiteY2" fmla="*/ 1661160 h 5150263"/>
              <a:gd name="connsiteX3" fmla="*/ 6212263 w 7187261"/>
              <a:gd name="connsiteY3" fmla="*/ 243840 h 5150263"/>
              <a:gd name="connsiteX4" fmla="*/ 5953564 w 7187261"/>
              <a:gd name="connsiteY4" fmla="*/ 0 h 5150263"/>
              <a:gd name="connsiteX5" fmla="*/ 1408615 w 7187261"/>
              <a:gd name="connsiteY5" fmla="*/ 0 h 5150263"/>
              <a:gd name="connsiteX6" fmla="*/ 805111 w 7187261"/>
              <a:gd name="connsiteY6" fmla="*/ 676275 h 5150263"/>
              <a:gd name="connsiteX7" fmla="*/ 104928 w 7187261"/>
              <a:gd name="connsiteY7" fmla="*/ 2183035 h 5150263"/>
              <a:gd name="connsiteX8" fmla="*/ 51588 w 7187261"/>
              <a:gd name="connsiteY8" fmla="*/ 2400014 h 5150263"/>
              <a:gd name="connsiteX9" fmla="*/ 41301 w 7187261"/>
              <a:gd name="connsiteY9" fmla="*/ 2424208 h 5150263"/>
              <a:gd name="connsiteX10" fmla="*/ 119692 w 7187261"/>
              <a:gd name="connsiteY10" fmla="*/ 1834801 h 5150263"/>
              <a:gd name="connsiteX11" fmla="*/ 870071 w 7187261"/>
              <a:gd name="connsiteY11" fmla="*/ 462248 h 5150263"/>
              <a:gd name="connsiteX12" fmla="*/ 1389279 w 7187261"/>
              <a:gd name="connsiteY12" fmla="*/ 476 h 5150263"/>
              <a:gd name="connsiteX13" fmla="*/ 1320223 w 7187261"/>
              <a:gd name="connsiteY13" fmla="*/ 476 h 5150263"/>
              <a:gd name="connsiteX14" fmla="*/ 423158 w 7187261"/>
              <a:gd name="connsiteY14" fmla="*/ 989743 h 5150263"/>
              <a:gd name="connsiteX15" fmla="*/ 25585 w 7187261"/>
              <a:gd name="connsiteY15" fmla="*/ 2113693 h 5150263"/>
              <a:gd name="connsiteX16" fmla="*/ 2344 w 7187261"/>
              <a:gd name="connsiteY16" fmla="*/ 2725865 h 5150263"/>
              <a:gd name="connsiteX17" fmla="*/ 447256 w 7187261"/>
              <a:gd name="connsiteY17" fmla="*/ 4210717 h 5150263"/>
              <a:gd name="connsiteX18" fmla="*/ 1138962 w 7187261"/>
              <a:gd name="connsiteY18" fmla="*/ 4988910 h 5150263"/>
              <a:gd name="connsiteX19" fmla="*/ 1348512 w 7187261"/>
              <a:gd name="connsiteY19" fmla="*/ 5146834 h 5150263"/>
              <a:gd name="connsiteX20" fmla="*/ 1422712 w 7187261"/>
              <a:gd name="connsiteY20" fmla="*/ 5146834 h 5150263"/>
              <a:gd name="connsiteX21" fmla="*/ 480594 w 7187261"/>
              <a:gd name="connsiteY21" fmla="*/ 4187952 h 5150263"/>
              <a:gd name="connsiteX22" fmla="*/ 398679 w 7187261"/>
              <a:gd name="connsiteY22" fmla="*/ 4046125 h 5150263"/>
              <a:gd name="connsiteX23" fmla="*/ 411823 w 7187261"/>
              <a:gd name="connsiteY23" fmla="*/ 4053078 h 5150263"/>
              <a:gd name="connsiteX24" fmla="*/ 1439380 w 7187261"/>
              <a:gd name="connsiteY24" fmla="*/ 5147405 h 5150263"/>
              <a:gd name="connsiteX25" fmla="*/ 5710010 w 7187261"/>
              <a:gd name="connsiteY25" fmla="*/ 5150263 h 5150263"/>
              <a:gd name="connsiteX26" fmla="*/ 5999665 w 7187261"/>
              <a:gd name="connsiteY26" fmla="*/ 4910900 h 5150263"/>
              <a:gd name="connsiteX27" fmla="*/ 6954165 w 7187261"/>
              <a:gd name="connsiteY27" fmla="*/ 3545777 h 5150263"/>
              <a:gd name="connsiteX28" fmla="*/ 7137712 w 7187261"/>
              <a:gd name="connsiteY28" fmla="*/ 2799207 h 5150263"/>
              <a:gd name="connsiteX29" fmla="*/ 7142951 w 7187261"/>
              <a:gd name="connsiteY29" fmla="*/ 2754535 h 5150263"/>
              <a:gd name="connsiteX30" fmla="*/ 7149428 w 7187261"/>
              <a:gd name="connsiteY30" fmla="*/ 2774823 h 5150263"/>
              <a:gd name="connsiteX31" fmla="*/ 7066465 w 7187261"/>
              <a:gd name="connsiteY31" fmla="*/ 3465672 h 5150263"/>
              <a:gd name="connsiteX32" fmla="*/ 6452578 w 7187261"/>
              <a:gd name="connsiteY32" fmla="*/ 4552760 h 5150263"/>
              <a:gd name="connsiteX33" fmla="*/ 5752110 w 7187261"/>
              <a:gd name="connsiteY33" fmla="*/ 5150263 h 5150263"/>
              <a:gd name="connsiteX34" fmla="*/ 5827643 w 7187261"/>
              <a:gd name="connsiteY34" fmla="*/ 5150263 h 5150263"/>
              <a:gd name="connsiteX35" fmla="*/ 6642793 w 7187261"/>
              <a:gd name="connsiteY35" fmla="*/ 4389406 h 5150263"/>
              <a:gd name="connsiteX36" fmla="*/ 7102469 w 7187261"/>
              <a:gd name="connsiteY36" fmla="*/ 3490817 h 5150263"/>
              <a:gd name="connsiteX37" fmla="*/ 7187242 w 7187261"/>
              <a:gd name="connsiteY37" fmla="*/ 2990183 h 5150263"/>
              <a:gd name="connsiteX38" fmla="*/ 7178288 w 7187261"/>
              <a:gd name="connsiteY38" fmla="*/ 2604802 h 5150263"/>
              <a:gd name="connsiteX39" fmla="*/ 6342565 w 7187261"/>
              <a:gd name="connsiteY39" fmla="*/ 441389 h 5150263"/>
              <a:gd name="connsiteX40" fmla="*/ 7126567 w 7187261"/>
              <a:gd name="connsiteY40" fmla="*/ 2355056 h 5150263"/>
              <a:gd name="connsiteX41" fmla="*/ 6342565 w 7187261"/>
              <a:gd name="connsiteY41" fmla="*/ 441389 h 51502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7187261" h="5150263">
                <a:moveTo>
                  <a:pt x="7178288" y="2604802"/>
                </a:moveTo>
                <a:cubicBezTo>
                  <a:pt x="7168763" y="2513076"/>
                  <a:pt x="7174478" y="2420684"/>
                  <a:pt x="7169335" y="2328577"/>
                </a:cubicBezTo>
                <a:cubicBezTo>
                  <a:pt x="7156952" y="2102882"/>
                  <a:pt x="7120586" y="1879149"/>
                  <a:pt x="7060845" y="1661160"/>
                </a:cubicBezTo>
                <a:cubicBezTo>
                  <a:pt x="6910588" y="1121007"/>
                  <a:pt x="6617428" y="631374"/>
                  <a:pt x="6212263" y="243840"/>
                </a:cubicBezTo>
                <a:cubicBezTo>
                  <a:pt x="6126538" y="162496"/>
                  <a:pt x="6040813" y="80201"/>
                  <a:pt x="5953564" y="0"/>
                </a:cubicBezTo>
                <a:lnTo>
                  <a:pt x="1408615" y="0"/>
                </a:lnTo>
                <a:cubicBezTo>
                  <a:pt x="1180967" y="200316"/>
                  <a:pt x="978332" y="427387"/>
                  <a:pt x="805111" y="676275"/>
                </a:cubicBezTo>
                <a:cubicBezTo>
                  <a:pt x="481261" y="1136523"/>
                  <a:pt x="252089" y="1640872"/>
                  <a:pt x="104928" y="2183035"/>
                </a:cubicBezTo>
                <a:cubicBezTo>
                  <a:pt x="85878" y="2254853"/>
                  <a:pt x="69495" y="2327720"/>
                  <a:pt x="51588" y="2400014"/>
                </a:cubicBezTo>
                <a:cubicBezTo>
                  <a:pt x="49683" y="2407634"/>
                  <a:pt x="51588" y="2416969"/>
                  <a:pt x="41301" y="2424208"/>
                </a:cubicBezTo>
                <a:cubicBezTo>
                  <a:pt x="45900" y="2225469"/>
                  <a:pt x="72186" y="2027834"/>
                  <a:pt x="119692" y="1834801"/>
                </a:cubicBezTo>
                <a:cubicBezTo>
                  <a:pt x="247993" y="1310926"/>
                  <a:pt x="506121" y="857726"/>
                  <a:pt x="870071" y="462248"/>
                </a:cubicBezTo>
                <a:cubicBezTo>
                  <a:pt x="1027729" y="291823"/>
                  <a:pt x="1201617" y="137169"/>
                  <a:pt x="1389279" y="476"/>
                </a:cubicBezTo>
                <a:lnTo>
                  <a:pt x="1320223" y="476"/>
                </a:lnTo>
                <a:cubicBezTo>
                  <a:pt x="960844" y="274320"/>
                  <a:pt x="656330" y="599123"/>
                  <a:pt x="423158" y="989743"/>
                </a:cubicBezTo>
                <a:cubicBezTo>
                  <a:pt x="215608" y="1337596"/>
                  <a:pt x="80258" y="1711357"/>
                  <a:pt x="25585" y="2113693"/>
                </a:cubicBezTo>
                <a:cubicBezTo>
                  <a:pt x="-2705" y="2316480"/>
                  <a:pt x="-2228" y="2521077"/>
                  <a:pt x="2344" y="2725865"/>
                </a:cubicBezTo>
                <a:cubicBezTo>
                  <a:pt x="14155" y="3261932"/>
                  <a:pt x="170650" y="3754565"/>
                  <a:pt x="447256" y="4210717"/>
                </a:cubicBezTo>
                <a:cubicBezTo>
                  <a:pt x="629851" y="4511612"/>
                  <a:pt x="866356" y="4767167"/>
                  <a:pt x="1138962" y="4988910"/>
                </a:cubicBezTo>
                <a:cubicBezTo>
                  <a:pt x="1207161" y="5044345"/>
                  <a:pt x="1277008" y="5096990"/>
                  <a:pt x="1348512" y="5146834"/>
                </a:cubicBezTo>
                <a:lnTo>
                  <a:pt x="1422712" y="5146834"/>
                </a:lnTo>
                <a:cubicBezTo>
                  <a:pt x="1043426" y="4892802"/>
                  <a:pt x="724720" y="4577334"/>
                  <a:pt x="480594" y="4187952"/>
                </a:cubicBezTo>
                <a:cubicBezTo>
                  <a:pt x="452019" y="4141851"/>
                  <a:pt x="423444" y="4095179"/>
                  <a:pt x="398679" y="4046125"/>
                </a:cubicBezTo>
                <a:cubicBezTo>
                  <a:pt x="407442" y="4043267"/>
                  <a:pt x="409156" y="4048982"/>
                  <a:pt x="411823" y="4053078"/>
                </a:cubicBezTo>
                <a:cubicBezTo>
                  <a:pt x="683572" y="4484656"/>
                  <a:pt x="1033139" y="4842701"/>
                  <a:pt x="1439380" y="5147405"/>
                </a:cubicBezTo>
                <a:lnTo>
                  <a:pt x="5710010" y="5150263"/>
                </a:lnTo>
                <a:cubicBezTo>
                  <a:pt x="5810594" y="5075482"/>
                  <a:pt x="5907272" y="4995587"/>
                  <a:pt x="5999665" y="4910900"/>
                </a:cubicBezTo>
                <a:cubicBezTo>
                  <a:pt x="6418765" y="4526661"/>
                  <a:pt x="6746901" y="4078129"/>
                  <a:pt x="6954165" y="3545777"/>
                </a:cubicBezTo>
                <a:cubicBezTo>
                  <a:pt x="7048234" y="3306175"/>
                  <a:pt x="7109956" y="3055115"/>
                  <a:pt x="7137712" y="2799207"/>
                </a:cubicBezTo>
                <a:cubicBezTo>
                  <a:pt x="7139236" y="2784920"/>
                  <a:pt x="7141046" y="2770632"/>
                  <a:pt x="7142951" y="2754535"/>
                </a:cubicBezTo>
                <a:cubicBezTo>
                  <a:pt x="7151714" y="2760440"/>
                  <a:pt x="7149237" y="2768441"/>
                  <a:pt x="7149428" y="2774823"/>
                </a:cubicBezTo>
                <a:cubicBezTo>
                  <a:pt x="7156743" y="3007967"/>
                  <a:pt x="7128777" y="3240881"/>
                  <a:pt x="7066465" y="3465672"/>
                </a:cubicBezTo>
                <a:cubicBezTo>
                  <a:pt x="6952165" y="3878580"/>
                  <a:pt x="6737948" y="4235863"/>
                  <a:pt x="6452578" y="4552760"/>
                </a:cubicBezTo>
                <a:cubicBezTo>
                  <a:pt x="6244553" y="4783836"/>
                  <a:pt x="6008809" y="4980242"/>
                  <a:pt x="5752110" y="5150263"/>
                </a:cubicBezTo>
                <a:lnTo>
                  <a:pt x="5827643" y="5150263"/>
                </a:lnTo>
                <a:cubicBezTo>
                  <a:pt x="6136539" y="4938904"/>
                  <a:pt x="6412192" y="4689348"/>
                  <a:pt x="6642793" y="4389406"/>
                </a:cubicBezTo>
                <a:cubicBezTo>
                  <a:pt x="6851295" y="4118324"/>
                  <a:pt x="7009125" y="3820859"/>
                  <a:pt x="7102469" y="3490817"/>
                </a:cubicBezTo>
                <a:cubicBezTo>
                  <a:pt x="7148646" y="3327473"/>
                  <a:pt x="7177069" y="3159624"/>
                  <a:pt x="7187242" y="2990183"/>
                </a:cubicBezTo>
                <a:cubicBezTo>
                  <a:pt x="7187623" y="2984087"/>
                  <a:pt x="7182384" y="2642330"/>
                  <a:pt x="7178288" y="2604802"/>
                </a:cubicBezTo>
                <a:close/>
                <a:moveTo>
                  <a:pt x="6342565" y="441389"/>
                </a:moveTo>
                <a:cubicBezTo>
                  <a:pt x="6829797" y="986533"/>
                  <a:pt x="7091135" y="1624422"/>
                  <a:pt x="7126567" y="2355056"/>
                </a:cubicBezTo>
                <a:cubicBezTo>
                  <a:pt x="7001123" y="1661827"/>
                  <a:pt x="6756426" y="1017365"/>
                  <a:pt x="6342565" y="441389"/>
                </a:cubicBezTo>
                <a:close/>
              </a:path>
            </a:pathLst>
          </a:custGeom>
          <a:solidFill>
            <a:schemeClr val="accent2"/>
          </a:solidFill>
          <a:ln w="9525" cap="flat">
            <a:noFill/>
            <a:prstDash val="solid"/>
            <a:miter/>
          </a:ln>
        </p:spPr>
        <p:txBody>
          <a:bodyPr rtlCol="0" anchor="ctr"/>
          <a:lstStyle/>
          <a:p>
            <a:endParaRPr lang="en-US"/>
          </a:p>
        </p:txBody>
      </p:sp>
      <p:sp>
        <p:nvSpPr>
          <p:cNvPr id="2" name="Title 1">
            <a:extLst>
              <a:ext uri="{FF2B5EF4-FFF2-40B4-BE49-F238E27FC236}">
                <a16:creationId xmlns:a16="http://schemas.microsoft.com/office/drawing/2014/main" id="{06B5702D-8056-4C37-08FE-4F8EAD8EC5DF}"/>
              </a:ext>
            </a:extLst>
          </p:cNvPr>
          <p:cNvSpPr>
            <a:spLocks noGrp="1"/>
          </p:cNvSpPr>
          <p:nvPr>
            <p:ph type="title"/>
          </p:nvPr>
        </p:nvSpPr>
        <p:spPr>
          <a:xfrm>
            <a:off x="2558716" y="955309"/>
            <a:ext cx="7074568" cy="2898975"/>
          </a:xfrm>
        </p:spPr>
        <p:txBody>
          <a:bodyPr vert="horz" lIns="91440" tIns="45720" rIns="91440" bIns="45720" rtlCol="0" anchor="b">
            <a:normAutofit/>
          </a:bodyPr>
          <a:lstStyle/>
          <a:p>
            <a:pPr algn="ctr"/>
            <a:r>
              <a:rPr lang="en-US" sz="6600" kern="1200">
                <a:solidFill>
                  <a:srgbClr val="FFFFFF"/>
                </a:solidFill>
                <a:latin typeface="+mj-lt"/>
                <a:ea typeface="+mj-ea"/>
                <a:cs typeface="+mj-cs"/>
              </a:rPr>
              <a:t>THANKS YOU FOR WATCHING</a:t>
            </a:r>
          </a:p>
        </p:txBody>
      </p:sp>
      <p:sp>
        <p:nvSpPr>
          <p:cNvPr id="4" name="TextBox 3">
            <a:extLst>
              <a:ext uri="{FF2B5EF4-FFF2-40B4-BE49-F238E27FC236}">
                <a16:creationId xmlns:a16="http://schemas.microsoft.com/office/drawing/2014/main" id="{4FC831D2-F958-1CD1-E667-F88064BA8708}"/>
              </a:ext>
            </a:extLst>
          </p:cNvPr>
          <p:cNvSpPr txBox="1"/>
          <p:nvPr/>
        </p:nvSpPr>
        <p:spPr>
          <a:xfrm>
            <a:off x="2634916" y="4533813"/>
            <a:ext cx="6930189" cy="938463"/>
          </a:xfrm>
          <a:prstGeom prst="rect">
            <a:avLst/>
          </a:prstGeom>
        </p:spPr>
        <p:txBody>
          <a:bodyPr vert="horz" lIns="91440" tIns="45720" rIns="91440" bIns="45720" rtlCol="0">
            <a:normAutofit/>
          </a:bodyPr>
          <a:lstStyle/>
          <a:p>
            <a:pPr algn="ctr">
              <a:lnSpc>
                <a:spcPct val="90000"/>
              </a:lnSpc>
              <a:spcBef>
                <a:spcPts val="1000"/>
              </a:spcBef>
            </a:pPr>
            <a:r>
              <a:rPr lang="en-US" sz="2400" kern="1200">
                <a:solidFill>
                  <a:srgbClr val="FFFFFF"/>
                </a:solidFill>
                <a:latin typeface="+mn-lt"/>
                <a:ea typeface="+mn-ea"/>
                <a:cs typeface="+mn-cs"/>
              </a:rPr>
              <a:t>Em xin chân thành cảm ơn thầy cô đã lắng nghe và theo dõi bài thuyết trình của em.</a:t>
            </a:r>
          </a:p>
        </p:txBody>
      </p:sp>
      <p:sp>
        <p:nvSpPr>
          <p:cNvPr id="13" name="sketch line">
            <a:extLst>
              <a:ext uri="{FF2B5EF4-FFF2-40B4-BE49-F238E27FC236}">
                <a16:creationId xmlns:a16="http://schemas.microsoft.com/office/drawing/2014/main" id="{41F77738-2AF0-4750-A0C7-F97C2C1759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974206" y="4173498"/>
            <a:ext cx="4243589" cy="18288"/>
          </a:xfrm>
          <a:custGeom>
            <a:avLst/>
            <a:gdLst>
              <a:gd name="csX0" fmla="*/ 0 w 4243589"/>
              <a:gd name="csY0" fmla="*/ 0 h 18288"/>
              <a:gd name="csX1" fmla="*/ 563791 w 4243589"/>
              <a:gd name="csY1" fmla="*/ 0 h 18288"/>
              <a:gd name="csX2" fmla="*/ 1042710 w 4243589"/>
              <a:gd name="csY2" fmla="*/ 0 h 18288"/>
              <a:gd name="csX3" fmla="*/ 1564066 w 4243589"/>
              <a:gd name="csY3" fmla="*/ 0 h 18288"/>
              <a:gd name="csX4" fmla="*/ 2212729 w 4243589"/>
              <a:gd name="csY4" fmla="*/ 0 h 18288"/>
              <a:gd name="csX5" fmla="*/ 2776520 w 4243589"/>
              <a:gd name="csY5" fmla="*/ 0 h 18288"/>
              <a:gd name="csX6" fmla="*/ 3297875 w 4243589"/>
              <a:gd name="csY6" fmla="*/ 0 h 18288"/>
              <a:gd name="csX7" fmla="*/ 4243589 w 4243589"/>
              <a:gd name="csY7" fmla="*/ 0 h 18288"/>
              <a:gd name="csX8" fmla="*/ 4243589 w 4243589"/>
              <a:gd name="csY8" fmla="*/ 18288 h 18288"/>
              <a:gd name="csX9" fmla="*/ 3637362 w 4243589"/>
              <a:gd name="csY9" fmla="*/ 18288 h 18288"/>
              <a:gd name="csX10" fmla="*/ 3116007 w 4243589"/>
              <a:gd name="csY10" fmla="*/ 18288 h 18288"/>
              <a:gd name="csX11" fmla="*/ 2424908 w 4243589"/>
              <a:gd name="csY11" fmla="*/ 18288 h 18288"/>
              <a:gd name="csX12" fmla="*/ 1861117 w 4243589"/>
              <a:gd name="csY12" fmla="*/ 18288 h 18288"/>
              <a:gd name="csX13" fmla="*/ 1382198 w 4243589"/>
              <a:gd name="csY13" fmla="*/ 18288 h 18288"/>
              <a:gd name="csX14" fmla="*/ 733535 w 4243589"/>
              <a:gd name="csY14" fmla="*/ 18288 h 18288"/>
              <a:gd name="csX15" fmla="*/ 0 w 4243589"/>
              <a:gd name="csY15" fmla="*/ 18288 h 18288"/>
              <a:gd name="csX16" fmla="*/ 0 w 4243589"/>
              <a:gd name="csY1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243589" h="18288" fill="none" extrusionOk="0">
                <a:moveTo>
                  <a:pt x="0" y="0"/>
                </a:moveTo>
                <a:cubicBezTo>
                  <a:pt x="157351" y="-15653"/>
                  <a:pt x="378877" y="-5828"/>
                  <a:pt x="563791" y="0"/>
                </a:cubicBezTo>
                <a:cubicBezTo>
                  <a:pt x="748705" y="5828"/>
                  <a:pt x="905659" y="-5525"/>
                  <a:pt x="1042710" y="0"/>
                </a:cubicBezTo>
                <a:cubicBezTo>
                  <a:pt x="1179761" y="5525"/>
                  <a:pt x="1356845" y="-21288"/>
                  <a:pt x="1564066" y="0"/>
                </a:cubicBezTo>
                <a:cubicBezTo>
                  <a:pt x="1771287" y="21288"/>
                  <a:pt x="1912099" y="25135"/>
                  <a:pt x="2212729" y="0"/>
                </a:cubicBezTo>
                <a:cubicBezTo>
                  <a:pt x="2513359" y="-25135"/>
                  <a:pt x="2514918" y="-27119"/>
                  <a:pt x="2776520" y="0"/>
                </a:cubicBezTo>
                <a:cubicBezTo>
                  <a:pt x="3038122" y="27119"/>
                  <a:pt x="3178771" y="18116"/>
                  <a:pt x="3297875" y="0"/>
                </a:cubicBezTo>
                <a:cubicBezTo>
                  <a:pt x="3416980" y="-18116"/>
                  <a:pt x="4012240" y="-40869"/>
                  <a:pt x="4243589" y="0"/>
                </a:cubicBezTo>
                <a:cubicBezTo>
                  <a:pt x="4243987" y="7429"/>
                  <a:pt x="4243569" y="10822"/>
                  <a:pt x="4243589" y="18288"/>
                </a:cubicBezTo>
                <a:cubicBezTo>
                  <a:pt x="4112949" y="-2855"/>
                  <a:pt x="3928037" y="1831"/>
                  <a:pt x="3637362" y="18288"/>
                </a:cubicBezTo>
                <a:cubicBezTo>
                  <a:pt x="3346687" y="34745"/>
                  <a:pt x="3254446" y="26669"/>
                  <a:pt x="3116007" y="18288"/>
                </a:cubicBezTo>
                <a:cubicBezTo>
                  <a:pt x="2977569" y="9907"/>
                  <a:pt x="2620228" y="28873"/>
                  <a:pt x="2424908" y="18288"/>
                </a:cubicBezTo>
                <a:cubicBezTo>
                  <a:pt x="2229588" y="7703"/>
                  <a:pt x="2088287" y="-3854"/>
                  <a:pt x="1861117" y="18288"/>
                </a:cubicBezTo>
                <a:cubicBezTo>
                  <a:pt x="1633947" y="40430"/>
                  <a:pt x="1502447" y="-871"/>
                  <a:pt x="1382198" y="18288"/>
                </a:cubicBezTo>
                <a:cubicBezTo>
                  <a:pt x="1261949" y="37447"/>
                  <a:pt x="1045440" y="28353"/>
                  <a:pt x="733535" y="18288"/>
                </a:cubicBezTo>
                <a:cubicBezTo>
                  <a:pt x="421630" y="8223"/>
                  <a:pt x="341257" y="-18359"/>
                  <a:pt x="0" y="18288"/>
                </a:cubicBezTo>
                <a:cubicBezTo>
                  <a:pt x="-591" y="13205"/>
                  <a:pt x="-663" y="6329"/>
                  <a:pt x="0" y="0"/>
                </a:cubicBezTo>
                <a:close/>
              </a:path>
              <a:path w="4243589" h="18288" stroke="0" extrusionOk="0">
                <a:moveTo>
                  <a:pt x="0" y="0"/>
                </a:moveTo>
                <a:cubicBezTo>
                  <a:pt x="128164" y="17204"/>
                  <a:pt x="312653" y="1129"/>
                  <a:pt x="563791" y="0"/>
                </a:cubicBezTo>
                <a:cubicBezTo>
                  <a:pt x="814929" y="-1129"/>
                  <a:pt x="837271" y="8503"/>
                  <a:pt x="1042710" y="0"/>
                </a:cubicBezTo>
                <a:cubicBezTo>
                  <a:pt x="1248149" y="-8503"/>
                  <a:pt x="1588432" y="-28862"/>
                  <a:pt x="1733809" y="0"/>
                </a:cubicBezTo>
                <a:cubicBezTo>
                  <a:pt x="1879186" y="28862"/>
                  <a:pt x="2052815" y="5974"/>
                  <a:pt x="2297600" y="0"/>
                </a:cubicBezTo>
                <a:cubicBezTo>
                  <a:pt x="2542385" y="-5974"/>
                  <a:pt x="2699960" y="-23550"/>
                  <a:pt x="2861391" y="0"/>
                </a:cubicBezTo>
                <a:cubicBezTo>
                  <a:pt x="3022822" y="23550"/>
                  <a:pt x="3390411" y="25272"/>
                  <a:pt x="3552490" y="0"/>
                </a:cubicBezTo>
                <a:cubicBezTo>
                  <a:pt x="3714569" y="-25272"/>
                  <a:pt x="3950585" y="-31327"/>
                  <a:pt x="4243589" y="0"/>
                </a:cubicBezTo>
                <a:cubicBezTo>
                  <a:pt x="4242703" y="5429"/>
                  <a:pt x="4244410" y="14046"/>
                  <a:pt x="4243589" y="18288"/>
                </a:cubicBezTo>
                <a:cubicBezTo>
                  <a:pt x="4130424" y="-1240"/>
                  <a:pt x="3932803" y="42249"/>
                  <a:pt x="3722234" y="18288"/>
                </a:cubicBezTo>
                <a:cubicBezTo>
                  <a:pt x="3511665" y="-5673"/>
                  <a:pt x="3269903" y="45994"/>
                  <a:pt x="3116007" y="18288"/>
                </a:cubicBezTo>
                <a:cubicBezTo>
                  <a:pt x="2962111" y="-9418"/>
                  <a:pt x="2744280" y="23224"/>
                  <a:pt x="2509780" y="18288"/>
                </a:cubicBezTo>
                <a:cubicBezTo>
                  <a:pt x="2275280" y="13352"/>
                  <a:pt x="2066059" y="43664"/>
                  <a:pt x="1945989" y="18288"/>
                </a:cubicBezTo>
                <a:cubicBezTo>
                  <a:pt x="1825919" y="-7088"/>
                  <a:pt x="1407329" y="12616"/>
                  <a:pt x="1254890" y="18288"/>
                </a:cubicBezTo>
                <a:cubicBezTo>
                  <a:pt x="1102451" y="23960"/>
                  <a:pt x="837950" y="31673"/>
                  <a:pt x="563791" y="18288"/>
                </a:cubicBezTo>
                <a:cubicBezTo>
                  <a:pt x="289632" y="4903"/>
                  <a:pt x="132768" y="7105"/>
                  <a:pt x="0" y="18288"/>
                </a:cubicBezTo>
                <a:cubicBezTo>
                  <a:pt x="668" y="13665"/>
                  <a:pt x="578" y="5675"/>
                  <a:pt x="0" y="0"/>
                </a:cubicBezTo>
                <a:close/>
              </a:path>
            </a:pathLst>
          </a:custGeom>
          <a:solidFill>
            <a:srgbClr val="FFFFFF"/>
          </a:solidFill>
          <a:ln w="41275" cap="rnd">
            <a:solidFill>
              <a:srgbClr val="FFFFFF"/>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91850503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528</TotalTime>
  <Words>1744</Words>
  <Application>Microsoft Office PowerPoint</Application>
  <PresentationFormat>Widescreen</PresentationFormat>
  <Paragraphs>111</Paragraphs>
  <Slides>20</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20</vt:i4>
      </vt:variant>
    </vt:vector>
  </HeadingPairs>
  <TitlesOfParts>
    <vt:vector size="25" baseType="lpstr">
      <vt:lpstr>Aptos</vt:lpstr>
      <vt:lpstr>Aptos Display</vt:lpstr>
      <vt:lpstr>Arial</vt:lpstr>
      <vt:lpstr>Calibri</vt:lpstr>
      <vt:lpstr>Office Theme</vt:lpstr>
      <vt:lpstr>ĐỒ ÁN THỰC TẬP CƠ SỞ NGÀNH</vt:lpstr>
      <vt:lpstr> ĐỀ TÀI: XÂY DỰNG WEBSITE CUNG CẤP THÔNG TIN KỸ THUẬT NUÔI TRỒNG THỦY SẢN</vt:lpstr>
      <vt:lpstr>NỘI DUNG CHÍNH</vt:lpstr>
      <vt:lpstr>PHẦN 1: TỔNG QUAN VỀ ĐỀ TÀI  </vt:lpstr>
      <vt:lpstr>TỔNG QUAN ĐỀ TÀI</vt:lpstr>
      <vt:lpstr>LÝ DO CHỌN ĐỀ TÀI</vt:lpstr>
      <vt:lpstr>GIỚI THIỆU NGÔN NGỮ - FRAMEWORK</vt:lpstr>
      <vt:lpstr>CHỨC NĂNG</vt:lpstr>
      <vt:lpstr>CHỨC NĂNG</vt:lpstr>
      <vt:lpstr>CHỨC NĂNG</vt:lpstr>
      <vt:lpstr>QUY TRÌNH VẬN HÀNH</vt:lpstr>
      <vt:lpstr>PHẦN 2: MỤC TIÊU WEBSITE  </vt:lpstr>
      <vt:lpstr> MỤC TIÊU ĐỀ TÀI</vt:lpstr>
      <vt:lpstr>PHẦN 3: PHÂN TÍCH HỆ THỐNG  </vt:lpstr>
      <vt:lpstr>CƠ SỞ DỮ LIỆU</vt:lpstr>
      <vt:lpstr>PHẦN 4: DEMO SẢN PHẨM  </vt:lpstr>
      <vt:lpstr>PHẦN 5: KẾT LUẬN VÀ HƯỚNG PHÁT TRIỂN  </vt:lpstr>
      <vt:lpstr>HẠN CHẾ</vt:lpstr>
      <vt:lpstr>HƯỚNG PHÁT TRIỂN ĐỀ TÀI</vt:lpstr>
      <vt:lpstr>THANKS YOU FOR WATCHING</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TA HANG VU</dc:creator>
  <cp:lastModifiedBy>TA HANG VU</cp:lastModifiedBy>
  <cp:revision>174</cp:revision>
  <dcterms:created xsi:type="dcterms:W3CDTF">2026-01-01T04:21:36Z</dcterms:created>
  <dcterms:modified xsi:type="dcterms:W3CDTF">2026-01-07T09:46:47Z</dcterms:modified>
</cp:coreProperties>
</file>