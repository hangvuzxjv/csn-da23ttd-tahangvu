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3"/>
  </p:notesMasterIdLst>
  <p:sldIdLst>
    <p:sldId id="256" r:id="rId2"/>
    <p:sldId id="257" r:id="rId3"/>
    <p:sldId id="258" r:id="rId4"/>
    <p:sldId id="259" r:id="rId5"/>
    <p:sldId id="275" r:id="rId6"/>
    <p:sldId id="260" r:id="rId7"/>
    <p:sldId id="261" r:id="rId8"/>
    <p:sldId id="262" r:id="rId9"/>
    <p:sldId id="276" r:id="rId10"/>
    <p:sldId id="263" r:id="rId11"/>
    <p:sldId id="264" r:id="rId12"/>
    <p:sldId id="265" r:id="rId13"/>
    <p:sldId id="277" r:id="rId14"/>
    <p:sldId id="267" r:id="rId15"/>
    <p:sldId id="268" r:id="rId16"/>
    <p:sldId id="269" r:id="rId17"/>
    <p:sldId id="270" r:id="rId18"/>
    <p:sldId id="271" r:id="rId19"/>
    <p:sldId id="272" r:id="rId20"/>
    <p:sldId id="273" r:id="rId21"/>
    <p:sldId id="274"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27058DE-3815-4AAD-8B85-8722AB52F8C4}" type="doc">
      <dgm:prSet loTypeId="urn:microsoft.com/office/officeart/2008/layout/LinedList" loCatId="list" qsTypeId="urn:microsoft.com/office/officeart/2005/8/quickstyle/simple1" qsCatId="simple" csTypeId="urn:microsoft.com/office/officeart/2005/8/colors/colorful2" csCatId="colorful" phldr="1"/>
      <dgm:spPr/>
      <dgm:t>
        <a:bodyPr/>
        <a:lstStyle/>
        <a:p>
          <a:endParaRPr lang="en-US"/>
        </a:p>
      </dgm:t>
    </dgm:pt>
    <dgm:pt modelId="{92F01C0E-C9BA-41A0-AF90-DB6B74963CAC}">
      <dgm:prSet custT="1"/>
      <dgm:spPr/>
      <dgm:t>
        <a:bodyPr/>
        <a:lstStyle/>
        <a:p>
          <a:r>
            <a:rPr lang="en-US" sz="2700" b="0"/>
            <a:t>1. TỔNG QUAN ĐỀ TÀI</a:t>
          </a:r>
        </a:p>
      </dgm:t>
    </dgm:pt>
    <dgm:pt modelId="{4C0680D7-EE09-4713-A786-2E677ED66AF7}" type="parTrans" cxnId="{7D4E9B2B-F7D0-40B0-8E6B-B367CF537128}">
      <dgm:prSet/>
      <dgm:spPr/>
      <dgm:t>
        <a:bodyPr/>
        <a:lstStyle/>
        <a:p>
          <a:endParaRPr lang="en-US"/>
        </a:p>
      </dgm:t>
    </dgm:pt>
    <dgm:pt modelId="{7E912E48-B803-44D4-827C-5A5B4D2D1CF8}" type="sibTrans" cxnId="{7D4E9B2B-F7D0-40B0-8E6B-B367CF537128}">
      <dgm:prSet/>
      <dgm:spPr/>
      <dgm:t>
        <a:bodyPr/>
        <a:lstStyle/>
        <a:p>
          <a:endParaRPr lang="en-US"/>
        </a:p>
      </dgm:t>
    </dgm:pt>
    <dgm:pt modelId="{53390E58-A768-4E52-A4E4-7FB75CA96323}">
      <dgm:prSet custT="1"/>
      <dgm:spPr/>
      <dgm:t>
        <a:bodyPr/>
        <a:lstStyle/>
        <a:p>
          <a:r>
            <a:rPr lang="en-US" sz="2700"/>
            <a:t>2. MỤC TIÊU WEBSITE</a:t>
          </a:r>
          <a:endParaRPr lang="en-US" sz="2700" b="1"/>
        </a:p>
      </dgm:t>
    </dgm:pt>
    <dgm:pt modelId="{52E3D096-8CF5-43AD-BA4B-63D0D7180530}" type="parTrans" cxnId="{184CA355-E366-406F-B0C7-E6A699A77E49}">
      <dgm:prSet/>
      <dgm:spPr/>
      <dgm:t>
        <a:bodyPr/>
        <a:lstStyle/>
        <a:p>
          <a:endParaRPr lang="en-US"/>
        </a:p>
      </dgm:t>
    </dgm:pt>
    <dgm:pt modelId="{ECFD0EDC-61E8-4715-8BFB-E14A48C0BFEE}" type="sibTrans" cxnId="{184CA355-E366-406F-B0C7-E6A699A77E49}">
      <dgm:prSet/>
      <dgm:spPr/>
      <dgm:t>
        <a:bodyPr/>
        <a:lstStyle/>
        <a:p>
          <a:endParaRPr lang="en-US"/>
        </a:p>
      </dgm:t>
    </dgm:pt>
    <dgm:pt modelId="{D92E9339-606A-4F15-B145-C997F353F79A}">
      <dgm:prSet custT="1"/>
      <dgm:spPr/>
      <dgm:t>
        <a:bodyPr/>
        <a:lstStyle/>
        <a:p>
          <a:r>
            <a:rPr lang="en-US" sz="2700"/>
            <a:t>3. PHÂN TÍCH HỆ THỐNG</a:t>
          </a:r>
          <a:endParaRPr lang="en-US" sz="2700" b="1"/>
        </a:p>
      </dgm:t>
    </dgm:pt>
    <dgm:pt modelId="{89D6FAAC-CAB6-433C-872A-F3BF9DD34183}" type="parTrans" cxnId="{9FEDA075-B3A9-42B2-B873-5662C31F2404}">
      <dgm:prSet/>
      <dgm:spPr/>
      <dgm:t>
        <a:bodyPr/>
        <a:lstStyle/>
        <a:p>
          <a:endParaRPr lang="en-US"/>
        </a:p>
      </dgm:t>
    </dgm:pt>
    <dgm:pt modelId="{16A5F621-99F4-4254-9EAD-09F400A531BD}" type="sibTrans" cxnId="{9FEDA075-B3A9-42B2-B873-5662C31F2404}">
      <dgm:prSet/>
      <dgm:spPr/>
      <dgm:t>
        <a:bodyPr/>
        <a:lstStyle/>
        <a:p>
          <a:endParaRPr lang="en-US"/>
        </a:p>
      </dgm:t>
    </dgm:pt>
    <dgm:pt modelId="{B7F18DA3-5519-48ED-9A85-3A77BF4474E6}">
      <dgm:prSet custT="1"/>
      <dgm:spPr/>
      <dgm:t>
        <a:bodyPr/>
        <a:lstStyle/>
        <a:p>
          <a:r>
            <a:rPr lang="en-US" sz="2700"/>
            <a:t>4. DEMO SẢN PHẨM</a:t>
          </a:r>
          <a:endParaRPr lang="en-US" sz="2700" b="1"/>
        </a:p>
      </dgm:t>
    </dgm:pt>
    <dgm:pt modelId="{03DACC9E-9E65-4EE7-8967-B9C7D6C30A1B}" type="parTrans" cxnId="{F9D6DB61-7852-413E-8BCC-8BABC3C8F655}">
      <dgm:prSet/>
      <dgm:spPr/>
      <dgm:t>
        <a:bodyPr/>
        <a:lstStyle/>
        <a:p>
          <a:endParaRPr lang="en-US"/>
        </a:p>
      </dgm:t>
    </dgm:pt>
    <dgm:pt modelId="{5E2D7830-259D-4B88-8D42-9D09450329A3}" type="sibTrans" cxnId="{F9D6DB61-7852-413E-8BCC-8BABC3C8F655}">
      <dgm:prSet/>
      <dgm:spPr/>
      <dgm:t>
        <a:bodyPr/>
        <a:lstStyle/>
        <a:p>
          <a:endParaRPr lang="en-US"/>
        </a:p>
      </dgm:t>
    </dgm:pt>
    <dgm:pt modelId="{2A033E3F-0C50-4FD0-9E0B-DF260A6EAD8C}">
      <dgm:prSet custT="1"/>
      <dgm:spPr/>
      <dgm:t>
        <a:bodyPr/>
        <a:lstStyle/>
        <a:p>
          <a:r>
            <a:rPr lang="en-US" sz="2700"/>
            <a:t>5. KẾT LUẬN VÀ HƯỚNG PHÁT TRIỂN</a:t>
          </a:r>
          <a:endParaRPr lang="en-US" sz="2700" b="1"/>
        </a:p>
      </dgm:t>
    </dgm:pt>
    <dgm:pt modelId="{20A2D3C1-A423-4C44-9716-9455D91D3B84}" type="parTrans" cxnId="{A5C916F0-220A-45D2-9AEB-25CE34C5898D}">
      <dgm:prSet/>
      <dgm:spPr/>
      <dgm:t>
        <a:bodyPr/>
        <a:lstStyle/>
        <a:p>
          <a:endParaRPr lang="en-US"/>
        </a:p>
      </dgm:t>
    </dgm:pt>
    <dgm:pt modelId="{92708A6B-D20A-4452-A6CB-6302BF06268D}" type="sibTrans" cxnId="{A5C916F0-220A-45D2-9AEB-25CE34C5898D}">
      <dgm:prSet/>
      <dgm:spPr/>
      <dgm:t>
        <a:bodyPr/>
        <a:lstStyle/>
        <a:p>
          <a:endParaRPr lang="en-US"/>
        </a:p>
      </dgm:t>
    </dgm:pt>
    <dgm:pt modelId="{C3E6E3E8-E7A0-4FE9-94AA-7A1BEDC5874B}" type="pres">
      <dgm:prSet presAssocID="{E27058DE-3815-4AAD-8B85-8722AB52F8C4}" presName="vert0" presStyleCnt="0">
        <dgm:presLayoutVars>
          <dgm:dir/>
          <dgm:animOne val="branch"/>
          <dgm:animLvl val="lvl"/>
        </dgm:presLayoutVars>
      </dgm:prSet>
      <dgm:spPr/>
    </dgm:pt>
    <dgm:pt modelId="{D36767E4-57A9-46B4-AF22-19515DEE55CC}" type="pres">
      <dgm:prSet presAssocID="{92F01C0E-C9BA-41A0-AF90-DB6B74963CAC}" presName="thickLine" presStyleLbl="alignNode1" presStyleIdx="0" presStyleCnt="5"/>
      <dgm:spPr/>
    </dgm:pt>
    <dgm:pt modelId="{A031376E-F264-4BE9-9A52-13B8871392B7}" type="pres">
      <dgm:prSet presAssocID="{92F01C0E-C9BA-41A0-AF90-DB6B74963CAC}" presName="horz1" presStyleCnt="0"/>
      <dgm:spPr/>
    </dgm:pt>
    <dgm:pt modelId="{18C4EDE3-B012-4986-9E8B-1198BB416619}" type="pres">
      <dgm:prSet presAssocID="{92F01C0E-C9BA-41A0-AF90-DB6B74963CAC}" presName="tx1" presStyleLbl="revTx" presStyleIdx="0" presStyleCnt="5"/>
      <dgm:spPr/>
    </dgm:pt>
    <dgm:pt modelId="{1595B7B9-2036-4E6A-A452-1AD93C06211B}" type="pres">
      <dgm:prSet presAssocID="{92F01C0E-C9BA-41A0-AF90-DB6B74963CAC}" presName="vert1" presStyleCnt="0"/>
      <dgm:spPr/>
    </dgm:pt>
    <dgm:pt modelId="{ADBE483E-8AFB-49AD-9F20-2EC23FFE5FEA}" type="pres">
      <dgm:prSet presAssocID="{53390E58-A768-4E52-A4E4-7FB75CA96323}" presName="thickLine" presStyleLbl="alignNode1" presStyleIdx="1" presStyleCnt="5"/>
      <dgm:spPr/>
    </dgm:pt>
    <dgm:pt modelId="{2C0D7022-B94A-4DAE-BBF8-722CE9DC39A8}" type="pres">
      <dgm:prSet presAssocID="{53390E58-A768-4E52-A4E4-7FB75CA96323}" presName="horz1" presStyleCnt="0"/>
      <dgm:spPr/>
    </dgm:pt>
    <dgm:pt modelId="{EB321178-E32D-4CD6-8055-1C620EB9F456}" type="pres">
      <dgm:prSet presAssocID="{53390E58-A768-4E52-A4E4-7FB75CA96323}" presName="tx1" presStyleLbl="revTx" presStyleIdx="1" presStyleCnt="5"/>
      <dgm:spPr/>
    </dgm:pt>
    <dgm:pt modelId="{3FE957F4-5F14-4A21-B71F-8F2A48D4968D}" type="pres">
      <dgm:prSet presAssocID="{53390E58-A768-4E52-A4E4-7FB75CA96323}" presName="vert1" presStyleCnt="0"/>
      <dgm:spPr/>
    </dgm:pt>
    <dgm:pt modelId="{38C05771-0978-467A-B2B9-AFBC0765F85B}" type="pres">
      <dgm:prSet presAssocID="{D92E9339-606A-4F15-B145-C997F353F79A}" presName="thickLine" presStyleLbl="alignNode1" presStyleIdx="2" presStyleCnt="5"/>
      <dgm:spPr/>
    </dgm:pt>
    <dgm:pt modelId="{F583D6A9-CD9A-4436-96B7-9CF9914AAFF1}" type="pres">
      <dgm:prSet presAssocID="{D92E9339-606A-4F15-B145-C997F353F79A}" presName="horz1" presStyleCnt="0"/>
      <dgm:spPr/>
    </dgm:pt>
    <dgm:pt modelId="{193FCE8E-7CF5-4640-8CAC-8FE6A2D27320}" type="pres">
      <dgm:prSet presAssocID="{D92E9339-606A-4F15-B145-C997F353F79A}" presName="tx1" presStyleLbl="revTx" presStyleIdx="2" presStyleCnt="5"/>
      <dgm:spPr/>
    </dgm:pt>
    <dgm:pt modelId="{040B6702-4D9A-4FCE-989C-D0C4E6C11D2F}" type="pres">
      <dgm:prSet presAssocID="{D92E9339-606A-4F15-B145-C997F353F79A}" presName="vert1" presStyleCnt="0"/>
      <dgm:spPr/>
    </dgm:pt>
    <dgm:pt modelId="{FC0BF5F9-953E-4275-98D7-128F4D35BA6F}" type="pres">
      <dgm:prSet presAssocID="{B7F18DA3-5519-48ED-9A85-3A77BF4474E6}" presName="thickLine" presStyleLbl="alignNode1" presStyleIdx="3" presStyleCnt="5"/>
      <dgm:spPr/>
    </dgm:pt>
    <dgm:pt modelId="{CF707AD4-C95D-4B8A-B1AD-BB4B24A7BB96}" type="pres">
      <dgm:prSet presAssocID="{B7F18DA3-5519-48ED-9A85-3A77BF4474E6}" presName="horz1" presStyleCnt="0"/>
      <dgm:spPr/>
    </dgm:pt>
    <dgm:pt modelId="{3455531F-D7B8-4B4A-8AD0-005CBB44538F}" type="pres">
      <dgm:prSet presAssocID="{B7F18DA3-5519-48ED-9A85-3A77BF4474E6}" presName="tx1" presStyleLbl="revTx" presStyleIdx="3" presStyleCnt="5"/>
      <dgm:spPr/>
    </dgm:pt>
    <dgm:pt modelId="{4287E1FD-A7B3-4557-8AA4-24ED86B6ADBF}" type="pres">
      <dgm:prSet presAssocID="{B7F18DA3-5519-48ED-9A85-3A77BF4474E6}" presName="vert1" presStyleCnt="0"/>
      <dgm:spPr/>
    </dgm:pt>
    <dgm:pt modelId="{ED91413D-4351-4AC9-97A1-B7FD70B5A9D3}" type="pres">
      <dgm:prSet presAssocID="{2A033E3F-0C50-4FD0-9E0B-DF260A6EAD8C}" presName="thickLine" presStyleLbl="alignNode1" presStyleIdx="4" presStyleCnt="5"/>
      <dgm:spPr/>
    </dgm:pt>
    <dgm:pt modelId="{1CF098FF-E196-4869-8CD6-5D294D70FC4F}" type="pres">
      <dgm:prSet presAssocID="{2A033E3F-0C50-4FD0-9E0B-DF260A6EAD8C}" presName="horz1" presStyleCnt="0"/>
      <dgm:spPr/>
    </dgm:pt>
    <dgm:pt modelId="{2812F590-0F54-4E95-ACCB-01B33A3D3096}" type="pres">
      <dgm:prSet presAssocID="{2A033E3F-0C50-4FD0-9E0B-DF260A6EAD8C}" presName="tx1" presStyleLbl="revTx" presStyleIdx="4" presStyleCnt="5"/>
      <dgm:spPr/>
    </dgm:pt>
    <dgm:pt modelId="{C59C6E90-39F2-4FE0-8C6F-55E3B8A6ACAD}" type="pres">
      <dgm:prSet presAssocID="{2A033E3F-0C50-4FD0-9E0B-DF260A6EAD8C}" presName="vert1" presStyleCnt="0"/>
      <dgm:spPr/>
    </dgm:pt>
  </dgm:ptLst>
  <dgm:cxnLst>
    <dgm:cxn modelId="{7D4E9B2B-F7D0-40B0-8E6B-B367CF537128}" srcId="{E27058DE-3815-4AAD-8B85-8722AB52F8C4}" destId="{92F01C0E-C9BA-41A0-AF90-DB6B74963CAC}" srcOrd="0" destOrd="0" parTransId="{4C0680D7-EE09-4713-A786-2E677ED66AF7}" sibTransId="{7E912E48-B803-44D4-827C-5A5B4D2D1CF8}"/>
    <dgm:cxn modelId="{E5559A37-BD43-49B0-869E-D71A7B8C0D52}" type="presOf" srcId="{92F01C0E-C9BA-41A0-AF90-DB6B74963CAC}" destId="{18C4EDE3-B012-4986-9E8B-1198BB416619}" srcOrd="0" destOrd="0" presId="urn:microsoft.com/office/officeart/2008/layout/LinedList"/>
    <dgm:cxn modelId="{F9D6DB61-7852-413E-8BCC-8BABC3C8F655}" srcId="{E27058DE-3815-4AAD-8B85-8722AB52F8C4}" destId="{B7F18DA3-5519-48ED-9A85-3A77BF4474E6}" srcOrd="3" destOrd="0" parTransId="{03DACC9E-9E65-4EE7-8967-B9C7D6C30A1B}" sibTransId="{5E2D7830-259D-4B88-8D42-9D09450329A3}"/>
    <dgm:cxn modelId="{DE89FB45-001C-415D-AC83-9BEB4E27F0A1}" type="presOf" srcId="{D92E9339-606A-4F15-B145-C997F353F79A}" destId="{193FCE8E-7CF5-4640-8CAC-8FE6A2D27320}" srcOrd="0" destOrd="0" presId="urn:microsoft.com/office/officeart/2008/layout/LinedList"/>
    <dgm:cxn modelId="{F25B6E6A-E195-4A9C-ACBC-E9ED90AFB7E7}" type="presOf" srcId="{2A033E3F-0C50-4FD0-9E0B-DF260A6EAD8C}" destId="{2812F590-0F54-4E95-ACCB-01B33A3D3096}" srcOrd="0" destOrd="0" presId="urn:microsoft.com/office/officeart/2008/layout/LinedList"/>
    <dgm:cxn modelId="{9FEDA075-B3A9-42B2-B873-5662C31F2404}" srcId="{E27058DE-3815-4AAD-8B85-8722AB52F8C4}" destId="{D92E9339-606A-4F15-B145-C997F353F79A}" srcOrd="2" destOrd="0" parTransId="{89D6FAAC-CAB6-433C-872A-F3BF9DD34183}" sibTransId="{16A5F621-99F4-4254-9EAD-09F400A531BD}"/>
    <dgm:cxn modelId="{184CA355-E366-406F-B0C7-E6A699A77E49}" srcId="{E27058DE-3815-4AAD-8B85-8722AB52F8C4}" destId="{53390E58-A768-4E52-A4E4-7FB75CA96323}" srcOrd="1" destOrd="0" parTransId="{52E3D096-8CF5-43AD-BA4B-63D0D7180530}" sibTransId="{ECFD0EDC-61E8-4715-8BFB-E14A48C0BFEE}"/>
    <dgm:cxn modelId="{A7910EC4-7443-4F90-A6E9-74802C8F51A4}" type="presOf" srcId="{B7F18DA3-5519-48ED-9A85-3A77BF4474E6}" destId="{3455531F-D7B8-4B4A-8AD0-005CBB44538F}" srcOrd="0" destOrd="0" presId="urn:microsoft.com/office/officeart/2008/layout/LinedList"/>
    <dgm:cxn modelId="{0EA466DF-0729-47A3-9A7C-48067561FE19}" type="presOf" srcId="{53390E58-A768-4E52-A4E4-7FB75CA96323}" destId="{EB321178-E32D-4CD6-8055-1C620EB9F456}" srcOrd="0" destOrd="0" presId="urn:microsoft.com/office/officeart/2008/layout/LinedList"/>
    <dgm:cxn modelId="{A5C916F0-220A-45D2-9AEB-25CE34C5898D}" srcId="{E27058DE-3815-4AAD-8B85-8722AB52F8C4}" destId="{2A033E3F-0C50-4FD0-9E0B-DF260A6EAD8C}" srcOrd="4" destOrd="0" parTransId="{20A2D3C1-A423-4C44-9716-9455D91D3B84}" sibTransId="{92708A6B-D20A-4452-A6CB-6302BF06268D}"/>
    <dgm:cxn modelId="{4461F2F6-EDD3-4D08-B6AF-987767371362}" type="presOf" srcId="{E27058DE-3815-4AAD-8B85-8722AB52F8C4}" destId="{C3E6E3E8-E7A0-4FE9-94AA-7A1BEDC5874B}" srcOrd="0" destOrd="0" presId="urn:microsoft.com/office/officeart/2008/layout/LinedList"/>
    <dgm:cxn modelId="{E85ECE49-945A-4E42-8A71-85C645AF8845}" type="presParOf" srcId="{C3E6E3E8-E7A0-4FE9-94AA-7A1BEDC5874B}" destId="{D36767E4-57A9-46B4-AF22-19515DEE55CC}" srcOrd="0" destOrd="0" presId="urn:microsoft.com/office/officeart/2008/layout/LinedList"/>
    <dgm:cxn modelId="{E29A5216-29B0-4439-BB8F-15E1B89702F2}" type="presParOf" srcId="{C3E6E3E8-E7A0-4FE9-94AA-7A1BEDC5874B}" destId="{A031376E-F264-4BE9-9A52-13B8871392B7}" srcOrd="1" destOrd="0" presId="urn:microsoft.com/office/officeart/2008/layout/LinedList"/>
    <dgm:cxn modelId="{2F1712B5-C9A9-4004-8533-EDF352205F10}" type="presParOf" srcId="{A031376E-F264-4BE9-9A52-13B8871392B7}" destId="{18C4EDE3-B012-4986-9E8B-1198BB416619}" srcOrd="0" destOrd="0" presId="urn:microsoft.com/office/officeart/2008/layout/LinedList"/>
    <dgm:cxn modelId="{FD5D93DE-1ADB-4B27-B64D-2DEDABAFB4F1}" type="presParOf" srcId="{A031376E-F264-4BE9-9A52-13B8871392B7}" destId="{1595B7B9-2036-4E6A-A452-1AD93C06211B}" srcOrd="1" destOrd="0" presId="urn:microsoft.com/office/officeart/2008/layout/LinedList"/>
    <dgm:cxn modelId="{C4FD52E5-6EDD-4C2C-8A3D-78C1D48A32DE}" type="presParOf" srcId="{C3E6E3E8-E7A0-4FE9-94AA-7A1BEDC5874B}" destId="{ADBE483E-8AFB-49AD-9F20-2EC23FFE5FEA}" srcOrd="2" destOrd="0" presId="urn:microsoft.com/office/officeart/2008/layout/LinedList"/>
    <dgm:cxn modelId="{59F2792F-55E8-4165-9DAE-EF8498250424}" type="presParOf" srcId="{C3E6E3E8-E7A0-4FE9-94AA-7A1BEDC5874B}" destId="{2C0D7022-B94A-4DAE-BBF8-722CE9DC39A8}" srcOrd="3" destOrd="0" presId="urn:microsoft.com/office/officeart/2008/layout/LinedList"/>
    <dgm:cxn modelId="{3E1B3CBE-E598-4755-B16D-3F52018379A8}" type="presParOf" srcId="{2C0D7022-B94A-4DAE-BBF8-722CE9DC39A8}" destId="{EB321178-E32D-4CD6-8055-1C620EB9F456}" srcOrd="0" destOrd="0" presId="urn:microsoft.com/office/officeart/2008/layout/LinedList"/>
    <dgm:cxn modelId="{F04E9E30-F04B-4690-ACBB-46B438B56725}" type="presParOf" srcId="{2C0D7022-B94A-4DAE-BBF8-722CE9DC39A8}" destId="{3FE957F4-5F14-4A21-B71F-8F2A48D4968D}" srcOrd="1" destOrd="0" presId="urn:microsoft.com/office/officeart/2008/layout/LinedList"/>
    <dgm:cxn modelId="{35A2A594-A195-4D8C-9AF9-A1DCA62EB52D}" type="presParOf" srcId="{C3E6E3E8-E7A0-4FE9-94AA-7A1BEDC5874B}" destId="{38C05771-0978-467A-B2B9-AFBC0765F85B}" srcOrd="4" destOrd="0" presId="urn:microsoft.com/office/officeart/2008/layout/LinedList"/>
    <dgm:cxn modelId="{11F25574-92FB-4169-91C2-8E63E8FA992E}" type="presParOf" srcId="{C3E6E3E8-E7A0-4FE9-94AA-7A1BEDC5874B}" destId="{F583D6A9-CD9A-4436-96B7-9CF9914AAFF1}" srcOrd="5" destOrd="0" presId="urn:microsoft.com/office/officeart/2008/layout/LinedList"/>
    <dgm:cxn modelId="{111D18BC-38BF-45FF-9592-8F2E2FE04DB6}" type="presParOf" srcId="{F583D6A9-CD9A-4436-96B7-9CF9914AAFF1}" destId="{193FCE8E-7CF5-4640-8CAC-8FE6A2D27320}" srcOrd="0" destOrd="0" presId="urn:microsoft.com/office/officeart/2008/layout/LinedList"/>
    <dgm:cxn modelId="{24FE49A4-76B6-490E-80D2-313DFB2800EB}" type="presParOf" srcId="{F583D6A9-CD9A-4436-96B7-9CF9914AAFF1}" destId="{040B6702-4D9A-4FCE-989C-D0C4E6C11D2F}" srcOrd="1" destOrd="0" presId="urn:microsoft.com/office/officeart/2008/layout/LinedList"/>
    <dgm:cxn modelId="{D44A478A-7BBC-49F9-B25F-76877420F2F5}" type="presParOf" srcId="{C3E6E3E8-E7A0-4FE9-94AA-7A1BEDC5874B}" destId="{FC0BF5F9-953E-4275-98D7-128F4D35BA6F}" srcOrd="6" destOrd="0" presId="urn:microsoft.com/office/officeart/2008/layout/LinedList"/>
    <dgm:cxn modelId="{8C64ECB8-F840-482F-9A18-3EF5C280CE2B}" type="presParOf" srcId="{C3E6E3E8-E7A0-4FE9-94AA-7A1BEDC5874B}" destId="{CF707AD4-C95D-4B8A-B1AD-BB4B24A7BB96}" srcOrd="7" destOrd="0" presId="urn:microsoft.com/office/officeart/2008/layout/LinedList"/>
    <dgm:cxn modelId="{99B991B2-526D-4798-854A-33040C81221F}" type="presParOf" srcId="{CF707AD4-C95D-4B8A-B1AD-BB4B24A7BB96}" destId="{3455531F-D7B8-4B4A-8AD0-005CBB44538F}" srcOrd="0" destOrd="0" presId="urn:microsoft.com/office/officeart/2008/layout/LinedList"/>
    <dgm:cxn modelId="{D9380717-6253-4921-BA29-99571C2D91FB}" type="presParOf" srcId="{CF707AD4-C95D-4B8A-B1AD-BB4B24A7BB96}" destId="{4287E1FD-A7B3-4557-8AA4-24ED86B6ADBF}" srcOrd="1" destOrd="0" presId="urn:microsoft.com/office/officeart/2008/layout/LinedList"/>
    <dgm:cxn modelId="{2EEB9493-38BF-4827-B0FA-2F533B315C7F}" type="presParOf" srcId="{C3E6E3E8-E7A0-4FE9-94AA-7A1BEDC5874B}" destId="{ED91413D-4351-4AC9-97A1-B7FD70B5A9D3}" srcOrd="8" destOrd="0" presId="urn:microsoft.com/office/officeart/2008/layout/LinedList"/>
    <dgm:cxn modelId="{7CCB510F-5B1E-469D-BA99-99CA6B293206}" type="presParOf" srcId="{C3E6E3E8-E7A0-4FE9-94AA-7A1BEDC5874B}" destId="{1CF098FF-E196-4869-8CD6-5D294D70FC4F}" srcOrd="9" destOrd="0" presId="urn:microsoft.com/office/officeart/2008/layout/LinedList"/>
    <dgm:cxn modelId="{8D9BD4D7-B162-48F5-BD06-B0AA22463FE9}" type="presParOf" srcId="{1CF098FF-E196-4869-8CD6-5D294D70FC4F}" destId="{2812F590-0F54-4E95-ACCB-01B33A3D3096}" srcOrd="0" destOrd="0" presId="urn:microsoft.com/office/officeart/2008/layout/LinedList"/>
    <dgm:cxn modelId="{EABDA411-57CF-4172-9BBC-BAF36D255E87}" type="presParOf" srcId="{1CF098FF-E196-4869-8CD6-5D294D70FC4F}" destId="{C59C6E90-39F2-4FE0-8C6F-55E3B8A6ACAD}"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F9146EC-D359-42CF-8935-8970D06F1B2B}" type="doc">
      <dgm:prSet loTypeId="urn:microsoft.com/office/officeart/2005/8/layout/process2" loCatId="process" qsTypeId="urn:microsoft.com/office/officeart/2005/8/quickstyle/simple1" qsCatId="simple" csTypeId="urn:microsoft.com/office/officeart/2005/8/colors/colorful5" csCatId="colorful"/>
      <dgm:spPr/>
      <dgm:t>
        <a:bodyPr/>
        <a:lstStyle/>
        <a:p>
          <a:endParaRPr lang="en-US"/>
        </a:p>
      </dgm:t>
    </dgm:pt>
    <dgm:pt modelId="{5A46837D-6E6F-4F08-84EE-1E7EDBAB3BA4}">
      <dgm:prSet/>
      <dgm:spPr/>
      <dgm:t>
        <a:bodyPr/>
        <a:lstStyle/>
        <a:p>
          <a:r>
            <a:rPr lang="en-US"/>
            <a:t>Mặc dù hệ thống đã vận hành ổn định với 121 tệp tin mã nguồn, vẫn còn một số điểm cần cải thiện</a:t>
          </a:r>
        </a:p>
      </dgm:t>
    </dgm:pt>
    <dgm:pt modelId="{4ACD8A1C-E5C5-42BF-A1CB-7A00D23E12BA}" type="parTrans" cxnId="{A7892277-6E3F-41A2-BB0A-E9988CDBFF7F}">
      <dgm:prSet/>
      <dgm:spPr/>
      <dgm:t>
        <a:bodyPr/>
        <a:lstStyle/>
        <a:p>
          <a:endParaRPr lang="en-US"/>
        </a:p>
      </dgm:t>
    </dgm:pt>
    <dgm:pt modelId="{6AFFB869-BB42-42C3-8613-40AF836A6CFE}" type="sibTrans" cxnId="{A7892277-6E3F-41A2-BB0A-E9988CDBFF7F}">
      <dgm:prSet/>
      <dgm:spPr/>
      <dgm:t>
        <a:bodyPr/>
        <a:lstStyle/>
        <a:p>
          <a:endParaRPr lang="en-US"/>
        </a:p>
      </dgm:t>
    </dgm:pt>
    <dgm:pt modelId="{091806F5-1952-4838-B7EC-7733F7C9EEC7}">
      <dgm:prSet/>
      <dgm:spPr/>
      <dgm:t>
        <a:bodyPr/>
        <a:lstStyle/>
        <a:p>
          <a:r>
            <a:rPr lang="vi-VN" b="1"/>
            <a:t>Về Chatbot:</a:t>
          </a:r>
          <a:r>
            <a:rPr lang="vi-VN"/>
            <a:t> Cơ chế phản hồi hiện tại dựa trên kỹ thuật so khớp từ khóa (Keyword Matching), chưa ứng dụng các mô hình ngôn ngữ lớn để hiểu sâu ngữ cảnh phức tạp của người dùng.</a:t>
          </a:r>
          <a:endParaRPr lang="en-US"/>
        </a:p>
      </dgm:t>
    </dgm:pt>
    <dgm:pt modelId="{CFAFFE75-C6D4-48A9-A983-06A82A94EE20}" type="parTrans" cxnId="{71B0AD82-E1ED-4CE9-B399-3A7F636EB99B}">
      <dgm:prSet/>
      <dgm:spPr/>
      <dgm:t>
        <a:bodyPr/>
        <a:lstStyle/>
        <a:p>
          <a:endParaRPr lang="en-US"/>
        </a:p>
      </dgm:t>
    </dgm:pt>
    <dgm:pt modelId="{5FB8D58C-1D54-4DC8-9948-4D9CA290F22F}" type="sibTrans" cxnId="{71B0AD82-E1ED-4CE9-B399-3A7F636EB99B}">
      <dgm:prSet/>
      <dgm:spPr/>
      <dgm:t>
        <a:bodyPr/>
        <a:lstStyle/>
        <a:p>
          <a:endParaRPr lang="en-US"/>
        </a:p>
      </dgm:t>
    </dgm:pt>
    <dgm:pt modelId="{74E838C8-BB75-4367-BA27-5AE3BA163B73}">
      <dgm:prSet/>
      <dgm:spPr/>
      <dgm:t>
        <a:bodyPr/>
        <a:lstStyle/>
        <a:p>
          <a:r>
            <a:rPr lang="vi-VN" b="1"/>
            <a:t>Về Dữ liệu giá:</a:t>
          </a:r>
          <a:r>
            <a:rPr lang="vi-VN"/>
            <a:t> Thông tin trong bảng price_tracking vẫn cần sự cập nhật thủ công từ phía Quản trị viên, chưa có cơ chế tự động thu thập dữ liệu (Crawl) từ các sàn giao dịch quốc tế.</a:t>
          </a:r>
          <a:endParaRPr lang="en-US"/>
        </a:p>
      </dgm:t>
    </dgm:pt>
    <dgm:pt modelId="{BDAB7C98-530C-46EA-8647-EA49356C65BC}" type="parTrans" cxnId="{4BE78DE1-B7A0-4135-8A5C-A868D2BC073B}">
      <dgm:prSet/>
      <dgm:spPr/>
      <dgm:t>
        <a:bodyPr/>
        <a:lstStyle/>
        <a:p>
          <a:endParaRPr lang="en-US"/>
        </a:p>
      </dgm:t>
    </dgm:pt>
    <dgm:pt modelId="{B6AD896C-F4F2-4203-A1A0-8D15236C26F8}" type="sibTrans" cxnId="{4BE78DE1-B7A0-4135-8A5C-A868D2BC073B}">
      <dgm:prSet/>
      <dgm:spPr/>
      <dgm:t>
        <a:bodyPr/>
        <a:lstStyle/>
        <a:p>
          <a:endParaRPr lang="en-US"/>
        </a:p>
      </dgm:t>
    </dgm:pt>
    <dgm:pt modelId="{87325414-6B53-411F-820E-BF6EDB17C197}">
      <dgm:prSet/>
      <dgm:spPr/>
      <dgm:t>
        <a:bodyPr/>
        <a:lstStyle/>
        <a:p>
          <a:r>
            <a:rPr lang="vi-VN" b="1"/>
            <a:t>Về Hạ tầng:</a:t>
          </a:r>
          <a:r>
            <a:rPr lang="vi-VN"/>
            <a:t> Hệ thống hiện đang triển khai thực nghiệm trên môi trường Localhost (XAMPP), cần được triển khai lên Hosting thực tế để đánh giá hiệu năng dưới tải lượng người dùng lớn.</a:t>
          </a:r>
          <a:endParaRPr lang="en-US"/>
        </a:p>
      </dgm:t>
    </dgm:pt>
    <dgm:pt modelId="{B08AC7E4-36FE-4F1C-8986-CA8B342674E2}" type="parTrans" cxnId="{D2000A9F-AD2F-40CA-AF7D-390F2203FBEA}">
      <dgm:prSet/>
      <dgm:spPr/>
      <dgm:t>
        <a:bodyPr/>
        <a:lstStyle/>
        <a:p>
          <a:endParaRPr lang="en-US"/>
        </a:p>
      </dgm:t>
    </dgm:pt>
    <dgm:pt modelId="{B2B92E76-CE53-49B7-A30D-65F00781F27B}" type="sibTrans" cxnId="{D2000A9F-AD2F-40CA-AF7D-390F2203FBEA}">
      <dgm:prSet/>
      <dgm:spPr/>
      <dgm:t>
        <a:bodyPr/>
        <a:lstStyle/>
        <a:p>
          <a:endParaRPr lang="en-US"/>
        </a:p>
      </dgm:t>
    </dgm:pt>
    <dgm:pt modelId="{06DC3D94-7ADE-4825-BF9D-D628F2FF2866}" type="pres">
      <dgm:prSet presAssocID="{DF9146EC-D359-42CF-8935-8970D06F1B2B}" presName="linearFlow" presStyleCnt="0">
        <dgm:presLayoutVars>
          <dgm:resizeHandles val="exact"/>
        </dgm:presLayoutVars>
      </dgm:prSet>
      <dgm:spPr/>
    </dgm:pt>
    <dgm:pt modelId="{DD8535BA-0F82-4EA9-96C6-17B43DC6D997}" type="pres">
      <dgm:prSet presAssocID="{5A46837D-6E6F-4F08-84EE-1E7EDBAB3BA4}" presName="node" presStyleLbl="node1" presStyleIdx="0" presStyleCnt="4">
        <dgm:presLayoutVars>
          <dgm:bulletEnabled val="1"/>
        </dgm:presLayoutVars>
      </dgm:prSet>
      <dgm:spPr/>
    </dgm:pt>
    <dgm:pt modelId="{F6D6058B-9509-4C75-BC2E-799373D2A94B}" type="pres">
      <dgm:prSet presAssocID="{6AFFB869-BB42-42C3-8613-40AF836A6CFE}" presName="sibTrans" presStyleLbl="sibTrans2D1" presStyleIdx="0" presStyleCnt="3"/>
      <dgm:spPr/>
    </dgm:pt>
    <dgm:pt modelId="{9A0EF7D3-D759-407A-9967-41A7AA821523}" type="pres">
      <dgm:prSet presAssocID="{6AFFB869-BB42-42C3-8613-40AF836A6CFE}" presName="connectorText" presStyleLbl="sibTrans2D1" presStyleIdx="0" presStyleCnt="3"/>
      <dgm:spPr/>
    </dgm:pt>
    <dgm:pt modelId="{56782BD1-5E40-4E86-BF40-2AD06C414EBE}" type="pres">
      <dgm:prSet presAssocID="{091806F5-1952-4838-B7EC-7733F7C9EEC7}" presName="node" presStyleLbl="node1" presStyleIdx="1" presStyleCnt="4">
        <dgm:presLayoutVars>
          <dgm:bulletEnabled val="1"/>
        </dgm:presLayoutVars>
      </dgm:prSet>
      <dgm:spPr/>
    </dgm:pt>
    <dgm:pt modelId="{FDDCB54C-BBCB-47D7-8496-A22E1A491C33}" type="pres">
      <dgm:prSet presAssocID="{5FB8D58C-1D54-4DC8-9948-4D9CA290F22F}" presName="sibTrans" presStyleLbl="sibTrans2D1" presStyleIdx="1" presStyleCnt="3"/>
      <dgm:spPr/>
    </dgm:pt>
    <dgm:pt modelId="{BC54C490-1856-4DA4-894A-93234705330D}" type="pres">
      <dgm:prSet presAssocID="{5FB8D58C-1D54-4DC8-9948-4D9CA290F22F}" presName="connectorText" presStyleLbl="sibTrans2D1" presStyleIdx="1" presStyleCnt="3"/>
      <dgm:spPr/>
    </dgm:pt>
    <dgm:pt modelId="{3FF081B7-4719-401B-B4C5-200FE1FDCA3B}" type="pres">
      <dgm:prSet presAssocID="{74E838C8-BB75-4367-BA27-5AE3BA163B73}" presName="node" presStyleLbl="node1" presStyleIdx="2" presStyleCnt="4">
        <dgm:presLayoutVars>
          <dgm:bulletEnabled val="1"/>
        </dgm:presLayoutVars>
      </dgm:prSet>
      <dgm:spPr/>
    </dgm:pt>
    <dgm:pt modelId="{3AA9A7B8-CA82-4CD8-8266-B9627E64CCA2}" type="pres">
      <dgm:prSet presAssocID="{B6AD896C-F4F2-4203-A1A0-8D15236C26F8}" presName="sibTrans" presStyleLbl="sibTrans2D1" presStyleIdx="2" presStyleCnt="3"/>
      <dgm:spPr/>
    </dgm:pt>
    <dgm:pt modelId="{C4D0C6C2-0678-44AE-8B00-8065100B0CA9}" type="pres">
      <dgm:prSet presAssocID="{B6AD896C-F4F2-4203-A1A0-8D15236C26F8}" presName="connectorText" presStyleLbl="sibTrans2D1" presStyleIdx="2" presStyleCnt="3"/>
      <dgm:spPr/>
    </dgm:pt>
    <dgm:pt modelId="{21ED6A9E-51DD-46E0-A6C8-F1F77DC0AAF2}" type="pres">
      <dgm:prSet presAssocID="{87325414-6B53-411F-820E-BF6EDB17C197}" presName="node" presStyleLbl="node1" presStyleIdx="3" presStyleCnt="4">
        <dgm:presLayoutVars>
          <dgm:bulletEnabled val="1"/>
        </dgm:presLayoutVars>
      </dgm:prSet>
      <dgm:spPr/>
    </dgm:pt>
  </dgm:ptLst>
  <dgm:cxnLst>
    <dgm:cxn modelId="{B2FB6F26-F75B-4D16-8319-7CABF1CECAE3}" type="presOf" srcId="{B6AD896C-F4F2-4203-A1A0-8D15236C26F8}" destId="{C4D0C6C2-0678-44AE-8B00-8065100B0CA9}" srcOrd="1" destOrd="0" presId="urn:microsoft.com/office/officeart/2005/8/layout/process2"/>
    <dgm:cxn modelId="{8716FD32-F144-48F4-BA82-2E0B730287AD}" type="presOf" srcId="{6AFFB869-BB42-42C3-8613-40AF836A6CFE}" destId="{F6D6058B-9509-4C75-BC2E-799373D2A94B}" srcOrd="0" destOrd="0" presId="urn:microsoft.com/office/officeart/2005/8/layout/process2"/>
    <dgm:cxn modelId="{8A5C626A-3CE1-41E1-B935-B66698D1F4C7}" type="presOf" srcId="{5FB8D58C-1D54-4DC8-9948-4D9CA290F22F}" destId="{BC54C490-1856-4DA4-894A-93234705330D}" srcOrd="1" destOrd="0" presId="urn:microsoft.com/office/officeart/2005/8/layout/process2"/>
    <dgm:cxn modelId="{A7892277-6E3F-41A2-BB0A-E9988CDBFF7F}" srcId="{DF9146EC-D359-42CF-8935-8970D06F1B2B}" destId="{5A46837D-6E6F-4F08-84EE-1E7EDBAB3BA4}" srcOrd="0" destOrd="0" parTransId="{4ACD8A1C-E5C5-42BF-A1CB-7A00D23E12BA}" sibTransId="{6AFFB869-BB42-42C3-8613-40AF836A6CFE}"/>
    <dgm:cxn modelId="{255E2A79-3B26-4511-BC8F-888795D1B022}" type="presOf" srcId="{5FB8D58C-1D54-4DC8-9948-4D9CA290F22F}" destId="{FDDCB54C-BBCB-47D7-8496-A22E1A491C33}" srcOrd="0" destOrd="0" presId="urn:microsoft.com/office/officeart/2005/8/layout/process2"/>
    <dgm:cxn modelId="{8588C059-1B8D-4E0E-A0A9-349199BFE233}" type="presOf" srcId="{6AFFB869-BB42-42C3-8613-40AF836A6CFE}" destId="{9A0EF7D3-D759-407A-9967-41A7AA821523}" srcOrd="1" destOrd="0" presId="urn:microsoft.com/office/officeart/2005/8/layout/process2"/>
    <dgm:cxn modelId="{DB02F87B-7EE2-4325-992D-F485B48E8A77}" type="presOf" srcId="{87325414-6B53-411F-820E-BF6EDB17C197}" destId="{21ED6A9E-51DD-46E0-A6C8-F1F77DC0AAF2}" srcOrd="0" destOrd="0" presId="urn:microsoft.com/office/officeart/2005/8/layout/process2"/>
    <dgm:cxn modelId="{71B0AD82-E1ED-4CE9-B399-3A7F636EB99B}" srcId="{DF9146EC-D359-42CF-8935-8970D06F1B2B}" destId="{091806F5-1952-4838-B7EC-7733F7C9EEC7}" srcOrd="1" destOrd="0" parTransId="{CFAFFE75-C6D4-48A9-A983-06A82A94EE20}" sibTransId="{5FB8D58C-1D54-4DC8-9948-4D9CA290F22F}"/>
    <dgm:cxn modelId="{D9886494-3DB8-41AC-8152-AC83B648D850}" type="presOf" srcId="{DF9146EC-D359-42CF-8935-8970D06F1B2B}" destId="{06DC3D94-7ADE-4825-BF9D-D628F2FF2866}" srcOrd="0" destOrd="0" presId="urn:microsoft.com/office/officeart/2005/8/layout/process2"/>
    <dgm:cxn modelId="{DACD2699-F1D4-4FB8-B7E8-81337643023D}" type="presOf" srcId="{5A46837D-6E6F-4F08-84EE-1E7EDBAB3BA4}" destId="{DD8535BA-0F82-4EA9-96C6-17B43DC6D997}" srcOrd="0" destOrd="0" presId="urn:microsoft.com/office/officeart/2005/8/layout/process2"/>
    <dgm:cxn modelId="{C678F39C-C931-4D9F-9198-AF7F1359B561}" type="presOf" srcId="{091806F5-1952-4838-B7EC-7733F7C9EEC7}" destId="{56782BD1-5E40-4E86-BF40-2AD06C414EBE}" srcOrd="0" destOrd="0" presId="urn:microsoft.com/office/officeart/2005/8/layout/process2"/>
    <dgm:cxn modelId="{D2000A9F-AD2F-40CA-AF7D-390F2203FBEA}" srcId="{DF9146EC-D359-42CF-8935-8970D06F1B2B}" destId="{87325414-6B53-411F-820E-BF6EDB17C197}" srcOrd="3" destOrd="0" parTransId="{B08AC7E4-36FE-4F1C-8986-CA8B342674E2}" sibTransId="{B2B92E76-CE53-49B7-A30D-65F00781F27B}"/>
    <dgm:cxn modelId="{72639EA4-D330-49CB-8DF9-769A47E95EDC}" type="presOf" srcId="{74E838C8-BB75-4367-BA27-5AE3BA163B73}" destId="{3FF081B7-4719-401B-B4C5-200FE1FDCA3B}" srcOrd="0" destOrd="0" presId="urn:microsoft.com/office/officeart/2005/8/layout/process2"/>
    <dgm:cxn modelId="{C367D6C1-5C4C-47DC-8C24-929CEB2FDA1B}" type="presOf" srcId="{B6AD896C-F4F2-4203-A1A0-8D15236C26F8}" destId="{3AA9A7B8-CA82-4CD8-8266-B9627E64CCA2}" srcOrd="0" destOrd="0" presId="urn:microsoft.com/office/officeart/2005/8/layout/process2"/>
    <dgm:cxn modelId="{4BE78DE1-B7A0-4135-8A5C-A868D2BC073B}" srcId="{DF9146EC-D359-42CF-8935-8970D06F1B2B}" destId="{74E838C8-BB75-4367-BA27-5AE3BA163B73}" srcOrd="2" destOrd="0" parTransId="{BDAB7C98-530C-46EA-8647-EA49356C65BC}" sibTransId="{B6AD896C-F4F2-4203-A1A0-8D15236C26F8}"/>
    <dgm:cxn modelId="{F40E319B-0F86-4AAE-A222-7C754A9FECC8}" type="presParOf" srcId="{06DC3D94-7ADE-4825-BF9D-D628F2FF2866}" destId="{DD8535BA-0F82-4EA9-96C6-17B43DC6D997}" srcOrd="0" destOrd="0" presId="urn:microsoft.com/office/officeart/2005/8/layout/process2"/>
    <dgm:cxn modelId="{DE26DE83-B12A-4932-B6D1-DCB3EEDE0C2C}" type="presParOf" srcId="{06DC3D94-7ADE-4825-BF9D-D628F2FF2866}" destId="{F6D6058B-9509-4C75-BC2E-799373D2A94B}" srcOrd="1" destOrd="0" presId="urn:microsoft.com/office/officeart/2005/8/layout/process2"/>
    <dgm:cxn modelId="{475C5BE9-A3C1-40A9-A416-57A60AE9A92D}" type="presParOf" srcId="{F6D6058B-9509-4C75-BC2E-799373D2A94B}" destId="{9A0EF7D3-D759-407A-9967-41A7AA821523}" srcOrd="0" destOrd="0" presId="urn:microsoft.com/office/officeart/2005/8/layout/process2"/>
    <dgm:cxn modelId="{21418521-296F-4ABE-939D-ECA1E25D1BC2}" type="presParOf" srcId="{06DC3D94-7ADE-4825-BF9D-D628F2FF2866}" destId="{56782BD1-5E40-4E86-BF40-2AD06C414EBE}" srcOrd="2" destOrd="0" presId="urn:microsoft.com/office/officeart/2005/8/layout/process2"/>
    <dgm:cxn modelId="{89C27925-8750-4D92-90D0-6EFD6344FC97}" type="presParOf" srcId="{06DC3D94-7ADE-4825-BF9D-D628F2FF2866}" destId="{FDDCB54C-BBCB-47D7-8496-A22E1A491C33}" srcOrd="3" destOrd="0" presId="urn:microsoft.com/office/officeart/2005/8/layout/process2"/>
    <dgm:cxn modelId="{B260883D-0224-4BD6-9DC4-9449BA311996}" type="presParOf" srcId="{FDDCB54C-BBCB-47D7-8496-A22E1A491C33}" destId="{BC54C490-1856-4DA4-894A-93234705330D}" srcOrd="0" destOrd="0" presId="urn:microsoft.com/office/officeart/2005/8/layout/process2"/>
    <dgm:cxn modelId="{A7A3B9E6-66E1-4B62-9C8A-49F4815BA446}" type="presParOf" srcId="{06DC3D94-7ADE-4825-BF9D-D628F2FF2866}" destId="{3FF081B7-4719-401B-B4C5-200FE1FDCA3B}" srcOrd="4" destOrd="0" presId="urn:microsoft.com/office/officeart/2005/8/layout/process2"/>
    <dgm:cxn modelId="{F325B617-06AC-49ED-A784-EB11C0A3038E}" type="presParOf" srcId="{06DC3D94-7ADE-4825-BF9D-D628F2FF2866}" destId="{3AA9A7B8-CA82-4CD8-8266-B9627E64CCA2}" srcOrd="5" destOrd="0" presId="urn:microsoft.com/office/officeart/2005/8/layout/process2"/>
    <dgm:cxn modelId="{93875B24-D4C2-4DC8-AC10-D110C2BDD27B}" type="presParOf" srcId="{3AA9A7B8-CA82-4CD8-8266-B9627E64CCA2}" destId="{C4D0C6C2-0678-44AE-8B00-8065100B0CA9}" srcOrd="0" destOrd="0" presId="urn:microsoft.com/office/officeart/2005/8/layout/process2"/>
    <dgm:cxn modelId="{8D51AD95-8F7B-4E32-BB95-34D5CF031504}" type="presParOf" srcId="{06DC3D94-7ADE-4825-BF9D-D628F2FF2866}" destId="{21ED6A9E-51DD-46E0-A6C8-F1F77DC0AAF2}"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415B31CB-95DC-4F48-BFC6-711E05809089}"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42DDE5BD-1CF4-40FD-AD57-F05578DC6DC0}">
      <dgm:prSet/>
      <dgm:spPr/>
      <dgm:t>
        <a:bodyPr/>
        <a:lstStyle/>
        <a:p>
          <a:r>
            <a:rPr lang="vi-VN"/>
            <a:t>Để website thực sự trở thành một "Hệ sinh thái số" toàn diện, đề tài định hướng phát triển các module sau:</a:t>
          </a:r>
          <a:endParaRPr lang="en-US"/>
        </a:p>
      </dgm:t>
    </dgm:pt>
    <dgm:pt modelId="{BBE68DE9-1716-4ED8-97E5-CAC232B90362}" type="parTrans" cxnId="{44902767-A63C-465B-AE76-C63074FD89F3}">
      <dgm:prSet/>
      <dgm:spPr/>
      <dgm:t>
        <a:bodyPr/>
        <a:lstStyle/>
        <a:p>
          <a:endParaRPr lang="en-US"/>
        </a:p>
      </dgm:t>
    </dgm:pt>
    <dgm:pt modelId="{900503D8-67D2-41E1-BDBB-27A68A17EAAB}" type="sibTrans" cxnId="{44902767-A63C-465B-AE76-C63074FD89F3}">
      <dgm:prSet/>
      <dgm:spPr/>
      <dgm:t>
        <a:bodyPr/>
        <a:lstStyle/>
        <a:p>
          <a:endParaRPr lang="en-US"/>
        </a:p>
      </dgm:t>
    </dgm:pt>
    <dgm:pt modelId="{F281AA07-4869-451F-A163-013640CE97F4}">
      <dgm:prSet/>
      <dgm:spPr/>
      <dgm:t>
        <a:bodyPr/>
        <a:lstStyle/>
        <a:p>
          <a:r>
            <a:rPr lang="vi-VN" b="1"/>
            <a:t>Tích hợp hệ thống giám sát IoT (Internet of Things):</a:t>
          </a:r>
          <a:r>
            <a:rPr lang="vi-VN"/>
            <a:t> Kết nối website với các cảm biến tại ao nuôi để thu thập và hiển thị dữ liệu về độ pH, Oxy hòa tan, nhiệt độ nước theo thời gian thực .</a:t>
          </a:r>
          <a:endParaRPr lang="en-US"/>
        </a:p>
      </dgm:t>
    </dgm:pt>
    <dgm:pt modelId="{1D0D1BE1-E20A-4737-B318-A34DFE8FE224}" type="parTrans" cxnId="{7BC9F51C-412A-42CA-B8EE-500327433D42}">
      <dgm:prSet/>
      <dgm:spPr/>
      <dgm:t>
        <a:bodyPr/>
        <a:lstStyle/>
        <a:p>
          <a:endParaRPr lang="en-US"/>
        </a:p>
      </dgm:t>
    </dgm:pt>
    <dgm:pt modelId="{2BDB79DE-DAA0-4F9F-877D-CB442CAB398F}" type="sibTrans" cxnId="{7BC9F51C-412A-42CA-B8EE-500327433D42}">
      <dgm:prSet/>
      <dgm:spPr/>
      <dgm:t>
        <a:bodyPr/>
        <a:lstStyle/>
        <a:p>
          <a:endParaRPr lang="en-US"/>
        </a:p>
      </dgm:t>
    </dgm:pt>
    <dgm:pt modelId="{FC0DA460-6149-4578-A398-FAF4744D9234}">
      <dgm:prSet/>
      <dgm:spPr/>
      <dgm:t>
        <a:bodyPr/>
        <a:lstStyle/>
        <a:p>
          <a:r>
            <a:rPr lang="vi-VN" b="1"/>
            <a:t>Nâng cấp Trí tuệ nhân tạo (AI Deep Learning):</a:t>
          </a:r>
          <a:r>
            <a:rPr lang="vi-VN"/>
            <a:t> Tích hợp công nghệ nhận diện hình ảnh, cho phép nông dân chụp ảnh dấu hiệu trên tôm/cá để hệ thống tự động chẩn đoán bệnh chính xác hơn.</a:t>
          </a:r>
          <a:endParaRPr lang="en-US"/>
        </a:p>
      </dgm:t>
    </dgm:pt>
    <dgm:pt modelId="{5185742E-2B3F-4AB2-ABC8-7156BB261207}" type="parTrans" cxnId="{85076AEC-82A9-4AFD-95F6-D84692B98414}">
      <dgm:prSet/>
      <dgm:spPr/>
      <dgm:t>
        <a:bodyPr/>
        <a:lstStyle/>
        <a:p>
          <a:endParaRPr lang="en-US"/>
        </a:p>
      </dgm:t>
    </dgm:pt>
    <dgm:pt modelId="{817BB211-EF84-42C5-9B5F-83EE37BE2FC0}" type="sibTrans" cxnId="{85076AEC-82A9-4AFD-95F6-D84692B98414}">
      <dgm:prSet/>
      <dgm:spPr/>
      <dgm:t>
        <a:bodyPr/>
        <a:lstStyle/>
        <a:p>
          <a:endParaRPr lang="en-US"/>
        </a:p>
      </dgm:t>
    </dgm:pt>
    <dgm:pt modelId="{F0422F89-54C9-4576-B6C7-A8CE58CF672F}">
      <dgm:prSet/>
      <dgm:spPr/>
      <dgm:t>
        <a:bodyPr/>
        <a:lstStyle/>
        <a:p>
          <a:r>
            <a:rPr lang="en-US" b="1"/>
            <a:t>Phát triển Mobile App bản địa:</a:t>
          </a:r>
          <a:r>
            <a:rPr lang="en-US"/>
            <a:t> Chuyển đổi hệ thống sang nền tảng Android/iOS để hỗ trợ tính năng thông báo đẩy (Push Notification) về cảnh báo dịch bệnh khẩn cấp.</a:t>
          </a:r>
        </a:p>
      </dgm:t>
    </dgm:pt>
    <dgm:pt modelId="{84DE9C62-73B1-4D9A-8B76-7A1A06504074}" type="parTrans" cxnId="{C94224E3-6CE2-4C09-8641-638FA0541930}">
      <dgm:prSet/>
      <dgm:spPr/>
      <dgm:t>
        <a:bodyPr/>
        <a:lstStyle/>
        <a:p>
          <a:endParaRPr lang="en-US"/>
        </a:p>
      </dgm:t>
    </dgm:pt>
    <dgm:pt modelId="{FF2E8B8A-9FF5-4299-AA34-B6181F59565D}" type="sibTrans" cxnId="{C94224E3-6CE2-4C09-8641-638FA0541930}">
      <dgm:prSet/>
      <dgm:spPr/>
      <dgm:t>
        <a:bodyPr/>
        <a:lstStyle/>
        <a:p>
          <a:endParaRPr lang="en-US"/>
        </a:p>
      </dgm:t>
    </dgm:pt>
    <dgm:pt modelId="{1887DA42-4786-411C-8DD6-C4B4BF9C83A5}">
      <dgm:prSet/>
      <dgm:spPr/>
      <dgm:t>
        <a:bodyPr/>
        <a:lstStyle/>
        <a:p>
          <a:r>
            <a:rPr lang="vi-VN" b="1"/>
            <a:t>Mở rộng Sàn giao dịch thương mại điện tử:</a:t>
          </a:r>
          <a:r>
            <a:rPr lang="vi-VN"/>
            <a:t> Xây dựng tính năng kết nối trực tiếp giữa người nuôi và các doanh nghiệp thu mua, giúp giảm thiểu khâu trung gian và tối ưu giá trị nông sản.</a:t>
          </a:r>
          <a:endParaRPr lang="en-US"/>
        </a:p>
      </dgm:t>
    </dgm:pt>
    <dgm:pt modelId="{82CB2CFC-5226-474C-B0FB-5D3EFB9A7AE5}" type="parTrans" cxnId="{220189D4-9BB2-4D97-8B75-8E929FB28095}">
      <dgm:prSet/>
      <dgm:spPr/>
      <dgm:t>
        <a:bodyPr/>
        <a:lstStyle/>
        <a:p>
          <a:endParaRPr lang="en-US"/>
        </a:p>
      </dgm:t>
    </dgm:pt>
    <dgm:pt modelId="{10ADACA4-4CF4-44AA-981E-FEFAEE866B08}" type="sibTrans" cxnId="{220189D4-9BB2-4D97-8B75-8E929FB28095}">
      <dgm:prSet/>
      <dgm:spPr/>
      <dgm:t>
        <a:bodyPr/>
        <a:lstStyle/>
        <a:p>
          <a:endParaRPr lang="en-US"/>
        </a:p>
      </dgm:t>
    </dgm:pt>
    <dgm:pt modelId="{ED36760C-E7F3-476A-8CBA-CA5E894B77EC}" type="pres">
      <dgm:prSet presAssocID="{415B31CB-95DC-4F48-BFC6-711E05809089}" presName="linear" presStyleCnt="0">
        <dgm:presLayoutVars>
          <dgm:animLvl val="lvl"/>
          <dgm:resizeHandles val="exact"/>
        </dgm:presLayoutVars>
      </dgm:prSet>
      <dgm:spPr/>
    </dgm:pt>
    <dgm:pt modelId="{9D58869B-C27A-46CD-9093-A7D7DB450468}" type="pres">
      <dgm:prSet presAssocID="{42DDE5BD-1CF4-40FD-AD57-F05578DC6DC0}" presName="parentText" presStyleLbl="node1" presStyleIdx="0" presStyleCnt="5">
        <dgm:presLayoutVars>
          <dgm:chMax val="0"/>
          <dgm:bulletEnabled val="1"/>
        </dgm:presLayoutVars>
      </dgm:prSet>
      <dgm:spPr/>
    </dgm:pt>
    <dgm:pt modelId="{F800C16C-04A1-4983-8FC5-43E7B29A1AD2}" type="pres">
      <dgm:prSet presAssocID="{900503D8-67D2-41E1-BDBB-27A68A17EAAB}" presName="spacer" presStyleCnt="0"/>
      <dgm:spPr/>
    </dgm:pt>
    <dgm:pt modelId="{BE2097EC-FB09-4107-B55B-948D9CAB2903}" type="pres">
      <dgm:prSet presAssocID="{F281AA07-4869-451F-A163-013640CE97F4}" presName="parentText" presStyleLbl="node1" presStyleIdx="1" presStyleCnt="5">
        <dgm:presLayoutVars>
          <dgm:chMax val="0"/>
          <dgm:bulletEnabled val="1"/>
        </dgm:presLayoutVars>
      </dgm:prSet>
      <dgm:spPr/>
    </dgm:pt>
    <dgm:pt modelId="{E7000ED6-FE98-46B9-ABF7-19D957B0EA05}" type="pres">
      <dgm:prSet presAssocID="{2BDB79DE-DAA0-4F9F-877D-CB442CAB398F}" presName="spacer" presStyleCnt="0"/>
      <dgm:spPr/>
    </dgm:pt>
    <dgm:pt modelId="{36332828-A75B-4703-9C80-E527786569B3}" type="pres">
      <dgm:prSet presAssocID="{FC0DA460-6149-4578-A398-FAF4744D9234}" presName="parentText" presStyleLbl="node1" presStyleIdx="2" presStyleCnt="5">
        <dgm:presLayoutVars>
          <dgm:chMax val="0"/>
          <dgm:bulletEnabled val="1"/>
        </dgm:presLayoutVars>
      </dgm:prSet>
      <dgm:spPr/>
    </dgm:pt>
    <dgm:pt modelId="{372AF34E-4D16-4100-8304-48851DB399E8}" type="pres">
      <dgm:prSet presAssocID="{817BB211-EF84-42C5-9B5F-83EE37BE2FC0}" presName="spacer" presStyleCnt="0"/>
      <dgm:spPr/>
    </dgm:pt>
    <dgm:pt modelId="{55F384CF-8C82-442F-9F92-B024D803375A}" type="pres">
      <dgm:prSet presAssocID="{F0422F89-54C9-4576-B6C7-A8CE58CF672F}" presName="parentText" presStyleLbl="node1" presStyleIdx="3" presStyleCnt="5">
        <dgm:presLayoutVars>
          <dgm:chMax val="0"/>
          <dgm:bulletEnabled val="1"/>
        </dgm:presLayoutVars>
      </dgm:prSet>
      <dgm:spPr/>
    </dgm:pt>
    <dgm:pt modelId="{0AAFC77A-0525-4CAF-9C47-BE7F73E314D5}" type="pres">
      <dgm:prSet presAssocID="{FF2E8B8A-9FF5-4299-AA34-B6181F59565D}" presName="spacer" presStyleCnt="0"/>
      <dgm:spPr/>
    </dgm:pt>
    <dgm:pt modelId="{4CD06187-1996-4526-871F-FEEB7BED5D4B}" type="pres">
      <dgm:prSet presAssocID="{1887DA42-4786-411C-8DD6-C4B4BF9C83A5}" presName="parentText" presStyleLbl="node1" presStyleIdx="4" presStyleCnt="5">
        <dgm:presLayoutVars>
          <dgm:chMax val="0"/>
          <dgm:bulletEnabled val="1"/>
        </dgm:presLayoutVars>
      </dgm:prSet>
      <dgm:spPr/>
    </dgm:pt>
  </dgm:ptLst>
  <dgm:cxnLst>
    <dgm:cxn modelId="{7BC9F51C-412A-42CA-B8EE-500327433D42}" srcId="{415B31CB-95DC-4F48-BFC6-711E05809089}" destId="{F281AA07-4869-451F-A163-013640CE97F4}" srcOrd="1" destOrd="0" parTransId="{1D0D1BE1-E20A-4737-B318-A34DFE8FE224}" sibTransId="{2BDB79DE-DAA0-4F9F-877D-CB442CAB398F}"/>
    <dgm:cxn modelId="{A19DB162-E173-4BB2-86D8-E245D496BA64}" type="presOf" srcId="{415B31CB-95DC-4F48-BFC6-711E05809089}" destId="{ED36760C-E7F3-476A-8CBA-CA5E894B77EC}" srcOrd="0" destOrd="0" presId="urn:microsoft.com/office/officeart/2005/8/layout/vList2"/>
    <dgm:cxn modelId="{44902767-A63C-465B-AE76-C63074FD89F3}" srcId="{415B31CB-95DC-4F48-BFC6-711E05809089}" destId="{42DDE5BD-1CF4-40FD-AD57-F05578DC6DC0}" srcOrd="0" destOrd="0" parTransId="{BBE68DE9-1716-4ED8-97E5-CAC232B90362}" sibTransId="{900503D8-67D2-41E1-BDBB-27A68A17EAAB}"/>
    <dgm:cxn modelId="{2228376D-0B37-4F95-A528-C986739797CB}" type="presOf" srcId="{1887DA42-4786-411C-8DD6-C4B4BF9C83A5}" destId="{4CD06187-1996-4526-871F-FEEB7BED5D4B}" srcOrd="0" destOrd="0" presId="urn:microsoft.com/office/officeart/2005/8/layout/vList2"/>
    <dgm:cxn modelId="{E1512379-CF5D-4099-8E2E-2807267BDC88}" type="presOf" srcId="{42DDE5BD-1CF4-40FD-AD57-F05578DC6DC0}" destId="{9D58869B-C27A-46CD-9093-A7D7DB450468}" srcOrd="0" destOrd="0" presId="urn:microsoft.com/office/officeart/2005/8/layout/vList2"/>
    <dgm:cxn modelId="{9C0A75AA-9EE0-4E3E-8FE8-F942C0146EE7}" type="presOf" srcId="{F281AA07-4869-451F-A163-013640CE97F4}" destId="{BE2097EC-FB09-4107-B55B-948D9CAB2903}" srcOrd="0" destOrd="0" presId="urn:microsoft.com/office/officeart/2005/8/layout/vList2"/>
    <dgm:cxn modelId="{6F4A9BD0-E19E-4F82-B84E-7013C92B82B4}" type="presOf" srcId="{FC0DA460-6149-4578-A398-FAF4744D9234}" destId="{36332828-A75B-4703-9C80-E527786569B3}" srcOrd="0" destOrd="0" presId="urn:microsoft.com/office/officeart/2005/8/layout/vList2"/>
    <dgm:cxn modelId="{DD11F3D0-43A6-49A8-B3BB-A3DECCFBDC37}" type="presOf" srcId="{F0422F89-54C9-4576-B6C7-A8CE58CF672F}" destId="{55F384CF-8C82-442F-9F92-B024D803375A}" srcOrd="0" destOrd="0" presId="urn:microsoft.com/office/officeart/2005/8/layout/vList2"/>
    <dgm:cxn modelId="{220189D4-9BB2-4D97-8B75-8E929FB28095}" srcId="{415B31CB-95DC-4F48-BFC6-711E05809089}" destId="{1887DA42-4786-411C-8DD6-C4B4BF9C83A5}" srcOrd="4" destOrd="0" parTransId="{82CB2CFC-5226-474C-B0FB-5D3EFB9A7AE5}" sibTransId="{10ADACA4-4CF4-44AA-981E-FEFAEE866B08}"/>
    <dgm:cxn modelId="{C94224E3-6CE2-4C09-8641-638FA0541930}" srcId="{415B31CB-95DC-4F48-BFC6-711E05809089}" destId="{F0422F89-54C9-4576-B6C7-A8CE58CF672F}" srcOrd="3" destOrd="0" parTransId="{84DE9C62-73B1-4D9A-8B76-7A1A06504074}" sibTransId="{FF2E8B8A-9FF5-4299-AA34-B6181F59565D}"/>
    <dgm:cxn modelId="{85076AEC-82A9-4AFD-95F6-D84692B98414}" srcId="{415B31CB-95DC-4F48-BFC6-711E05809089}" destId="{FC0DA460-6149-4578-A398-FAF4744D9234}" srcOrd="2" destOrd="0" parTransId="{5185742E-2B3F-4AB2-ABC8-7156BB261207}" sibTransId="{817BB211-EF84-42C5-9B5F-83EE37BE2FC0}"/>
    <dgm:cxn modelId="{4E39537A-58FB-417F-9AA8-BDA92E83777C}" type="presParOf" srcId="{ED36760C-E7F3-476A-8CBA-CA5E894B77EC}" destId="{9D58869B-C27A-46CD-9093-A7D7DB450468}" srcOrd="0" destOrd="0" presId="urn:microsoft.com/office/officeart/2005/8/layout/vList2"/>
    <dgm:cxn modelId="{519D2C88-3970-466F-BC7D-C2F0FA9AE5F3}" type="presParOf" srcId="{ED36760C-E7F3-476A-8CBA-CA5E894B77EC}" destId="{F800C16C-04A1-4983-8FC5-43E7B29A1AD2}" srcOrd="1" destOrd="0" presId="urn:microsoft.com/office/officeart/2005/8/layout/vList2"/>
    <dgm:cxn modelId="{367A45B2-544A-481E-8907-1E05C65AD6AF}" type="presParOf" srcId="{ED36760C-E7F3-476A-8CBA-CA5E894B77EC}" destId="{BE2097EC-FB09-4107-B55B-948D9CAB2903}" srcOrd="2" destOrd="0" presId="urn:microsoft.com/office/officeart/2005/8/layout/vList2"/>
    <dgm:cxn modelId="{09D22326-99E5-4CAB-A627-D21791CA6033}" type="presParOf" srcId="{ED36760C-E7F3-476A-8CBA-CA5E894B77EC}" destId="{E7000ED6-FE98-46B9-ABF7-19D957B0EA05}" srcOrd="3" destOrd="0" presId="urn:microsoft.com/office/officeart/2005/8/layout/vList2"/>
    <dgm:cxn modelId="{AE78C8F5-BA0F-447B-93DD-1C31C965A645}" type="presParOf" srcId="{ED36760C-E7F3-476A-8CBA-CA5E894B77EC}" destId="{36332828-A75B-4703-9C80-E527786569B3}" srcOrd="4" destOrd="0" presId="urn:microsoft.com/office/officeart/2005/8/layout/vList2"/>
    <dgm:cxn modelId="{F7F15BE0-A531-43A2-80B3-E941FAF1B8FD}" type="presParOf" srcId="{ED36760C-E7F3-476A-8CBA-CA5E894B77EC}" destId="{372AF34E-4D16-4100-8304-48851DB399E8}" srcOrd="5" destOrd="0" presId="urn:microsoft.com/office/officeart/2005/8/layout/vList2"/>
    <dgm:cxn modelId="{6F8EE8C8-ED95-46F1-B1C8-06BC74662C68}" type="presParOf" srcId="{ED36760C-E7F3-476A-8CBA-CA5E894B77EC}" destId="{55F384CF-8C82-442F-9F92-B024D803375A}" srcOrd="6" destOrd="0" presId="urn:microsoft.com/office/officeart/2005/8/layout/vList2"/>
    <dgm:cxn modelId="{D62055FF-716B-4688-A716-0B916F1CA31C}" type="presParOf" srcId="{ED36760C-E7F3-476A-8CBA-CA5E894B77EC}" destId="{0AAFC77A-0525-4CAF-9C47-BE7F73E314D5}" srcOrd="7" destOrd="0" presId="urn:microsoft.com/office/officeart/2005/8/layout/vList2"/>
    <dgm:cxn modelId="{5C54B17D-4298-421E-A697-9F110790C4D8}" type="presParOf" srcId="{ED36760C-E7F3-476A-8CBA-CA5E894B77EC}" destId="{4CD06187-1996-4526-871F-FEEB7BED5D4B}"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6767E4-57A9-46B4-AF22-19515DEE55CC}">
      <dsp:nvSpPr>
        <dsp:cNvPr id="0" name=""/>
        <dsp:cNvSpPr/>
      </dsp:nvSpPr>
      <dsp:spPr>
        <a:xfrm>
          <a:off x="0" y="686"/>
          <a:ext cx="5660923"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8C4EDE3-B012-4986-9E8B-1198BB416619}">
      <dsp:nvSpPr>
        <dsp:cNvPr id="0" name=""/>
        <dsp:cNvSpPr/>
      </dsp:nvSpPr>
      <dsp:spPr>
        <a:xfrm>
          <a:off x="0" y="686"/>
          <a:ext cx="5660923" cy="11237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b="0" kern="1200"/>
            <a:t>1. TỔNG QUAN ĐỀ TÀI</a:t>
          </a:r>
        </a:p>
      </dsp:txBody>
      <dsp:txXfrm>
        <a:off x="0" y="686"/>
        <a:ext cx="5660923" cy="1123736"/>
      </dsp:txXfrm>
    </dsp:sp>
    <dsp:sp modelId="{ADBE483E-8AFB-49AD-9F20-2EC23FFE5FEA}">
      <dsp:nvSpPr>
        <dsp:cNvPr id="0" name=""/>
        <dsp:cNvSpPr/>
      </dsp:nvSpPr>
      <dsp:spPr>
        <a:xfrm>
          <a:off x="0" y="1124423"/>
          <a:ext cx="5660923" cy="0"/>
        </a:xfrm>
        <a:prstGeom prst="line">
          <a:avLst/>
        </a:prstGeom>
        <a:solidFill>
          <a:schemeClr val="accent2">
            <a:hueOff val="1610903"/>
            <a:satOff val="-4623"/>
            <a:lumOff val="-7402"/>
            <a:alphaOff val="0"/>
          </a:schemeClr>
        </a:solidFill>
        <a:ln w="19050" cap="flat" cmpd="sng" algn="ctr">
          <a:solidFill>
            <a:schemeClr val="accent2">
              <a:hueOff val="1610903"/>
              <a:satOff val="-4623"/>
              <a:lumOff val="-74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B321178-E32D-4CD6-8055-1C620EB9F456}">
      <dsp:nvSpPr>
        <dsp:cNvPr id="0" name=""/>
        <dsp:cNvSpPr/>
      </dsp:nvSpPr>
      <dsp:spPr>
        <a:xfrm>
          <a:off x="0" y="1124423"/>
          <a:ext cx="5660923" cy="11237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2. MỤC TIÊU WEBSITE</a:t>
          </a:r>
          <a:endParaRPr lang="en-US" sz="2700" b="1" kern="1200"/>
        </a:p>
      </dsp:txBody>
      <dsp:txXfrm>
        <a:off x="0" y="1124423"/>
        <a:ext cx="5660923" cy="1123736"/>
      </dsp:txXfrm>
    </dsp:sp>
    <dsp:sp modelId="{38C05771-0978-467A-B2B9-AFBC0765F85B}">
      <dsp:nvSpPr>
        <dsp:cNvPr id="0" name=""/>
        <dsp:cNvSpPr/>
      </dsp:nvSpPr>
      <dsp:spPr>
        <a:xfrm>
          <a:off x="0" y="2248160"/>
          <a:ext cx="5660923" cy="0"/>
        </a:xfrm>
        <a:prstGeom prst="line">
          <a:avLst/>
        </a:prstGeom>
        <a:solidFill>
          <a:schemeClr val="accent2">
            <a:hueOff val="3221807"/>
            <a:satOff val="-9246"/>
            <a:lumOff val="-14805"/>
            <a:alphaOff val="0"/>
          </a:schemeClr>
        </a:solidFill>
        <a:ln w="19050" cap="flat" cmpd="sng" algn="ctr">
          <a:solidFill>
            <a:schemeClr val="accent2">
              <a:hueOff val="3221807"/>
              <a:satOff val="-9246"/>
              <a:lumOff val="-1480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93FCE8E-7CF5-4640-8CAC-8FE6A2D27320}">
      <dsp:nvSpPr>
        <dsp:cNvPr id="0" name=""/>
        <dsp:cNvSpPr/>
      </dsp:nvSpPr>
      <dsp:spPr>
        <a:xfrm>
          <a:off x="0" y="2248160"/>
          <a:ext cx="5660923" cy="11237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3. PHÂN TÍCH HỆ THỐNG</a:t>
          </a:r>
          <a:endParaRPr lang="en-US" sz="2700" b="1" kern="1200"/>
        </a:p>
      </dsp:txBody>
      <dsp:txXfrm>
        <a:off x="0" y="2248160"/>
        <a:ext cx="5660923" cy="1123736"/>
      </dsp:txXfrm>
    </dsp:sp>
    <dsp:sp modelId="{FC0BF5F9-953E-4275-98D7-128F4D35BA6F}">
      <dsp:nvSpPr>
        <dsp:cNvPr id="0" name=""/>
        <dsp:cNvSpPr/>
      </dsp:nvSpPr>
      <dsp:spPr>
        <a:xfrm>
          <a:off x="0" y="3371896"/>
          <a:ext cx="5660923" cy="0"/>
        </a:xfrm>
        <a:prstGeom prst="line">
          <a:avLst/>
        </a:prstGeom>
        <a:solidFill>
          <a:schemeClr val="accent2">
            <a:hueOff val="4832710"/>
            <a:satOff val="-13870"/>
            <a:lumOff val="-22207"/>
            <a:alphaOff val="0"/>
          </a:schemeClr>
        </a:solidFill>
        <a:ln w="19050" cap="flat" cmpd="sng" algn="ctr">
          <a:solidFill>
            <a:schemeClr val="accent2">
              <a:hueOff val="4832710"/>
              <a:satOff val="-13870"/>
              <a:lumOff val="-2220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455531F-D7B8-4B4A-8AD0-005CBB44538F}">
      <dsp:nvSpPr>
        <dsp:cNvPr id="0" name=""/>
        <dsp:cNvSpPr/>
      </dsp:nvSpPr>
      <dsp:spPr>
        <a:xfrm>
          <a:off x="0" y="3371896"/>
          <a:ext cx="5660923" cy="11237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4. DEMO SẢN PHẨM</a:t>
          </a:r>
          <a:endParaRPr lang="en-US" sz="2700" b="1" kern="1200"/>
        </a:p>
      </dsp:txBody>
      <dsp:txXfrm>
        <a:off x="0" y="3371896"/>
        <a:ext cx="5660923" cy="1123736"/>
      </dsp:txXfrm>
    </dsp:sp>
    <dsp:sp modelId="{ED91413D-4351-4AC9-97A1-B7FD70B5A9D3}">
      <dsp:nvSpPr>
        <dsp:cNvPr id="0" name=""/>
        <dsp:cNvSpPr/>
      </dsp:nvSpPr>
      <dsp:spPr>
        <a:xfrm>
          <a:off x="0" y="4495633"/>
          <a:ext cx="5660923"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12F590-0F54-4E95-ACCB-01B33A3D3096}">
      <dsp:nvSpPr>
        <dsp:cNvPr id="0" name=""/>
        <dsp:cNvSpPr/>
      </dsp:nvSpPr>
      <dsp:spPr>
        <a:xfrm>
          <a:off x="0" y="4495633"/>
          <a:ext cx="5660923" cy="11237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t" anchorCtr="0">
          <a:noAutofit/>
        </a:bodyPr>
        <a:lstStyle/>
        <a:p>
          <a:pPr marL="0" lvl="0" indent="0" algn="l" defTabSz="1200150">
            <a:lnSpc>
              <a:spcPct val="90000"/>
            </a:lnSpc>
            <a:spcBef>
              <a:spcPct val="0"/>
            </a:spcBef>
            <a:spcAft>
              <a:spcPct val="35000"/>
            </a:spcAft>
            <a:buNone/>
          </a:pPr>
          <a:r>
            <a:rPr lang="en-US" sz="2700" kern="1200"/>
            <a:t>5. KẾT LUẬN VÀ HƯỚNG PHÁT TRIỂN</a:t>
          </a:r>
          <a:endParaRPr lang="en-US" sz="2700" b="1" kern="1200"/>
        </a:p>
      </dsp:txBody>
      <dsp:txXfrm>
        <a:off x="0" y="4495633"/>
        <a:ext cx="5660923" cy="112373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8535BA-0F82-4EA9-96C6-17B43DC6D997}">
      <dsp:nvSpPr>
        <dsp:cNvPr id="0" name=""/>
        <dsp:cNvSpPr/>
      </dsp:nvSpPr>
      <dsp:spPr>
        <a:xfrm>
          <a:off x="877673" y="2772"/>
          <a:ext cx="4055780" cy="1031395"/>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Mặc dù hệ thống đã vận hành ổn định với 121 tệp tin mã nguồn, vẫn còn một số điểm cần cải thiện</a:t>
          </a:r>
        </a:p>
      </dsp:txBody>
      <dsp:txXfrm>
        <a:off x="907882" y="32981"/>
        <a:ext cx="3995362" cy="970977"/>
      </dsp:txXfrm>
    </dsp:sp>
    <dsp:sp modelId="{F6D6058B-9509-4C75-BC2E-799373D2A94B}">
      <dsp:nvSpPr>
        <dsp:cNvPr id="0" name=""/>
        <dsp:cNvSpPr/>
      </dsp:nvSpPr>
      <dsp:spPr>
        <a:xfrm rot="5400000">
          <a:off x="2712177" y="1059952"/>
          <a:ext cx="386773" cy="46412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en-US" sz="1100" kern="1200"/>
        </a:p>
      </dsp:txBody>
      <dsp:txXfrm rot="-5400000">
        <a:off x="2766325" y="1098629"/>
        <a:ext cx="278477" cy="270741"/>
      </dsp:txXfrm>
    </dsp:sp>
    <dsp:sp modelId="{56782BD1-5E40-4E86-BF40-2AD06C414EBE}">
      <dsp:nvSpPr>
        <dsp:cNvPr id="0" name=""/>
        <dsp:cNvSpPr/>
      </dsp:nvSpPr>
      <dsp:spPr>
        <a:xfrm>
          <a:off x="877673" y="1549865"/>
          <a:ext cx="4055780" cy="1031395"/>
        </a:xfrm>
        <a:prstGeom prst="roundRect">
          <a:avLst>
            <a:gd name="adj" fmla="val 10000"/>
          </a:avLst>
        </a:prstGeom>
        <a:solidFill>
          <a:schemeClr val="accent5">
            <a:hueOff val="-4050717"/>
            <a:satOff val="-275"/>
            <a:lumOff val="65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vi-VN" sz="1400" b="1" kern="1200"/>
            <a:t>Về Chatbot:</a:t>
          </a:r>
          <a:r>
            <a:rPr lang="vi-VN" sz="1400" kern="1200"/>
            <a:t> Cơ chế phản hồi hiện tại dựa trên kỹ thuật so khớp từ khóa (Keyword Matching), chưa ứng dụng các mô hình ngôn ngữ lớn để hiểu sâu ngữ cảnh phức tạp của người dùng.</a:t>
          </a:r>
          <a:endParaRPr lang="en-US" sz="1400" kern="1200"/>
        </a:p>
      </dsp:txBody>
      <dsp:txXfrm>
        <a:off x="907882" y="1580074"/>
        <a:ext cx="3995362" cy="970977"/>
      </dsp:txXfrm>
    </dsp:sp>
    <dsp:sp modelId="{FDDCB54C-BBCB-47D7-8496-A22E1A491C33}">
      <dsp:nvSpPr>
        <dsp:cNvPr id="0" name=""/>
        <dsp:cNvSpPr/>
      </dsp:nvSpPr>
      <dsp:spPr>
        <a:xfrm rot="5400000">
          <a:off x="2712177" y="2607045"/>
          <a:ext cx="386773" cy="464127"/>
        </a:xfrm>
        <a:prstGeom prst="rightArrow">
          <a:avLst>
            <a:gd name="adj1" fmla="val 60000"/>
            <a:gd name="adj2" fmla="val 50000"/>
          </a:avLst>
        </a:prstGeom>
        <a:solidFill>
          <a:schemeClr val="accent5">
            <a:hueOff val="-6076075"/>
            <a:satOff val="-413"/>
            <a:lumOff val="981"/>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en-US" sz="1100" kern="1200"/>
        </a:p>
      </dsp:txBody>
      <dsp:txXfrm rot="-5400000">
        <a:off x="2766325" y="2645722"/>
        <a:ext cx="278477" cy="270741"/>
      </dsp:txXfrm>
    </dsp:sp>
    <dsp:sp modelId="{3FF081B7-4719-401B-B4C5-200FE1FDCA3B}">
      <dsp:nvSpPr>
        <dsp:cNvPr id="0" name=""/>
        <dsp:cNvSpPr/>
      </dsp:nvSpPr>
      <dsp:spPr>
        <a:xfrm>
          <a:off x="877673" y="3096958"/>
          <a:ext cx="4055780" cy="1031395"/>
        </a:xfrm>
        <a:prstGeom prst="roundRect">
          <a:avLst>
            <a:gd name="adj" fmla="val 10000"/>
          </a:avLst>
        </a:prstGeom>
        <a:solidFill>
          <a:schemeClr val="accent5">
            <a:hueOff val="-8101434"/>
            <a:satOff val="-551"/>
            <a:lumOff val="130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vi-VN" sz="1400" b="1" kern="1200"/>
            <a:t>Về Dữ liệu giá:</a:t>
          </a:r>
          <a:r>
            <a:rPr lang="vi-VN" sz="1400" kern="1200"/>
            <a:t> Thông tin trong bảng price_tracking vẫn cần sự cập nhật thủ công từ phía Quản trị viên, chưa có cơ chế tự động thu thập dữ liệu (Crawl) từ các sàn giao dịch quốc tế.</a:t>
          </a:r>
          <a:endParaRPr lang="en-US" sz="1400" kern="1200"/>
        </a:p>
      </dsp:txBody>
      <dsp:txXfrm>
        <a:off x="907882" y="3127167"/>
        <a:ext cx="3995362" cy="970977"/>
      </dsp:txXfrm>
    </dsp:sp>
    <dsp:sp modelId="{3AA9A7B8-CA82-4CD8-8266-B9627E64CCA2}">
      <dsp:nvSpPr>
        <dsp:cNvPr id="0" name=""/>
        <dsp:cNvSpPr/>
      </dsp:nvSpPr>
      <dsp:spPr>
        <a:xfrm rot="5400000">
          <a:off x="2712177" y="4154138"/>
          <a:ext cx="386773" cy="464127"/>
        </a:xfrm>
        <a:prstGeom prst="rightArrow">
          <a:avLst>
            <a:gd name="adj1" fmla="val 60000"/>
            <a:gd name="adj2" fmla="val 50000"/>
          </a:avLst>
        </a:prstGeom>
        <a:solidFill>
          <a:schemeClr val="accent5">
            <a:hueOff val="-12152150"/>
            <a:satOff val="-826"/>
            <a:lumOff val="1961"/>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en-US" sz="1100" kern="1200"/>
        </a:p>
      </dsp:txBody>
      <dsp:txXfrm rot="-5400000">
        <a:off x="2766325" y="4192815"/>
        <a:ext cx="278477" cy="270741"/>
      </dsp:txXfrm>
    </dsp:sp>
    <dsp:sp modelId="{21ED6A9E-51DD-46E0-A6C8-F1F77DC0AAF2}">
      <dsp:nvSpPr>
        <dsp:cNvPr id="0" name=""/>
        <dsp:cNvSpPr/>
      </dsp:nvSpPr>
      <dsp:spPr>
        <a:xfrm>
          <a:off x="877673" y="4644051"/>
          <a:ext cx="4055780" cy="1031395"/>
        </a:xfrm>
        <a:prstGeom prst="roundRect">
          <a:avLst>
            <a:gd name="adj" fmla="val 10000"/>
          </a:avLst>
        </a:prstGeom>
        <a:solidFill>
          <a:schemeClr val="accent5">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vi-VN" sz="1400" b="1" kern="1200"/>
            <a:t>Về Hạ tầng:</a:t>
          </a:r>
          <a:r>
            <a:rPr lang="vi-VN" sz="1400" kern="1200"/>
            <a:t> Hệ thống hiện đang triển khai thực nghiệm trên môi trường Localhost (XAMPP), cần được triển khai lên Hosting thực tế để đánh giá hiệu năng dưới tải lượng người dùng lớn.</a:t>
          </a:r>
          <a:endParaRPr lang="en-US" sz="1400" kern="1200"/>
        </a:p>
      </dsp:txBody>
      <dsp:txXfrm>
        <a:off x="907882" y="4674260"/>
        <a:ext cx="3995362" cy="97097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D58869B-C27A-46CD-9093-A7D7DB450468}">
      <dsp:nvSpPr>
        <dsp:cNvPr id="0" name=""/>
        <dsp:cNvSpPr/>
      </dsp:nvSpPr>
      <dsp:spPr>
        <a:xfrm>
          <a:off x="0" y="191263"/>
          <a:ext cx="5254754" cy="95016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vi-VN" sz="1400" kern="1200"/>
            <a:t>Để website thực sự trở thành một "Hệ sinh thái số" toàn diện, đề tài định hướng phát triển các module sau:</a:t>
          </a:r>
          <a:endParaRPr lang="en-US" sz="1400" kern="1200"/>
        </a:p>
      </dsp:txBody>
      <dsp:txXfrm>
        <a:off x="46383" y="237646"/>
        <a:ext cx="5161988" cy="857401"/>
      </dsp:txXfrm>
    </dsp:sp>
    <dsp:sp modelId="{BE2097EC-FB09-4107-B55B-948D9CAB2903}">
      <dsp:nvSpPr>
        <dsp:cNvPr id="0" name=""/>
        <dsp:cNvSpPr/>
      </dsp:nvSpPr>
      <dsp:spPr>
        <a:xfrm>
          <a:off x="0" y="1181751"/>
          <a:ext cx="5254754" cy="95016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vi-VN" sz="1400" b="1" kern="1200"/>
            <a:t>Tích hợp hệ thống giám sát IoT (Internet of Things):</a:t>
          </a:r>
          <a:r>
            <a:rPr lang="vi-VN" sz="1400" kern="1200"/>
            <a:t> Kết nối website với các cảm biến tại ao nuôi để thu thập và hiển thị dữ liệu về độ pH, Oxy hòa tan, nhiệt độ nước theo thời gian thực .</a:t>
          </a:r>
          <a:endParaRPr lang="en-US" sz="1400" kern="1200"/>
        </a:p>
      </dsp:txBody>
      <dsp:txXfrm>
        <a:off x="46383" y="1228134"/>
        <a:ext cx="5161988" cy="857401"/>
      </dsp:txXfrm>
    </dsp:sp>
    <dsp:sp modelId="{36332828-A75B-4703-9C80-E527786569B3}">
      <dsp:nvSpPr>
        <dsp:cNvPr id="0" name=""/>
        <dsp:cNvSpPr/>
      </dsp:nvSpPr>
      <dsp:spPr>
        <a:xfrm>
          <a:off x="0" y="2172239"/>
          <a:ext cx="5254754" cy="95016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vi-VN" sz="1400" b="1" kern="1200"/>
            <a:t>Nâng cấp Trí tuệ nhân tạo (AI Deep Learning):</a:t>
          </a:r>
          <a:r>
            <a:rPr lang="vi-VN" sz="1400" kern="1200"/>
            <a:t> Tích hợp công nghệ nhận diện hình ảnh, cho phép nông dân chụp ảnh dấu hiệu trên tôm/cá để hệ thống tự động chẩn đoán bệnh chính xác hơn.</a:t>
          </a:r>
          <a:endParaRPr lang="en-US" sz="1400" kern="1200"/>
        </a:p>
      </dsp:txBody>
      <dsp:txXfrm>
        <a:off x="46383" y="2218622"/>
        <a:ext cx="5161988" cy="857401"/>
      </dsp:txXfrm>
    </dsp:sp>
    <dsp:sp modelId="{55F384CF-8C82-442F-9F92-B024D803375A}">
      <dsp:nvSpPr>
        <dsp:cNvPr id="0" name=""/>
        <dsp:cNvSpPr/>
      </dsp:nvSpPr>
      <dsp:spPr>
        <a:xfrm>
          <a:off x="0" y="3162727"/>
          <a:ext cx="5254754" cy="95016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b="1" kern="1200"/>
            <a:t>Phát triển Mobile App bản địa:</a:t>
          </a:r>
          <a:r>
            <a:rPr lang="en-US" sz="1400" kern="1200"/>
            <a:t> Chuyển đổi hệ thống sang nền tảng Android/iOS để hỗ trợ tính năng thông báo đẩy (Push Notification) về cảnh báo dịch bệnh khẩn cấp.</a:t>
          </a:r>
        </a:p>
      </dsp:txBody>
      <dsp:txXfrm>
        <a:off x="46383" y="3209110"/>
        <a:ext cx="5161988" cy="857401"/>
      </dsp:txXfrm>
    </dsp:sp>
    <dsp:sp modelId="{4CD06187-1996-4526-871F-FEEB7BED5D4B}">
      <dsp:nvSpPr>
        <dsp:cNvPr id="0" name=""/>
        <dsp:cNvSpPr/>
      </dsp:nvSpPr>
      <dsp:spPr>
        <a:xfrm>
          <a:off x="0" y="4153215"/>
          <a:ext cx="5254754" cy="950167"/>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vi-VN" sz="1400" b="1" kern="1200"/>
            <a:t>Mở rộng Sàn giao dịch thương mại điện tử:</a:t>
          </a:r>
          <a:r>
            <a:rPr lang="vi-VN" sz="1400" kern="1200"/>
            <a:t> Xây dựng tính năng kết nối trực tiếp giữa người nuôi và các doanh nghiệp thu mua, giúp giảm thiểu khâu trung gian và tối ưu giá trị nông sản.</a:t>
          </a:r>
          <a:endParaRPr lang="en-US" sz="1400" kern="1200"/>
        </a:p>
      </dsp:txBody>
      <dsp:txXfrm>
        <a:off x="46383" y="4199598"/>
        <a:ext cx="5161988" cy="857401"/>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1T04:37:28.567"/>
    </inkml:context>
    <inkml:brush xml:id="br0">
      <inkml:brushProperty name="width" value="0.1" units="cm"/>
      <inkml:brushProperty name="height" value="0.1" units="cm"/>
      <inkml:brushProperty name="color" value="#004F8B"/>
    </inkml:brush>
  </inkml:definitions>
  <inkml:trace contextRef="#ctx0" brushRef="#br0">1 0 8192,'0'0'0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1T04:40:13.035"/>
    </inkml:context>
    <inkml:brush xml:id="br0">
      <inkml:brushProperty name="width" value="0.1" units="cm"/>
      <inkml:brushProperty name="height" value="0.1" units="cm"/>
      <inkml:brushProperty name="color" value="#004F8B"/>
    </inkml:brush>
  </inkml:definitions>
  <inkml:trace contextRef="#ctx0" brushRef="#br0">1 0 8192,'4'0'0,"7"0"3356,1 0-3356</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1T05:11:20.280"/>
    </inkml:context>
    <inkml:brush xml:id="br0">
      <inkml:brushProperty name="width" value="0.1" units="cm"/>
      <inkml:brushProperty name="height" value="0.1" units="cm"/>
      <inkml:brushProperty name="color" value="#004F8B"/>
    </inkml:brush>
  </inkml:definitions>
  <inkml:trace contextRef="#ctx0" brushRef="#br0">1 0 8192,'4'0'0,"7"0"3356,1 0-3356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907F88-FF05-4319-A290-FB3CE3E6C20F}" type="datetimeFigureOut">
              <a:rPr lang="en-US" smtClean="0"/>
              <a:t>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019C4E-0E40-431A-B2BD-BD523C50A262}" type="slidenum">
              <a:rPr lang="en-US" smtClean="0"/>
              <a:t>‹#›</a:t>
            </a:fld>
            <a:endParaRPr lang="en-US"/>
          </a:p>
        </p:txBody>
      </p:sp>
    </p:spTree>
    <p:extLst>
      <p:ext uri="{BB962C8B-B14F-4D97-AF65-F5344CB8AC3E}">
        <p14:creationId xmlns:p14="http://schemas.microsoft.com/office/powerpoint/2010/main" val="35918231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21DE5A9-D254-4DFA-BA73-0F8ECFE63CBE}" type="datetimeFigureOut">
              <a:rPr lang="en-US" smtClean="0"/>
              <a:t>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BFD89B-6A14-4738-9D66-E759862162E6}" type="slidenum">
              <a:rPr lang="en-US" smtClean="0"/>
              <a:t>‹#›</a:t>
            </a:fld>
            <a:endParaRPr lang="en-US"/>
          </a:p>
        </p:txBody>
      </p:sp>
    </p:spTree>
    <p:extLst>
      <p:ext uri="{BB962C8B-B14F-4D97-AF65-F5344CB8AC3E}">
        <p14:creationId xmlns:p14="http://schemas.microsoft.com/office/powerpoint/2010/main" val="7260641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1DE5A9-D254-4DFA-BA73-0F8ECFE63CBE}" type="datetimeFigureOut">
              <a:rPr lang="en-US" smtClean="0"/>
              <a:t>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BFD89B-6A14-4738-9D66-E759862162E6}" type="slidenum">
              <a:rPr lang="en-US" smtClean="0"/>
              <a:t>‹#›</a:t>
            </a:fld>
            <a:endParaRPr lang="en-US"/>
          </a:p>
        </p:txBody>
      </p:sp>
    </p:spTree>
    <p:extLst>
      <p:ext uri="{BB962C8B-B14F-4D97-AF65-F5344CB8AC3E}">
        <p14:creationId xmlns:p14="http://schemas.microsoft.com/office/powerpoint/2010/main" val="4051582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E5A9-D254-4DFA-BA73-0F8ECFE63CBE}" type="datetimeFigureOut">
              <a:rPr lang="en-US" smtClean="0"/>
              <a:t>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BFD89B-6A14-4738-9D66-E759862162E6}" type="slidenum">
              <a:rPr lang="en-US" smtClean="0"/>
              <a:t>‹#›</a:t>
            </a:fld>
            <a:endParaRPr lang="en-US"/>
          </a:p>
        </p:txBody>
      </p:sp>
    </p:spTree>
    <p:extLst>
      <p:ext uri="{BB962C8B-B14F-4D97-AF65-F5344CB8AC3E}">
        <p14:creationId xmlns:p14="http://schemas.microsoft.com/office/powerpoint/2010/main" val="5418351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21DE5A9-D254-4DFA-BA73-0F8ECFE63CBE}" type="datetimeFigureOut">
              <a:rPr lang="en-US" smtClean="0"/>
              <a:t>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1BFD89B-6A14-4738-9D66-E759862162E6}" type="slidenum">
              <a:rPr lang="en-US" smtClean="0"/>
              <a:t>‹#›</a:t>
            </a:fld>
            <a:endParaRPr lang="en-US"/>
          </a:p>
        </p:txBody>
      </p:sp>
    </p:spTree>
    <p:extLst>
      <p:ext uri="{BB962C8B-B14F-4D97-AF65-F5344CB8AC3E}">
        <p14:creationId xmlns:p14="http://schemas.microsoft.com/office/powerpoint/2010/main" val="16750721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21DE5A9-D254-4DFA-BA73-0F8ECFE63CBE}" type="datetimeFigureOut">
              <a:rPr lang="en-US" smtClean="0"/>
              <a:t>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1BFD89B-6A14-4738-9D66-E759862162E6}" type="slidenum">
              <a:rPr lang="en-US" smtClean="0"/>
              <a:t>‹#›</a:t>
            </a:fld>
            <a:endParaRPr lang="en-US"/>
          </a:p>
        </p:txBody>
      </p:sp>
    </p:spTree>
    <p:extLst>
      <p:ext uri="{BB962C8B-B14F-4D97-AF65-F5344CB8AC3E}">
        <p14:creationId xmlns:p14="http://schemas.microsoft.com/office/powerpoint/2010/main" val="4233819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21DE5A9-D254-4DFA-BA73-0F8ECFE63CBE}" type="datetimeFigureOut">
              <a:rPr lang="en-US" smtClean="0"/>
              <a:t>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1BFD89B-6A14-4738-9D66-E759862162E6}" type="slidenum">
              <a:rPr lang="en-US" smtClean="0"/>
              <a:t>‹#›</a:t>
            </a:fld>
            <a:endParaRPr lang="en-US"/>
          </a:p>
        </p:txBody>
      </p:sp>
    </p:spTree>
    <p:extLst>
      <p:ext uri="{BB962C8B-B14F-4D97-AF65-F5344CB8AC3E}">
        <p14:creationId xmlns:p14="http://schemas.microsoft.com/office/powerpoint/2010/main" val="11852045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E5A9-D254-4DFA-BA73-0F8ECFE63CBE}" type="datetimeFigureOut">
              <a:rPr lang="en-US" smtClean="0"/>
              <a:t>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1BFD89B-6A14-4738-9D66-E759862162E6}" type="slidenum">
              <a:rPr lang="en-US" smtClean="0"/>
              <a:t>‹#›</a:t>
            </a:fld>
            <a:endParaRPr lang="en-US"/>
          </a:p>
        </p:txBody>
      </p:sp>
    </p:spTree>
    <p:extLst>
      <p:ext uri="{BB962C8B-B14F-4D97-AF65-F5344CB8AC3E}">
        <p14:creationId xmlns:p14="http://schemas.microsoft.com/office/powerpoint/2010/main" val="40691825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E5A9-D254-4DFA-BA73-0F8ECFE63CBE}" type="datetimeFigureOut">
              <a:rPr lang="en-US" smtClean="0"/>
              <a:t>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1BFD89B-6A14-4738-9D66-E759862162E6}" type="slidenum">
              <a:rPr lang="en-US" smtClean="0"/>
              <a:t>‹#›</a:t>
            </a:fld>
            <a:endParaRPr lang="en-US"/>
          </a:p>
        </p:txBody>
      </p:sp>
    </p:spTree>
    <p:extLst>
      <p:ext uri="{BB962C8B-B14F-4D97-AF65-F5344CB8AC3E}">
        <p14:creationId xmlns:p14="http://schemas.microsoft.com/office/powerpoint/2010/main" val="8556626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E5A9-D254-4DFA-BA73-0F8ECFE63CBE}" type="datetimeFigureOut">
              <a:rPr lang="en-US" smtClean="0"/>
              <a:t>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1BFD89B-6A14-4738-9D66-E759862162E6}" type="slidenum">
              <a:rPr lang="en-US" smtClean="0"/>
              <a:t>‹#›</a:t>
            </a:fld>
            <a:endParaRPr lang="en-US"/>
          </a:p>
        </p:txBody>
      </p:sp>
    </p:spTree>
    <p:extLst>
      <p:ext uri="{BB962C8B-B14F-4D97-AF65-F5344CB8AC3E}">
        <p14:creationId xmlns:p14="http://schemas.microsoft.com/office/powerpoint/2010/main" val="34060094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1DE5A9-D254-4DFA-BA73-0F8ECFE63CBE}" type="datetimeFigureOut">
              <a:rPr lang="en-US" smtClean="0"/>
              <a:t>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BFD89B-6A14-4738-9D66-E759862162E6}" type="slidenum">
              <a:rPr lang="en-US" smtClean="0"/>
              <a:t>‹#›</a:t>
            </a:fld>
            <a:endParaRPr lang="en-US"/>
          </a:p>
        </p:txBody>
      </p:sp>
    </p:spTree>
    <p:extLst>
      <p:ext uri="{BB962C8B-B14F-4D97-AF65-F5344CB8AC3E}">
        <p14:creationId xmlns:p14="http://schemas.microsoft.com/office/powerpoint/2010/main" val="7828167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1DE5A9-D254-4DFA-BA73-0F8ECFE63CBE}" type="datetimeFigureOut">
              <a:rPr lang="en-US" smtClean="0"/>
              <a:t>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BFD89B-6A14-4738-9D66-E759862162E6}" type="slidenum">
              <a:rPr lang="en-US" smtClean="0"/>
              <a:t>‹#›</a:t>
            </a:fld>
            <a:endParaRPr lang="en-US"/>
          </a:p>
        </p:txBody>
      </p:sp>
    </p:spTree>
    <p:extLst>
      <p:ext uri="{BB962C8B-B14F-4D97-AF65-F5344CB8AC3E}">
        <p14:creationId xmlns:p14="http://schemas.microsoft.com/office/powerpoint/2010/main" val="16640631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21DE5A9-D254-4DFA-BA73-0F8ECFE63CBE}" type="datetimeFigureOut">
              <a:rPr lang="en-US" smtClean="0"/>
              <a:t>1/3/2026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1BFD89B-6A14-4738-9D66-E759862162E6}" type="slidenum">
              <a:rPr lang="en-US" smtClean="0"/>
              <a:t>‹#›</a:t>
            </a:fld>
            <a:endParaRPr lang="en-US"/>
          </a:p>
        </p:txBody>
      </p:sp>
    </p:spTree>
    <p:extLst>
      <p:ext uri="{BB962C8B-B14F-4D97-AF65-F5344CB8AC3E}">
        <p14:creationId xmlns:p14="http://schemas.microsoft.com/office/powerpoint/2010/main" val="290600775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customXml" Target="../ink/ink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customXml" Target="../ink/ink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customXml" Target="../ink/ink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e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svg"/><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png"/><Relationship Id="rId10" Type="http://schemas.openxmlformats.org/officeDocument/2006/relationships/image" Target="../media/image34.svg"/><Relationship Id="rId4" Type="http://schemas.openxmlformats.org/officeDocument/2006/relationships/image" Target="../media/image28.svg"/><Relationship Id="rId9" Type="http://schemas.openxmlformats.org/officeDocument/2006/relationships/image" Target="../media/image33.png"/></Relationships>
</file>

<file path=ppt/slides/_rels/slide1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EB96C8E-AA6F-ECCD-85BA-907AA380D07E}"/>
              </a:ext>
            </a:extLst>
          </p:cNvPr>
          <p:cNvSpPr txBox="1"/>
          <p:nvPr/>
        </p:nvSpPr>
        <p:spPr>
          <a:xfrm>
            <a:off x="6096000" y="4187113"/>
            <a:ext cx="2408902" cy="400110"/>
          </a:xfrm>
          <a:prstGeom prst="rect">
            <a:avLst/>
          </a:prstGeom>
          <a:noFill/>
        </p:spPr>
        <p:txBody>
          <a:bodyPr wrap="square">
            <a:spAutoFit/>
          </a:bodyPr>
          <a:lstStyle/>
          <a:p>
            <a:pPr algn="just"/>
            <a:r>
              <a:rPr lang="en-US" sz="2000">
                <a:latin typeface="+mj-lt"/>
              </a:rPr>
              <a:t>MSSV : 110123203</a:t>
            </a:r>
          </a:p>
        </p:txBody>
      </p:sp>
      <p:sp>
        <p:nvSpPr>
          <p:cNvPr id="8" name="TextBox 7">
            <a:extLst>
              <a:ext uri="{FF2B5EF4-FFF2-40B4-BE49-F238E27FC236}">
                <a16:creationId xmlns:a16="http://schemas.microsoft.com/office/drawing/2014/main" id="{52E8952E-D3C9-1410-0BC1-F79135836728}"/>
              </a:ext>
            </a:extLst>
          </p:cNvPr>
          <p:cNvSpPr txBox="1"/>
          <p:nvPr/>
        </p:nvSpPr>
        <p:spPr>
          <a:xfrm>
            <a:off x="6100918" y="4587223"/>
            <a:ext cx="3136491" cy="400110"/>
          </a:xfrm>
          <a:prstGeom prst="rect">
            <a:avLst/>
          </a:prstGeom>
          <a:noFill/>
        </p:spPr>
        <p:txBody>
          <a:bodyPr wrap="square">
            <a:spAutoFit/>
          </a:bodyPr>
          <a:lstStyle/>
          <a:p>
            <a:pPr algn="just"/>
            <a:r>
              <a:rPr lang="en-US" sz="2000">
                <a:latin typeface="+mj-lt"/>
              </a:rPr>
              <a:t>GVHD : Ths. Võ Thành C</a:t>
            </a:r>
          </a:p>
        </p:txBody>
      </p:sp>
      <p:sp>
        <p:nvSpPr>
          <p:cNvPr id="10" name="TextBox 9">
            <a:extLst>
              <a:ext uri="{FF2B5EF4-FFF2-40B4-BE49-F238E27FC236}">
                <a16:creationId xmlns:a16="http://schemas.microsoft.com/office/drawing/2014/main" id="{05AF0B17-2156-F258-20AF-D74FCD63E875}"/>
              </a:ext>
            </a:extLst>
          </p:cNvPr>
          <p:cNvSpPr txBox="1"/>
          <p:nvPr/>
        </p:nvSpPr>
        <p:spPr>
          <a:xfrm>
            <a:off x="6096000" y="3727771"/>
            <a:ext cx="4139380" cy="400110"/>
          </a:xfrm>
          <a:prstGeom prst="rect">
            <a:avLst/>
          </a:prstGeom>
          <a:noFill/>
        </p:spPr>
        <p:txBody>
          <a:bodyPr wrap="square">
            <a:spAutoFit/>
          </a:bodyPr>
          <a:lstStyle/>
          <a:p>
            <a:pPr algn="just"/>
            <a:r>
              <a:rPr lang="en-US" sz="2000"/>
              <a:t>Sinh </a:t>
            </a:r>
            <a:r>
              <a:rPr lang="en-US" sz="2000" err="1"/>
              <a:t>viên</a:t>
            </a:r>
            <a:r>
              <a:rPr lang="en-US" sz="2000"/>
              <a:t> </a:t>
            </a:r>
            <a:r>
              <a:rPr lang="en-US" sz="2000" err="1"/>
              <a:t>thực</a:t>
            </a:r>
            <a:r>
              <a:rPr lang="en-US" sz="2000"/>
              <a:t> </a:t>
            </a:r>
            <a:r>
              <a:rPr lang="en-US" sz="2000" err="1"/>
              <a:t>hiện</a:t>
            </a:r>
            <a:r>
              <a:rPr lang="en-US" sz="2000"/>
              <a:t> : </a:t>
            </a:r>
            <a:r>
              <a:rPr lang="en-US" sz="2000" err="1"/>
              <a:t>Tạ</a:t>
            </a:r>
            <a:r>
              <a:rPr lang="en-US" sz="2000"/>
              <a:t> Hằng Vũ</a:t>
            </a:r>
          </a:p>
        </p:txBody>
      </p:sp>
      <mc:AlternateContent xmlns:mc="http://schemas.openxmlformats.org/markup-compatibility/2006" xmlns:p14="http://schemas.microsoft.com/office/powerpoint/2010/main">
        <mc:Choice Requires="p14">
          <p:contentPart p14:bwMode="auto" r:id="rId2">
            <p14:nvContentPartPr>
              <p14:cNvPr id="12" name="Ink 11">
                <a:extLst>
                  <a:ext uri="{FF2B5EF4-FFF2-40B4-BE49-F238E27FC236}">
                    <a16:creationId xmlns:a16="http://schemas.microsoft.com/office/drawing/2014/main" id="{6AC877EC-F06A-20F3-9BB2-7790C440518A}"/>
                  </a:ext>
                </a:extLst>
              </p14:cNvPr>
              <p14:cNvContentPartPr/>
              <p14:nvPr/>
            </p14:nvContentPartPr>
            <p14:xfrm>
              <a:off x="4326097" y="5692908"/>
              <a:ext cx="360" cy="360"/>
            </p14:xfrm>
          </p:contentPart>
        </mc:Choice>
        <mc:Fallback xmlns="">
          <p:pic>
            <p:nvPicPr>
              <p:cNvPr id="12" name="Ink 11">
                <a:extLst>
                  <a:ext uri="{FF2B5EF4-FFF2-40B4-BE49-F238E27FC236}">
                    <a16:creationId xmlns:a16="http://schemas.microsoft.com/office/drawing/2014/main" id="{6AC877EC-F06A-20F3-9BB2-7790C440518A}"/>
                  </a:ext>
                </a:extLst>
              </p:cNvPr>
              <p:cNvPicPr/>
              <p:nvPr/>
            </p:nvPicPr>
            <p:blipFill>
              <a:blip r:embed="rId3"/>
              <a:stretch>
                <a:fillRect/>
              </a:stretch>
            </p:blipFill>
            <p:spPr>
              <a:xfrm>
                <a:off x="4308457" y="5674908"/>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3" name="Ink 12">
                <a:extLst>
                  <a:ext uri="{FF2B5EF4-FFF2-40B4-BE49-F238E27FC236}">
                    <a16:creationId xmlns:a16="http://schemas.microsoft.com/office/drawing/2014/main" id="{2FA67C48-FC3E-A9D4-DF6A-0019C5F0CE53}"/>
                  </a:ext>
                </a:extLst>
              </p14:cNvPr>
              <p14:cNvContentPartPr/>
              <p14:nvPr/>
            </p14:nvContentPartPr>
            <p14:xfrm>
              <a:off x="7708297" y="2251308"/>
              <a:ext cx="10080" cy="360"/>
            </p14:xfrm>
          </p:contentPart>
        </mc:Choice>
        <mc:Fallback xmlns="">
          <p:pic>
            <p:nvPicPr>
              <p:cNvPr id="13" name="Ink 12">
                <a:extLst>
                  <a:ext uri="{FF2B5EF4-FFF2-40B4-BE49-F238E27FC236}">
                    <a16:creationId xmlns:a16="http://schemas.microsoft.com/office/drawing/2014/main" id="{2FA67C48-FC3E-A9D4-DF6A-0019C5F0CE53}"/>
                  </a:ext>
                </a:extLst>
              </p:cNvPr>
              <p:cNvPicPr/>
              <p:nvPr/>
            </p:nvPicPr>
            <p:blipFill>
              <a:blip r:embed="rId5"/>
              <a:stretch>
                <a:fillRect/>
              </a:stretch>
            </p:blipFill>
            <p:spPr>
              <a:xfrm>
                <a:off x="7690657" y="2233308"/>
                <a:ext cx="45720" cy="36000"/>
              </a:xfrm>
              <a:prstGeom prst="rect">
                <a:avLst/>
              </a:prstGeom>
            </p:spPr>
          </p:pic>
        </mc:Fallback>
      </mc:AlternateContent>
      <p:sp>
        <p:nvSpPr>
          <p:cNvPr id="18" name="TextBox 17">
            <a:extLst>
              <a:ext uri="{FF2B5EF4-FFF2-40B4-BE49-F238E27FC236}">
                <a16:creationId xmlns:a16="http://schemas.microsoft.com/office/drawing/2014/main" id="{7CB01067-BF6C-283F-6CA1-257DB78B3743}"/>
              </a:ext>
            </a:extLst>
          </p:cNvPr>
          <p:cNvSpPr txBox="1"/>
          <p:nvPr/>
        </p:nvSpPr>
        <p:spPr>
          <a:xfrm>
            <a:off x="6093840" y="6265922"/>
            <a:ext cx="6096000" cy="400110"/>
          </a:xfrm>
          <a:prstGeom prst="rect">
            <a:avLst/>
          </a:prstGeom>
          <a:noFill/>
        </p:spPr>
        <p:txBody>
          <a:bodyPr wrap="square">
            <a:spAutoFit/>
          </a:bodyPr>
          <a:lstStyle/>
          <a:p>
            <a:r>
              <a:rPr lang="en-US" sz="2000" i="1" err="1">
                <a:latin typeface="+mj-lt"/>
              </a:rPr>
              <a:t>Vĩnh</a:t>
            </a:r>
            <a:r>
              <a:rPr lang="en-US" sz="2000" i="1">
                <a:latin typeface="+mj-lt"/>
              </a:rPr>
              <a:t> Long, </a:t>
            </a:r>
            <a:r>
              <a:rPr lang="en-US" sz="2000" i="1" err="1">
                <a:latin typeface="+mj-lt"/>
              </a:rPr>
              <a:t>Ngày</a:t>
            </a:r>
            <a:r>
              <a:rPr lang="en-US" sz="2000" i="1">
                <a:latin typeface="+mj-lt"/>
              </a:rPr>
              <a:t> 00 </a:t>
            </a:r>
            <a:r>
              <a:rPr lang="en-US" sz="2000" i="1" err="1">
                <a:latin typeface="+mj-lt"/>
              </a:rPr>
              <a:t>Tháng</a:t>
            </a:r>
            <a:r>
              <a:rPr lang="en-US" sz="2000" i="1">
                <a:latin typeface="+mj-lt"/>
              </a:rPr>
              <a:t> 1  </a:t>
            </a:r>
            <a:r>
              <a:rPr lang="en-US" sz="2000" i="1" err="1">
                <a:latin typeface="+mj-lt"/>
              </a:rPr>
              <a:t>Năm</a:t>
            </a:r>
            <a:r>
              <a:rPr lang="en-US" sz="2000" i="1">
                <a:latin typeface="+mj-lt"/>
              </a:rPr>
              <a:t> 2026</a:t>
            </a:r>
          </a:p>
        </p:txBody>
      </p:sp>
      <p:sp>
        <p:nvSpPr>
          <p:cNvPr id="23" name="Title 22">
            <a:extLst>
              <a:ext uri="{FF2B5EF4-FFF2-40B4-BE49-F238E27FC236}">
                <a16:creationId xmlns:a16="http://schemas.microsoft.com/office/drawing/2014/main" id="{A70D4D25-C11D-1B1F-6531-7F17C2BF2B65}"/>
              </a:ext>
            </a:extLst>
          </p:cNvPr>
          <p:cNvSpPr>
            <a:spLocks noGrp="1"/>
          </p:cNvSpPr>
          <p:nvPr>
            <p:ph type="ctrTitle"/>
          </p:nvPr>
        </p:nvSpPr>
        <p:spPr>
          <a:xfrm>
            <a:off x="1515293" y="2599054"/>
            <a:ext cx="9635253" cy="745249"/>
          </a:xfrm>
        </p:spPr>
        <p:txBody>
          <a:bodyPr>
            <a:normAutofit/>
          </a:bodyPr>
          <a:lstStyle/>
          <a:p>
            <a:r>
              <a:rPr lang="en-US" sz="4500" b="1">
                <a:solidFill>
                  <a:srgbClr val="FF0000"/>
                </a:solidFill>
              </a:rPr>
              <a:t>ĐỒ ÁN THỰC TẬP CƠ SỞ NGÀNH</a:t>
            </a:r>
          </a:p>
        </p:txBody>
      </p:sp>
      <p:pic>
        <p:nvPicPr>
          <p:cNvPr id="1034" name="Picture 10" descr="Trường Đại học Trà Vinh – Wikipedia tiếng Việt">
            <a:extLst>
              <a:ext uri="{FF2B5EF4-FFF2-40B4-BE49-F238E27FC236}">
                <a16:creationId xmlns:a16="http://schemas.microsoft.com/office/drawing/2014/main" id="{99BA11A1-39AB-11DD-BD96-0A5FC79ECFA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34489" y="640646"/>
            <a:ext cx="961607" cy="961607"/>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12FE3DB7-CA67-688D-386E-DEC229CA501A}"/>
              </a:ext>
            </a:extLst>
          </p:cNvPr>
          <p:cNvSpPr txBox="1"/>
          <p:nvPr/>
        </p:nvSpPr>
        <p:spPr>
          <a:xfrm>
            <a:off x="1982938" y="604703"/>
            <a:ext cx="8431158" cy="1246495"/>
          </a:xfrm>
          <a:prstGeom prst="rect">
            <a:avLst/>
          </a:prstGeom>
          <a:noFill/>
        </p:spPr>
        <p:txBody>
          <a:bodyPr wrap="square">
            <a:spAutoFit/>
          </a:bodyPr>
          <a:lstStyle/>
          <a:p>
            <a:pPr algn="ctr"/>
            <a:r>
              <a:rPr lang="en-US" sz="5000" b="1">
                <a:solidFill>
                  <a:schemeClr val="tx2">
                    <a:lumMod val="90000"/>
                    <a:lumOff val="10000"/>
                  </a:schemeClr>
                </a:solidFill>
              </a:rPr>
              <a:t>TRƯỜNG ĐẠI HỌC TRÀ VINH</a:t>
            </a:r>
          </a:p>
          <a:p>
            <a:pPr algn="ctr"/>
            <a:r>
              <a:rPr lang="en-US" sz="2500" b="1"/>
              <a:t>TRƯỜNG KỸ THUẬT &amp; CÔNG NGHỆ</a:t>
            </a:r>
          </a:p>
        </p:txBody>
      </p:sp>
      <p:sp>
        <p:nvSpPr>
          <p:cNvPr id="31" name="Rectangle 30">
            <a:extLst>
              <a:ext uri="{FF2B5EF4-FFF2-40B4-BE49-F238E27FC236}">
                <a16:creationId xmlns:a16="http://schemas.microsoft.com/office/drawing/2014/main" id="{70ADAF5E-14DA-623B-DD27-38A3B5895741}"/>
              </a:ext>
            </a:extLst>
          </p:cNvPr>
          <p:cNvSpPr/>
          <p:nvPr/>
        </p:nvSpPr>
        <p:spPr>
          <a:xfrm>
            <a:off x="0" y="6725264"/>
            <a:ext cx="12189840" cy="131295"/>
          </a:xfrm>
          <a:prstGeom prst="rect">
            <a:avLst/>
          </a:prstGeom>
          <a:solidFill>
            <a:schemeClr val="tx2">
              <a:lumMod val="90000"/>
              <a:lumOff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975559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FFFB9-4994-34EF-C9D4-354DE7EB88D7}"/>
              </a:ext>
            </a:extLst>
          </p:cNvPr>
          <p:cNvSpPr>
            <a:spLocks noGrp="1"/>
          </p:cNvSpPr>
          <p:nvPr>
            <p:ph type="title"/>
          </p:nvPr>
        </p:nvSpPr>
        <p:spPr>
          <a:xfrm>
            <a:off x="300516" y="2968676"/>
            <a:ext cx="11796002" cy="1325563"/>
          </a:xfrm>
        </p:spPr>
        <p:txBody>
          <a:bodyPr>
            <a:normAutofit/>
          </a:bodyPr>
          <a:lstStyle/>
          <a:p>
            <a:pPr algn="ctr"/>
            <a:r>
              <a:rPr lang="en-US" sz="4200" b="1">
                <a:solidFill>
                  <a:srgbClr val="FF0000"/>
                </a:solidFill>
              </a:rPr>
              <a:t>ĐỀ TÀI: XÂY DỰNG WEBSITE CUNG CẤP THÔNG TIN KỸ THUẬT NUÔI TRỒNG THỦY SẢN</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28F20031-99E1-D59D-6E30-F2BC4DB8CB2C}"/>
                  </a:ext>
                </a:extLst>
              </p14:cNvPr>
              <p14:cNvContentPartPr/>
              <p14:nvPr/>
            </p14:nvContentPartPr>
            <p14:xfrm>
              <a:off x="7708297" y="2251308"/>
              <a:ext cx="10080" cy="360"/>
            </p14:xfrm>
          </p:contentPart>
        </mc:Choice>
        <mc:Fallback xmlns="">
          <p:pic>
            <p:nvPicPr>
              <p:cNvPr id="4" name="Ink 3">
                <a:extLst>
                  <a:ext uri="{FF2B5EF4-FFF2-40B4-BE49-F238E27FC236}">
                    <a16:creationId xmlns:a16="http://schemas.microsoft.com/office/drawing/2014/main" id="{28F20031-99E1-D59D-6E30-F2BC4DB8CB2C}"/>
                  </a:ext>
                </a:extLst>
              </p:cNvPr>
              <p:cNvPicPr/>
              <p:nvPr/>
            </p:nvPicPr>
            <p:blipFill>
              <a:blip r:embed="rId3"/>
              <a:stretch>
                <a:fillRect/>
              </a:stretch>
            </p:blipFill>
            <p:spPr>
              <a:xfrm>
                <a:off x="7690657" y="2233308"/>
                <a:ext cx="45720" cy="36000"/>
              </a:xfrm>
              <a:prstGeom prst="rect">
                <a:avLst/>
              </a:prstGeom>
            </p:spPr>
          </p:pic>
        </mc:Fallback>
      </mc:AlternateContent>
      <p:pic>
        <p:nvPicPr>
          <p:cNvPr id="5" name="Picture 10" descr="Trường Đại học Trà Vinh – Wikipedia tiếng Việt">
            <a:extLst>
              <a:ext uri="{FF2B5EF4-FFF2-40B4-BE49-F238E27FC236}">
                <a16:creationId xmlns:a16="http://schemas.microsoft.com/office/drawing/2014/main" id="{12EB8F7A-820D-2900-5924-640A38C8B40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4489" y="640646"/>
            <a:ext cx="961607" cy="96160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576CA7C-EC34-843F-DD7A-0815C3B82DFC}"/>
              </a:ext>
            </a:extLst>
          </p:cNvPr>
          <p:cNvSpPr txBox="1"/>
          <p:nvPr/>
        </p:nvSpPr>
        <p:spPr>
          <a:xfrm>
            <a:off x="1982938" y="604703"/>
            <a:ext cx="8431158" cy="1246495"/>
          </a:xfrm>
          <a:prstGeom prst="rect">
            <a:avLst/>
          </a:prstGeom>
          <a:noFill/>
        </p:spPr>
        <p:txBody>
          <a:bodyPr wrap="square">
            <a:spAutoFit/>
          </a:bodyPr>
          <a:lstStyle/>
          <a:p>
            <a:pPr algn="ctr"/>
            <a:r>
              <a:rPr lang="en-US" sz="5000" b="1">
                <a:solidFill>
                  <a:schemeClr val="tx2">
                    <a:lumMod val="90000"/>
                    <a:lumOff val="10000"/>
                  </a:schemeClr>
                </a:solidFill>
              </a:rPr>
              <a:t>TRƯỜNG ĐẠI HỌC TRÀ VINH</a:t>
            </a:r>
          </a:p>
          <a:p>
            <a:pPr algn="ctr"/>
            <a:r>
              <a:rPr lang="en-US" sz="2500" b="1"/>
              <a:t>TRƯỜNG KỸ THUẬT &amp; CÔNG NGHỆ</a:t>
            </a:r>
          </a:p>
        </p:txBody>
      </p:sp>
    </p:spTree>
    <p:extLst>
      <p:ext uri="{BB962C8B-B14F-4D97-AF65-F5344CB8AC3E}">
        <p14:creationId xmlns:p14="http://schemas.microsoft.com/office/powerpoint/2010/main" val="14851334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C05CBC3C-2E5A-4839-8B9B-2E5A6ADF0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DB5B423A-57CC-4C58-AA26-8E2E862B03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5217023" cy="3994777"/>
          </a:xfrm>
          <a:custGeom>
            <a:avLst/>
            <a:gdLst>
              <a:gd name="connsiteX0" fmla="*/ 1945461 w 5217023"/>
              <a:gd name="connsiteY0" fmla="*/ 3787398 h 3994777"/>
              <a:gd name="connsiteX1" fmla="*/ 1942113 w 5217023"/>
              <a:gd name="connsiteY1" fmla="*/ 3790053 h 3994777"/>
              <a:gd name="connsiteX2" fmla="*/ 1946982 w 5217023"/>
              <a:gd name="connsiteY2" fmla="*/ 3787990 h 3994777"/>
              <a:gd name="connsiteX3" fmla="*/ 1945461 w 5217023"/>
              <a:gd name="connsiteY3" fmla="*/ 3787398 h 3994777"/>
              <a:gd name="connsiteX4" fmla="*/ 0 w 5217023"/>
              <a:gd name="connsiteY4" fmla="*/ 0 h 3994777"/>
              <a:gd name="connsiteX5" fmla="*/ 5030958 w 5217023"/>
              <a:gd name="connsiteY5" fmla="*/ 0 h 3994777"/>
              <a:gd name="connsiteX6" fmla="*/ 5046198 w 5217023"/>
              <a:gd name="connsiteY6" fmla="*/ 153449 h 3994777"/>
              <a:gd name="connsiteX7" fmla="*/ 5055729 w 5217023"/>
              <a:gd name="connsiteY7" fmla="*/ 415828 h 3994777"/>
              <a:gd name="connsiteX8" fmla="*/ 4735242 w 5217023"/>
              <a:gd name="connsiteY8" fmla="*/ 1867130 h 3994777"/>
              <a:gd name="connsiteX9" fmla="*/ 3907395 w 5217023"/>
              <a:gd name="connsiteY9" fmla="*/ 2938441 h 3994777"/>
              <a:gd name="connsiteX10" fmla="*/ 3946497 w 5217023"/>
              <a:gd name="connsiteY10" fmla="*/ 2908567 h 3994777"/>
              <a:gd name="connsiteX11" fmla="*/ 4585421 w 5217023"/>
              <a:gd name="connsiteY11" fmla="*/ 2188401 h 3994777"/>
              <a:gd name="connsiteX12" fmla="*/ 5142585 w 5217023"/>
              <a:gd name="connsiteY12" fmla="*/ 276891 h 3994777"/>
              <a:gd name="connsiteX13" fmla="*/ 5121833 w 5217023"/>
              <a:gd name="connsiteY13" fmla="*/ 30208 h 3994777"/>
              <a:gd name="connsiteX14" fmla="*/ 5116229 w 5217023"/>
              <a:gd name="connsiteY14" fmla="*/ 0 h 3994777"/>
              <a:gd name="connsiteX15" fmla="*/ 5184724 w 5217023"/>
              <a:gd name="connsiteY15" fmla="*/ 0 h 3994777"/>
              <a:gd name="connsiteX16" fmla="*/ 5196265 w 5217023"/>
              <a:gd name="connsiteY16" fmla="*/ 66113 h 3994777"/>
              <a:gd name="connsiteX17" fmla="*/ 5058603 w 5217023"/>
              <a:gd name="connsiteY17" fmla="*/ 1368242 h 3994777"/>
              <a:gd name="connsiteX18" fmla="*/ 4096624 w 5217023"/>
              <a:gd name="connsiteY18" fmla="*/ 2870829 h 3994777"/>
              <a:gd name="connsiteX19" fmla="*/ 3833203 w 5217023"/>
              <a:gd name="connsiteY19" fmla="*/ 3092190 h 3994777"/>
              <a:gd name="connsiteX20" fmla="*/ 3536509 w 5217023"/>
              <a:gd name="connsiteY20" fmla="*/ 3297128 h 3994777"/>
              <a:gd name="connsiteX21" fmla="*/ 3148966 w 5217023"/>
              <a:gd name="connsiteY21" fmla="*/ 3485478 h 3994777"/>
              <a:gd name="connsiteX22" fmla="*/ 1860557 w 5217023"/>
              <a:gd name="connsiteY22" fmla="*/ 3880910 h 3994777"/>
              <a:gd name="connsiteX23" fmla="*/ 573715 w 5217023"/>
              <a:gd name="connsiteY23" fmla="*/ 3983764 h 3994777"/>
              <a:gd name="connsiteX24" fmla="*/ 108410 w 5217023"/>
              <a:gd name="connsiteY24" fmla="*/ 3908816 h 3994777"/>
              <a:gd name="connsiteX25" fmla="*/ 0 w 5217023"/>
              <a:gd name="connsiteY25" fmla="*/ 3876793 h 3994777"/>
              <a:gd name="connsiteX26" fmla="*/ 0 w 5217023"/>
              <a:gd name="connsiteY26" fmla="*/ 3802912 h 3994777"/>
              <a:gd name="connsiteX27" fmla="*/ 36975 w 5217023"/>
              <a:gd name="connsiteY27" fmla="*/ 3815954 h 3994777"/>
              <a:gd name="connsiteX28" fmla="*/ 561628 w 5217023"/>
              <a:gd name="connsiteY28" fmla="*/ 3912655 h 3994777"/>
              <a:gd name="connsiteX29" fmla="*/ 1683086 w 5217023"/>
              <a:gd name="connsiteY29" fmla="*/ 3844334 h 3994777"/>
              <a:gd name="connsiteX30" fmla="*/ 1806023 w 5217023"/>
              <a:gd name="connsiteY30" fmla="*/ 3820992 h 3994777"/>
              <a:gd name="connsiteX31" fmla="*/ 1921817 w 5217023"/>
              <a:gd name="connsiteY31" fmla="*/ 3795747 h 3994777"/>
              <a:gd name="connsiteX32" fmla="*/ 1243689 w 5217023"/>
              <a:gd name="connsiteY32" fmla="*/ 3846539 h 3994777"/>
              <a:gd name="connsiteX33" fmla="*/ 62875 w 5217023"/>
              <a:gd name="connsiteY33" fmla="*/ 3668143 h 3994777"/>
              <a:gd name="connsiteX34" fmla="*/ 0 w 5217023"/>
              <a:gd name="connsiteY34" fmla="*/ 3644185 h 3994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217023" h="3994777">
                <a:moveTo>
                  <a:pt x="1945461" y="3787398"/>
                </a:moveTo>
                <a:lnTo>
                  <a:pt x="1942113" y="3790053"/>
                </a:lnTo>
                <a:lnTo>
                  <a:pt x="1946982" y="3787990"/>
                </a:lnTo>
                <a:cubicBezTo>
                  <a:pt x="1946982" y="3787990"/>
                  <a:pt x="1946379" y="3787019"/>
                  <a:pt x="1945461" y="3787398"/>
                </a:cubicBezTo>
                <a:close/>
                <a:moveTo>
                  <a:pt x="0" y="0"/>
                </a:moveTo>
                <a:lnTo>
                  <a:pt x="5030958" y="0"/>
                </a:lnTo>
                <a:lnTo>
                  <a:pt x="5046198" y="153449"/>
                </a:lnTo>
                <a:cubicBezTo>
                  <a:pt x="5052189" y="240558"/>
                  <a:pt x="5055458" y="328007"/>
                  <a:pt x="5055729" y="415828"/>
                </a:cubicBezTo>
                <a:cubicBezTo>
                  <a:pt x="5057604" y="923672"/>
                  <a:pt x="4959210" y="1409054"/>
                  <a:pt x="4735242" y="1867130"/>
                </a:cubicBezTo>
                <a:cubicBezTo>
                  <a:pt x="4533284" y="2280198"/>
                  <a:pt x="4248921" y="2629330"/>
                  <a:pt x="3907395" y="2938441"/>
                </a:cubicBezTo>
                <a:cubicBezTo>
                  <a:pt x="3922498" y="2931535"/>
                  <a:pt x="3935859" y="2921330"/>
                  <a:pt x="3946497" y="2908567"/>
                </a:cubicBezTo>
                <a:cubicBezTo>
                  <a:pt x="4193494" y="2700987"/>
                  <a:pt x="4408756" y="2458364"/>
                  <a:pt x="4585421" y="2188401"/>
                </a:cubicBezTo>
                <a:cubicBezTo>
                  <a:pt x="4967641" y="1608533"/>
                  <a:pt x="5169304" y="975361"/>
                  <a:pt x="5142585" y="276891"/>
                </a:cubicBezTo>
                <a:cubicBezTo>
                  <a:pt x="5139764" y="194215"/>
                  <a:pt x="5132824" y="111888"/>
                  <a:pt x="5121833" y="30208"/>
                </a:cubicBezTo>
                <a:lnTo>
                  <a:pt x="5116229" y="0"/>
                </a:lnTo>
                <a:lnTo>
                  <a:pt x="5184724" y="0"/>
                </a:lnTo>
                <a:lnTo>
                  <a:pt x="5196265" y="66113"/>
                </a:lnTo>
                <a:cubicBezTo>
                  <a:pt x="5249921" y="496647"/>
                  <a:pt x="5197997" y="931171"/>
                  <a:pt x="5058603" y="1368242"/>
                </a:cubicBezTo>
                <a:cubicBezTo>
                  <a:pt x="4872414" y="1953929"/>
                  <a:pt x="4544298" y="2451351"/>
                  <a:pt x="4096624" y="2870829"/>
                </a:cubicBezTo>
                <a:cubicBezTo>
                  <a:pt x="4012832" y="2949426"/>
                  <a:pt x="3924415" y="3022439"/>
                  <a:pt x="3833203" y="3092190"/>
                </a:cubicBezTo>
                <a:cubicBezTo>
                  <a:pt x="3741992" y="3161943"/>
                  <a:pt x="3648667" y="3225510"/>
                  <a:pt x="3536509" y="3297128"/>
                </a:cubicBezTo>
                <a:cubicBezTo>
                  <a:pt x="3427215" y="3372735"/>
                  <a:pt x="3288598" y="3430233"/>
                  <a:pt x="3148966" y="3485478"/>
                </a:cubicBezTo>
                <a:cubicBezTo>
                  <a:pt x="2729930" y="3651299"/>
                  <a:pt x="2302194" y="3788890"/>
                  <a:pt x="1860557" y="3880910"/>
                </a:cubicBezTo>
                <a:cubicBezTo>
                  <a:pt x="1435974" y="3969444"/>
                  <a:pt x="1008052" y="4017957"/>
                  <a:pt x="573715" y="3983764"/>
                </a:cubicBezTo>
                <a:cubicBezTo>
                  <a:pt x="415134" y="3971300"/>
                  <a:pt x="259585" y="3947743"/>
                  <a:pt x="108410" y="3908816"/>
                </a:cubicBezTo>
                <a:lnTo>
                  <a:pt x="0" y="3876793"/>
                </a:lnTo>
                <a:lnTo>
                  <a:pt x="0" y="3802912"/>
                </a:lnTo>
                <a:lnTo>
                  <a:pt x="36975" y="3815954"/>
                </a:lnTo>
                <a:cubicBezTo>
                  <a:pt x="206404" y="3867475"/>
                  <a:pt x="382020" y="3897326"/>
                  <a:pt x="561628" y="3912655"/>
                </a:cubicBezTo>
                <a:cubicBezTo>
                  <a:pt x="938583" y="3944832"/>
                  <a:pt x="1311814" y="3910697"/>
                  <a:pt x="1683086" y="3844334"/>
                </a:cubicBezTo>
                <a:cubicBezTo>
                  <a:pt x="1724123" y="3837151"/>
                  <a:pt x="1765097" y="3829374"/>
                  <a:pt x="1806023" y="3820992"/>
                </a:cubicBezTo>
                <a:cubicBezTo>
                  <a:pt x="1844740" y="3813079"/>
                  <a:pt x="1883218" y="3804161"/>
                  <a:pt x="1921817" y="3795747"/>
                </a:cubicBezTo>
                <a:cubicBezTo>
                  <a:pt x="1697011" y="3826435"/>
                  <a:pt x="1470551" y="3843387"/>
                  <a:pt x="1243689" y="3846539"/>
                </a:cubicBezTo>
                <a:cubicBezTo>
                  <a:pt x="839058" y="3849054"/>
                  <a:pt x="443424" y="3800206"/>
                  <a:pt x="62875" y="3668143"/>
                </a:cubicBezTo>
                <a:lnTo>
                  <a:pt x="0" y="364418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9872E436-E408-C40D-7CA8-42105F13B1B6}"/>
              </a:ext>
            </a:extLst>
          </p:cNvPr>
          <p:cNvSpPr>
            <a:spLocks noGrp="1"/>
          </p:cNvSpPr>
          <p:nvPr>
            <p:ph type="title"/>
          </p:nvPr>
        </p:nvSpPr>
        <p:spPr>
          <a:xfrm>
            <a:off x="838200" y="673770"/>
            <a:ext cx="3220329" cy="2027227"/>
          </a:xfrm>
        </p:spPr>
        <p:txBody>
          <a:bodyPr anchor="t">
            <a:normAutofit/>
          </a:bodyPr>
          <a:lstStyle/>
          <a:p>
            <a:r>
              <a:rPr lang="en-US" sz="5000">
                <a:solidFill>
                  <a:srgbClr val="FFFFFF"/>
                </a:solidFill>
              </a:rPr>
              <a:t>NỘI DUNG CHÍNH</a:t>
            </a:r>
          </a:p>
        </p:txBody>
      </p:sp>
      <p:graphicFrame>
        <p:nvGraphicFramePr>
          <p:cNvPr id="5" name="Content Placeholder 2">
            <a:extLst>
              <a:ext uri="{FF2B5EF4-FFF2-40B4-BE49-F238E27FC236}">
                <a16:creationId xmlns:a16="http://schemas.microsoft.com/office/drawing/2014/main" id="{6EEC00CE-B6FB-5768-6057-3D8872A69602}"/>
              </a:ext>
            </a:extLst>
          </p:cNvPr>
          <p:cNvGraphicFramePr>
            <a:graphicFrameLocks noGrp="1"/>
          </p:cNvGraphicFramePr>
          <p:nvPr>
            <p:ph idx="1"/>
            <p:extLst>
              <p:ext uri="{D42A27DB-BD31-4B8C-83A1-F6EECF244321}">
                <p14:modId xmlns:p14="http://schemas.microsoft.com/office/powerpoint/2010/main" val="3724860129"/>
              </p:ext>
            </p:extLst>
          </p:nvPr>
        </p:nvGraphicFramePr>
        <p:xfrm>
          <a:off x="5692876" y="599768"/>
          <a:ext cx="5660923" cy="56200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030094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8A94871E-96FC-4ADE-815B-41A636E34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1CE4C6-2E93-68D7-C6F8-18ADB3555521}"/>
              </a:ext>
            </a:extLst>
          </p:cNvPr>
          <p:cNvSpPr>
            <a:spLocks noGrp="1"/>
          </p:cNvSpPr>
          <p:nvPr>
            <p:ph type="title"/>
          </p:nvPr>
        </p:nvSpPr>
        <p:spPr>
          <a:xfrm>
            <a:off x="640080" y="320040"/>
            <a:ext cx="6692827" cy="3892669"/>
          </a:xfrm>
        </p:spPr>
        <p:txBody>
          <a:bodyPr vert="horz" lIns="91440" tIns="45720" rIns="91440" bIns="45720" rtlCol="0" anchor="b">
            <a:normAutofit/>
          </a:bodyPr>
          <a:lstStyle/>
          <a:p>
            <a:r>
              <a:rPr lang="en-US" sz="6600" kern="1200">
                <a:solidFill>
                  <a:srgbClr val="FF0000"/>
                </a:solidFill>
                <a:latin typeface="+mj-lt"/>
                <a:ea typeface="+mj-ea"/>
                <a:cs typeface="+mj-cs"/>
              </a:rPr>
              <a:t>PHẦN 1: </a:t>
            </a:r>
            <a:r>
              <a:rPr lang="en-US" sz="6600" kern="1200">
                <a:solidFill>
                  <a:schemeClr val="tx1"/>
                </a:solidFill>
                <a:latin typeface="+mj-lt"/>
                <a:ea typeface="+mj-ea"/>
                <a:cs typeface="+mj-cs"/>
              </a:rPr>
              <a:t>TỔNG QUAN VỀ ĐỀ TÀI</a:t>
            </a:r>
            <a:br>
              <a:rPr lang="en-US" sz="6600" kern="1200">
                <a:solidFill>
                  <a:schemeClr val="tx1"/>
                </a:solidFill>
                <a:latin typeface="+mj-lt"/>
                <a:ea typeface="+mj-ea"/>
                <a:cs typeface="+mj-cs"/>
              </a:rPr>
            </a:br>
            <a:r>
              <a:rPr lang="en-US" sz="6600" kern="1200">
                <a:solidFill>
                  <a:schemeClr val="tx1"/>
                </a:solidFill>
                <a:latin typeface="+mj-lt"/>
                <a:ea typeface="+mj-ea"/>
                <a:cs typeface="+mj-cs"/>
              </a:rPr>
              <a:t> </a:t>
            </a:r>
          </a:p>
        </p:txBody>
      </p:sp>
      <p:sp>
        <p:nvSpPr>
          <p:cNvPr id="33"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45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Rocket">
            <a:extLst>
              <a:ext uri="{FF2B5EF4-FFF2-40B4-BE49-F238E27FC236}">
                <a16:creationId xmlns:a16="http://schemas.microsoft.com/office/drawing/2014/main" id="{A4F99B37-4B05-77F9-BAFD-0969FD24B61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81544" y="1267079"/>
            <a:ext cx="4087368" cy="4087368"/>
          </a:xfrm>
          <a:prstGeom prst="rect">
            <a:avLst/>
          </a:prstGeom>
        </p:spPr>
      </p:pic>
    </p:spTree>
    <p:extLst>
      <p:ext uri="{BB962C8B-B14F-4D97-AF65-F5344CB8AC3E}">
        <p14:creationId xmlns:p14="http://schemas.microsoft.com/office/powerpoint/2010/main" val="2600454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nodeType="withEffect">
                                  <p:stCondLst>
                                    <p:cond delay="500"/>
                                  </p:stCondLst>
                                  <p:iterate>
                                    <p:tmPct val="10000"/>
                                  </p:iterate>
                                  <p:childTnLst>
                                    <p:set>
                                      <p:cBhvr>
                                        <p:cTn id="9" dur="1" fill="hold">
                                          <p:stCondLst>
                                            <p:cond delay="0"/>
                                          </p:stCondLst>
                                        </p:cTn>
                                        <p:tgtEl>
                                          <p:spTgt spid="7"/>
                                        </p:tgtEl>
                                        <p:attrNameLst>
                                          <p:attrName>style.visibility</p:attrName>
                                        </p:attrNameLst>
                                      </p:cBhvr>
                                      <p:to>
                                        <p:strVal val="visible"/>
                                      </p:to>
                                    </p:set>
                                    <p:animEffect transition="in" filter="fade">
                                      <p:cBhvr>
                                        <p:cTn id="10"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BB18A35-36CA-AD02-CC4B-4C6100668070}"/>
              </a:ext>
            </a:extLst>
          </p:cNvPr>
          <p:cNvSpPr>
            <a:spLocks noGrp="1"/>
          </p:cNvSpPr>
          <p:nvPr>
            <p:ph type="title"/>
          </p:nvPr>
        </p:nvSpPr>
        <p:spPr>
          <a:xfrm>
            <a:off x="793662" y="386930"/>
            <a:ext cx="10066122" cy="1298448"/>
          </a:xfrm>
        </p:spPr>
        <p:txBody>
          <a:bodyPr anchor="b">
            <a:normAutofit/>
          </a:bodyPr>
          <a:lstStyle/>
          <a:p>
            <a:r>
              <a:rPr lang="en-US" sz="4800">
                <a:solidFill>
                  <a:srgbClr val="FF0000"/>
                </a:solidFill>
              </a:rPr>
              <a:t>1. TỔNG QUAN ĐỀ TÀI</a:t>
            </a:r>
          </a:p>
        </p:txBody>
      </p:sp>
      <p:sp>
        <p:nvSpPr>
          <p:cNvPr id="37" name="Rectangle 36">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E0F73B2-5204-C2E6-0F02-D000DE47E729}"/>
              </a:ext>
            </a:extLst>
          </p:cNvPr>
          <p:cNvSpPr>
            <a:spLocks noGrp="1"/>
          </p:cNvSpPr>
          <p:nvPr>
            <p:ph idx="1"/>
          </p:nvPr>
        </p:nvSpPr>
        <p:spPr>
          <a:xfrm>
            <a:off x="168964" y="2599509"/>
            <a:ext cx="5742567" cy="3639450"/>
          </a:xfrm>
        </p:spPr>
        <p:txBody>
          <a:bodyPr anchor="ctr">
            <a:normAutofit/>
          </a:bodyPr>
          <a:lstStyle/>
          <a:p>
            <a:pPr marL="0" indent="0">
              <a:buNone/>
            </a:pPr>
            <a:r>
              <a:rPr lang="en-US" sz="2000"/>
              <a:t>Nhận thấy, so với việc tìm kiếm thông tin tài liệu về thủy sản truyền thống thì việc tìm kiếm thông tin trên một trang Web chuyên về Thủy Sản , có một nơi để cộng đồng chăn nuôi thủy sản có thể cùng nhau chia sẻ kiến thức ,nhận cảnh báo phòng chóng dịch bệnh sớm nhất đạt hiệu quả cao hơn với lợi thế của công nghệ internet nên việc truyền tải thông tin về thủy sản nhann chóng , an toàn và tiện lợi cho người nuôi.</a:t>
            </a:r>
          </a:p>
        </p:txBody>
      </p:sp>
      <p:pic>
        <p:nvPicPr>
          <p:cNvPr id="5" name="Picture 4" descr="A screenshot of a website&#10;&#10;AI-generated content may be incorrect.">
            <a:extLst>
              <a:ext uri="{FF2B5EF4-FFF2-40B4-BE49-F238E27FC236}">
                <a16:creationId xmlns:a16="http://schemas.microsoft.com/office/drawing/2014/main" id="{0D83EB7C-2F25-8495-1BA3-C29E6FACC4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999" y="3094011"/>
            <a:ext cx="5150277" cy="2459257"/>
          </a:xfrm>
          <a:prstGeom prst="rect">
            <a:avLst/>
          </a:prstGeom>
        </p:spPr>
      </p:pic>
      <p:sp>
        <p:nvSpPr>
          <p:cNvPr id="41" name="Rectangle 40">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678499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8" name="Arc 17">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2CE73C3-D4CC-998E-621B-34A02BA56D21}"/>
              </a:ext>
            </a:extLst>
          </p:cNvPr>
          <p:cNvSpPr>
            <a:spLocks noGrp="1"/>
          </p:cNvSpPr>
          <p:nvPr>
            <p:ph type="title"/>
          </p:nvPr>
        </p:nvSpPr>
        <p:spPr>
          <a:xfrm>
            <a:off x="637162" y="271558"/>
            <a:ext cx="5458838" cy="1325563"/>
          </a:xfrm>
        </p:spPr>
        <p:txBody>
          <a:bodyPr vert="horz" lIns="91440" tIns="45720" rIns="91440" bIns="45720" rtlCol="0" anchor="ctr">
            <a:normAutofit/>
          </a:bodyPr>
          <a:lstStyle/>
          <a:p>
            <a:r>
              <a:rPr lang="en-US" kern="1200">
                <a:solidFill>
                  <a:srgbClr val="FF0000"/>
                </a:solidFill>
                <a:latin typeface="+mj-lt"/>
                <a:ea typeface="+mj-ea"/>
                <a:cs typeface="+mj-cs"/>
              </a:rPr>
              <a:t>LÝ DO CHỌN ĐỀ TÀI</a:t>
            </a:r>
          </a:p>
        </p:txBody>
      </p:sp>
      <p:sp>
        <p:nvSpPr>
          <p:cNvPr id="20" name="Freeform: Shape 19">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TextBox 8">
            <a:extLst>
              <a:ext uri="{FF2B5EF4-FFF2-40B4-BE49-F238E27FC236}">
                <a16:creationId xmlns:a16="http://schemas.microsoft.com/office/drawing/2014/main" id="{5F3989D9-CC76-92F2-201C-34CF53753FD0}"/>
              </a:ext>
            </a:extLst>
          </p:cNvPr>
          <p:cNvSpPr txBox="1"/>
          <p:nvPr/>
        </p:nvSpPr>
        <p:spPr>
          <a:xfrm>
            <a:off x="1799302" y="4631202"/>
            <a:ext cx="9914444" cy="980859"/>
          </a:xfrm>
          <a:prstGeom prst="rect">
            <a:avLst/>
          </a:prstGeom>
        </p:spPr>
        <p:txBody>
          <a:bodyPr vert="horz" lIns="91440" tIns="45720" rIns="91440" bIns="45720" rtlCol="0">
            <a:normAutofit/>
          </a:bodyPr>
          <a:lstStyle/>
          <a:p>
            <a:pPr defTabSz="914400">
              <a:lnSpc>
                <a:spcPct val="90000"/>
              </a:lnSpc>
              <a:spcAft>
                <a:spcPts val="600"/>
              </a:spcAft>
            </a:pPr>
            <a:r>
              <a:rPr lang="en-US"/>
              <a:t>“Xây dựng Website cung cấp kỹ thuật thông tin nuôi trồng thủy sản” là việc cần thiết để tạo điều kiện thuận lợi cho người nuôi trồng thủy sản, cập nhật thông tin liên tục  mọi lúc mọi nơi một cách nhanh chóng.</a:t>
            </a:r>
          </a:p>
        </p:txBody>
      </p:sp>
      <p:graphicFrame>
        <p:nvGraphicFramePr>
          <p:cNvPr id="14" name="Table 13">
            <a:extLst>
              <a:ext uri="{FF2B5EF4-FFF2-40B4-BE49-F238E27FC236}">
                <a16:creationId xmlns:a16="http://schemas.microsoft.com/office/drawing/2014/main" id="{657BA05B-BAA8-5FE9-26DE-703E2AF5CDF6}"/>
              </a:ext>
            </a:extLst>
          </p:cNvPr>
          <p:cNvGraphicFramePr>
            <a:graphicFrameLocks noGrp="1"/>
          </p:cNvGraphicFramePr>
          <p:nvPr>
            <p:extLst>
              <p:ext uri="{D42A27DB-BD31-4B8C-83A1-F6EECF244321}">
                <p14:modId xmlns:p14="http://schemas.microsoft.com/office/powerpoint/2010/main" val="2630933866"/>
              </p:ext>
            </p:extLst>
          </p:nvPr>
        </p:nvGraphicFramePr>
        <p:xfrm>
          <a:off x="1799302" y="2064141"/>
          <a:ext cx="8977608" cy="1996440"/>
        </p:xfrm>
        <a:graphic>
          <a:graphicData uri="http://schemas.openxmlformats.org/drawingml/2006/table">
            <a:tbl>
              <a:tblPr firstRow="1" bandRow="1">
                <a:tableStyleId>{5940675A-B579-460E-94D1-54222C63F5DA}</a:tableStyleId>
              </a:tblPr>
              <a:tblGrid>
                <a:gridCol w="4488804">
                  <a:extLst>
                    <a:ext uri="{9D8B030D-6E8A-4147-A177-3AD203B41FA5}">
                      <a16:colId xmlns:a16="http://schemas.microsoft.com/office/drawing/2014/main" val="1812352238"/>
                    </a:ext>
                  </a:extLst>
                </a:gridCol>
                <a:gridCol w="4488804">
                  <a:extLst>
                    <a:ext uri="{9D8B030D-6E8A-4147-A177-3AD203B41FA5}">
                      <a16:colId xmlns:a16="http://schemas.microsoft.com/office/drawing/2014/main" val="433852188"/>
                    </a:ext>
                  </a:extLst>
                </a:gridCol>
              </a:tblGrid>
              <a:tr h="13255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500" cap="none" spc="0">
                          <a:solidFill>
                            <a:schemeClr val="tx1"/>
                          </a:solidFill>
                        </a:rPr>
                        <a:t>Mong muốn đưa thông tin kỹ thuật chăn nuôi tốt nhất đến người nuôi thông qua website.</a:t>
                      </a:r>
                    </a:p>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500" cap="none" spc="0">
                          <a:solidFill>
                            <a:schemeClr val="tx1"/>
                          </a:solidFill>
                        </a:rPr>
                        <a:t>Giúp tối ưu hóa chi phí, nâng cao hiệu quả năng suất sản lượng. Dễ dàng tiếp cận tìm kiếm thông tin về Thủy Sản.</a:t>
                      </a:r>
                    </a:p>
                    <a:p>
                      <a:endParaRPr lang="en-US" sz="2500"/>
                    </a:p>
                  </a:txBody>
                  <a:tcPr/>
                </a:tc>
                <a:extLst>
                  <a:ext uri="{0D108BD9-81ED-4DB2-BD59-A6C34878D82A}">
                    <a16:rowId xmlns:a16="http://schemas.microsoft.com/office/drawing/2014/main" val="1066193880"/>
                  </a:ext>
                </a:extLst>
              </a:tr>
            </a:tbl>
          </a:graphicData>
        </a:graphic>
      </p:graphicFrame>
      <p:pic>
        <p:nvPicPr>
          <p:cNvPr id="17" name="Graphic 16" descr="Arrow Right with solid fill">
            <a:extLst>
              <a:ext uri="{FF2B5EF4-FFF2-40B4-BE49-F238E27FC236}">
                <a16:creationId xmlns:a16="http://schemas.microsoft.com/office/drawing/2014/main" id="{371CD610-43A4-4793-0B97-FD46DB5CA45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8574" y="4710069"/>
            <a:ext cx="624948" cy="624948"/>
          </a:xfrm>
          <a:prstGeom prst="rect">
            <a:avLst/>
          </a:prstGeom>
        </p:spPr>
      </p:pic>
    </p:spTree>
    <p:extLst>
      <p:ext uri="{BB962C8B-B14F-4D97-AF65-F5344CB8AC3E}">
        <p14:creationId xmlns:p14="http://schemas.microsoft.com/office/powerpoint/2010/main" val="21597274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1000"/>
                                        <p:tgtEl>
                                          <p:spTgt spid="17"/>
                                        </p:tgtEl>
                                      </p:cBhvr>
                                    </p:animEffect>
                                    <p:anim calcmode="lin" valueType="num">
                                      <p:cBhvr>
                                        <p:cTn id="8" dur="1000" fill="hold"/>
                                        <p:tgtEl>
                                          <p:spTgt spid="17"/>
                                        </p:tgtEl>
                                        <p:attrNameLst>
                                          <p:attrName>ppt_x</p:attrName>
                                        </p:attrNameLst>
                                      </p:cBhvr>
                                      <p:tavLst>
                                        <p:tav tm="0">
                                          <p:val>
                                            <p:strVal val="#ppt_x"/>
                                          </p:val>
                                        </p:tav>
                                        <p:tav tm="100000">
                                          <p:val>
                                            <p:strVal val="#ppt_x"/>
                                          </p:val>
                                        </p:tav>
                                      </p:tavLst>
                                    </p:anim>
                                    <p:anim calcmode="lin" valueType="num">
                                      <p:cBhvr>
                                        <p:cTn id="9"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xEl>
                                              <p:pRg st="0" end="0"/>
                                            </p:txEl>
                                          </p:spTgt>
                                        </p:tgtEl>
                                        <p:attrNameLst>
                                          <p:attrName>style.visibility</p:attrName>
                                        </p:attrNameLst>
                                      </p:cBhvr>
                                      <p:to>
                                        <p:strVal val="visible"/>
                                      </p:to>
                                    </p:set>
                                    <p:animEffect transition="in" filter="fade">
                                      <p:cBhvr>
                                        <p:cTn id="14"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02ADFB-3272-E29D-DEAD-C3D21CD567BD}"/>
              </a:ext>
            </a:extLst>
          </p:cNvPr>
          <p:cNvSpPr>
            <a:spLocks noGrp="1"/>
          </p:cNvSpPr>
          <p:nvPr>
            <p:ph type="title"/>
          </p:nvPr>
        </p:nvSpPr>
        <p:spPr/>
        <p:txBody>
          <a:bodyPr/>
          <a:lstStyle/>
          <a:p>
            <a:r>
              <a:rPr lang="en-US">
                <a:solidFill>
                  <a:srgbClr val="FF0000"/>
                </a:solidFill>
              </a:rPr>
              <a:t>GIỚI THIỆU NGÔN NGỮ - FRAMEWORK</a:t>
            </a:r>
          </a:p>
        </p:txBody>
      </p:sp>
      <p:pic>
        <p:nvPicPr>
          <p:cNvPr id="4" name="Picture 3" descr="Lập trình Web nên học ngôn ngữ nào là phù hợp?">
            <a:extLst>
              <a:ext uri="{FF2B5EF4-FFF2-40B4-BE49-F238E27FC236}">
                <a16:creationId xmlns:a16="http://schemas.microsoft.com/office/drawing/2014/main" id="{A9B77572-4BD7-78B0-605C-94BB5C45B7B0}"/>
              </a:ext>
            </a:extLst>
          </p:cNvPr>
          <p:cNvPicPr>
            <a:picLocks noChangeAspect="1"/>
          </p:cNvPicPr>
          <p:nvPr/>
        </p:nvPicPr>
        <p:blipFill>
          <a:blip r:embed="rId2"/>
          <a:srcRect r="64508"/>
          <a:stretch>
            <a:fillRect/>
          </a:stretch>
        </p:blipFill>
        <p:spPr>
          <a:xfrm>
            <a:off x="838200" y="3429000"/>
            <a:ext cx="1495479" cy="1978332"/>
          </a:xfrm>
          <a:prstGeom prst="rect">
            <a:avLst/>
          </a:prstGeom>
        </p:spPr>
      </p:pic>
      <p:pic>
        <p:nvPicPr>
          <p:cNvPr id="5" name="Picture 4" descr="HomeNest">
            <a:extLst>
              <a:ext uri="{FF2B5EF4-FFF2-40B4-BE49-F238E27FC236}">
                <a16:creationId xmlns:a16="http://schemas.microsoft.com/office/drawing/2014/main" id="{079E3564-4B0A-0851-6E51-1DBF6A789DED}"/>
              </a:ext>
            </a:extLst>
          </p:cNvPr>
          <p:cNvPicPr>
            <a:picLocks noChangeAspect="1"/>
          </p:cNvPicPr>
          <p:nvPr/>
        </p:nvPicPr>
        <p:blipFill>
          <a:blip r:embed="rId3"/>
          <a:stretch>
            <a:fillRect/>
          </a:stretch>
        </p:blipFill>
        <p:spPr>
          <a:xfrm>
            <a:off x="1276729" y="5391150"/>
            <a:ext cx="2828033" cy="1466850"/>
          </a:xfrm>
          <a:prstGeom prst="rect">
            <a:avLst/>
          </a:prstGeom>
        </p:spPr>
      </p:pic>
      <p:pic>
        <p:nvPicPr>
          <p:cNvPr id="6" name="Picture 5" descr="PHP MYSQL | Chương trình Học viện công nghệ BKACAD">
            <a:extLst>
              <a:ext uri="{FF2B5EF4-FFF2-40B4-BE49-F238E27FC236}">
                <a16:creationId xmlns:a16="http://schemas.microsoft.com/office/drawing/2014/main" id="{A130DC9D-B336-EF38-6F94-CF9E8AA1FDAF}"/>
              </a:ext>
            </a:extLst>
          </p:cNvPr>
          <p:cNvPicPr>
            <a:picLocks noChangeAspect="1"/>
          </p:cNvPicPr>
          <p:nvPr/>
        </p:nvPicPr>
        <p:blipFill>
          <a:blip r:embed="rId4"/>
          <a:stretch>
            <a:fillRect/>
          </a:stretch>
        </p:blipFill>
        <p:spPr>
          <a:xfrm>
            <a:off x="7258357" y="3670412"/>
            <a:ext cx="2914650" cy="1571625"/>
          </a:xfrm>
          <a:prstGeom prst="rect">
            <a:avLst/>
          </a:prstGeom>
        </p:spPr>
      </p:pic>
      <p:pic>
        <p:nvPicPr>
          <p:cNvPr id="7" name="Content Placeholder 6" descr="Lập trình Web nên học ngôn ngữ nào là phù hợp?">
            <a:extLst>
              <a:ext uri="{FF2B5EF4-FFF2-40B4-BE49-F238E27FC236}">
                <a16:creationId xmlns:a16="http://schemas.microsoft.com/office/drawing/2014/main" id="{D864216F-3C39-511A-4C6D-AE827C8D57B7}"/>
              </a:ext>
            </a:extLst>
          </p:cNvPr>
          <p:cNvPicPr>
            <a:picLocks noGrp="1" noChangeAspect="1"/>
          </p:cNvPicPr>
          <p:nvPr>
            <p:ph idx="1"/>
          </p:nvPr>
        </p:nvPicPr>
        <p:blipFill>
          <a:blip r:embed="rId2"/>
          <a:srcRect l="66755"/>
          <a:stretch>
            <a:fillRect/>
          </a:stretch>
        </p:blipFill>
        <p:spPr>
          <a:xfrm>
            <a:off x="3116131" y="3392351"/>
            <a:ext cx="1426757" cy="2014981"/>
          </a:xfrm>
          <a:prstGeom prst="rect">
            <a:avLst/>
          </a:prstGeom>
        </p:spPr>
      </p:pic>
      <p:sp>
        <p:nvSpPr>
          <p:cNvPr id="8" name="TextBox 7">
            <a:extLst>
              <a:ext uri="{FF2B5EF4-FFF2-40B4-BE49-F238E27FC236}">
                <a16:creationId xmlns:a16="http://schemas.microsoft.com/office/drawing/2014/main" id="{2E96FDD3-3DD2-B5B7-98C7-1C993EC49B32}"/>
              </a:ext>
            </a:extLst>
          </p:cNvPr>
          <p:cNvSpPr txBox="1"/>
          <p:nvPr/>
        </p:nvSpPr>
        <p:spPr>
          <a:xfrm>
            <a:off x="1190060" y="2294013"/>
            <a:ext cx="3470788" cy="707886"/>
          </a:xfrm>
          <a:prstGeom prst="rect">
            <a:avLst/>
          </a:prstGeom>
          <a:noFill/>
        </p:spPr>
        <p:txBody>
          <a:bodyPr wrap="square" rtlCol="0">
            <a:spAutoFit/>
          </a:bodyPr>
          <a:lstStyle/>
          <a:p>
            <a:r>
              <a:rPr lang="en-US" sz="4000"/>
              <a:t>FRONT END</a:t>
            </a:r>
          </a:p>
        </p:txBody>
      </p:sp>
      <p:sp>
        <p:nvSpPr>
          <p:cNvPr id="12" name="TextBox 11">
            <a:extLst>
              <a:ext uri="{FF2B5EF4-FFF2-40B4-BE49-F238E27FC236}">
                <a16:creationId xmlns:a16="http://schemas.microsoft.com/office/drawing/2014/main" id="{9299A899-246A-03E3-922D-B994E6FB7D41}"/>
              </a:ext>
            </a:extLst>
          </p:cNvPr>
          <p:cNvSpPr txBox="1"/>
          <p:nvPr/>
        </p:nvSpPr>
        <p:spPr>
          <a:xfrm>
            <a:off x="7258357" y="2326607"/>
            <a:ext cx="3470788" cy="707886"/>
          </a:xfrm>
          <a:prstGeom prst="rect">
            <a:avLst/>
          </a:prstGeom>
          <a:noFill/>
        </p:spPr>
        <p:txBody>
          <a:bodyPr wrap="square">
            <a:spAutoFit/>
          </a:bodyPr>
          <a:lstStyle/>
          <a:p>
            <a:r>
              <a:rPr lang="en-US" sz="3000"/>
              <a:t> </a:t>
            </a:r>
            <a:r>
              <a:rPr lang="en-US" sz="4000"/>
              <a:t>BACK END</a:t>
            </a:r>
          </a:p>
        </p:txBody>
      </p:sp>
    </p:spTree>
    <p:extLst>
      <p:ext uri="{BB962C8B-B14F-4D97-AF65-F5344CB8AC3E}">
        <p14:creationId xmlns:p14="http://schemas.microsoft.com/office/powerpoint/2010/main" val="4128028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AE229-4C90-3902-C6CF-57579CD9C905}"/>
              </a:ext>
            </a:extLst>
          </p:cNvPr>
          <p:cNvSpPr>
            <a:spLocks noGrp="1"/>
          </p:cNvSpPr>
          <p:nvPr>
            <p:ph type="title"/>
          </p:nvPr>
        </p:nvSpPr>
        <p:spPr>
          <a:xfrm>
            <a:off x="429343" y="141584"/>
            <a:ext cx="3861619" cy="598436"/>
          </a:xfrm>
        </p:spPr>
        <p:txBody>
          <a:bodyPr>
            <a:normAutofit fontScale="90000"/>
          </a:bodyPr>
          <a:lstStyle/>
          <a:p>
            <a:r>
              <a:rPr lang="en-US">
                <a:solidFill>
                  <a:srgbClr val="FF0000"/>
                </a:solidFill>
              </a:rPr>
              <a:t>CHỨC NĂNG</a:t>
            </a:r>
          </a:p>
        </p:txBody>
      </p:sp>
      <p:sp>
        <p:nvSpPr>
          <p:cNvPr id="3" name="Content Placeholder 2">
            <a:extLst>
              <a:ext uri="{FF2B5EF4-FFF2-40B4-BE49-F238E27FC236}">
                <a16:creationId xmlns:a16="http://schemas.microsoft.com/office/drawing/2014/main" id="{DC7A8522-0C18-C800-92D6-EF6D5A156B32}"/>
              </a:ext>
            </a:extLst>
          </p:cNvPr>
          <p:cNvSpPr>
            <a:spLocks noGrp="1"/>
          </p:cNvSpPr>
          <p:nvPr>
            <p:ph idx="1"/>
          </p:nvPr>
        </p:nvSpPr>
        <p:spPr>
          <a:xfrm>
            <a:off x="1166941" y="2976879"/>
            <a:ext cx="2601914" cy="343203"/>
          </a:xfrm>
        </p:spPr>
        <p:txBody>
          <a:bodyPr>
            <a:normAutofit/>
          </a:bodyPr>
          <a:lstStyle/>
          <a:p>
            <a:pPr marL="0" indent="0">
              <a:buNone/>
            </a:pPr>
            <a:r>
              <a:rPr lang="en-US" sz="1600"/>
              <a:t>ĐĂNG KÝ, ĐĂNG NHẬP   </a:t>
            </a:r>
          </a:p>
          <a:p>
            <a:endParaRPr lang="en-US"/>
          </a:p>
        </p:txBody>
      </p:sp>
      <p:sp>
        <p:nvSpPr>
          <p:cNvPr id="9" name="TextBox 8">
            <a:extLst>
              <a:ext uri="{FF2B5EF4-FFF2-40B4-BE49-F238E27FC236}">
                <a16:creationId xmlns:a16="http://schemas.microsoft.com/office/drawing/2014/main" id="{1F5C41BD-8534-8449-D36C-E6209C467E9F}"/>
              </a:ext>
            </a:extLst>
          </p:cNvPr>
          <p:cNvSpPr txBox="1"/>
          <p:nvPr/>
        </p:nvSpPr>
        <p:spPr>
          <a:xfrm>
            <a:off x="5626539" y="1610427"/>
            <a:ext cx="740697" cy="369332"/>
          </a:xfrm>
          <a:prstGeom prst="rect">
            <a:avLst/>
          </a:prstGeom>
          <a:noFill/>
        </p:spPr>
        <p:txBody>
          <a:bodyPr wrap="square">
            <a:spAutoFit/>
          </a:bodyPr>
          <a:lstStyle/>
          <a:p>
            <a:r>
              <a:rPr lang="en-US">
                <a:solidFill>
                  <a:srgbClr val="FF0000"/>
                </a:solidFill>
              </a:rPr>
              <a:t>USER</a:t>
            </a:r>
            <a:r>
              <a:rPr lang="en-US"/>
              <a:t>  </a:t>
            </a:r>
          </a:p>
        </p:txBody>
      </p:sp>
      <p:sp>
        <p:nvSpPr>
          <p:cNvPr id="20" name="TextBox 19">
            <a:extLst>
              <a:ext uri="{FF2B5EF4-FFF2-40B4-BE49-F238E27FC236}">
                <a16:creationId xmlns:a16="http://schemas.microsoft.com/office/drawing/2014/main" id="{C52FFA67-E87A-D3CC-BD70-219A34145104}"/>
              </a:ext>
            </a:extLst>
          </p:cNvPr>
          <p:cNvSpPr txBox="1"/>
          <p:nvPr/>
        </p:nvSpPr>
        <p:spPr>
          <a:xfrm>
            <a:off x="8849250" y="2981528"/>
            <a:ext cx="1402734" cy="338554"/>
          </a:xfrm>
          <a:prstGeom prst="rect">
            <a:avLst/>
          </a:prstGeom>
          <a:noFill/>
        </p:spPr>
        <p:txBody>
          <a:bodyPr wrap="square">
            <a:spAutoFit/>
          </a:bodyPr>
          <a:lstStyle/>
          <a:p>
            <a:pPr marL="0" indent="0">
              <a:buNone/>
            </a:pPr>
            <a:r>
              <a:rPr lang="en-US" sz="1600"/>
              <a:t>ĐĂNG BÀI   </a:t>
            </a:r>
          </a:p>
        </p:txBody>
      </p:sp>
      <p:sp>
        <p:nvSpPr>
          <p:cNvPr id="22" name="TextBox 21">
            <a:extLst>
              <a:ext uri="{FF2B5EF4-FFF2-40B4-BE49-F238E27FC236}">
                <a16:creationId xmlns:a16="http://schemas.microsoft.com/office/drawing/2014/main" id="{ABACCE0F-BD11-3751-5F83-658AA8CAF7CB}"/>
              </a:ext>
            </a:extLst>
          </p:cNvPr>
          <p:cNvSpPr txBox="1"/>
          <p:nvPr/>
        </p:nvSpPr>
        <p:spPr>
          <a:xfrm>
            <a:off x="5908317" y="4746524"/>
            <a:ext cx="2435122" cy="369332"/>
          </a:xfrm>
          <a:prstGeom prst="rect">
            <a:avLst/>
          </a:prstGeom>
          <a:noFill/>
        </p:spPr>
        <p:txBody>
          <a:bodyPr wrap="square">
            <a:spAutoFit/>
          </a:bodyPr>
          <a:lstStyle/>
          <a:p>
            <a:pPr marL="0" indent="0">
              <a:buNone/>
            </a:pPr>
            <a:r>
              <a:rPr lang="en-US"/>
              <a:t>TÌM KIẾM THÔNG TIN</a:t>
            </a:r>
            <a:r>
              <a:rPr lang="en-US" sz="1800"/>
              <a:t>   </a:t>
            </a:r>
          </a:p>
        </p:txBody>
      </p:sp>
      <p:sp>
        <p:nvSpPr>
          <p:cNvPr id="24" name="TextBox 23">
            <a:extLst>
              <a:ext uri="{FF2B5EF4-FFF2-40B4-BE49-F238E27FC236}">
                <a16:creationId xmlns:a16="http://schemas.microsoft.com/office/drawing/2014/main" id="{6A21B816-2C51-68E5-6EE4-E97941C77F34}"/>
              </a:ext>
            </a:extLst>
          </p:cNvPr>
          <p:cNvSpPr txBox="1"/>
          <p:nvPr/>
        </p:nvSpPr>
        <p:spPr>
          <a:xfrm>
            <a:off x="429343" y="4592636"/>
            <a:ext cx="2143432" cy="338554"/>
          </a:xfrm>
          <a:prstGeom prst="rect">
            <a:avLst/>
          </a:prstGeom>
          <a:noFill/>
        </p:spPr>
        <p:txBody>
          <a:bodyPr wrap="square">
            <a:spAutoFit/>
          </a:bodyPr>
          <a:lstStyle/>
          <a:p>
            <a:pPr marL="0" indent="0">
              <a:buNone/>
            </a:pPr>
            <a:r>
              <a:rPr lang="en-US" sz="1600"/>
              <a:t>QUẢN LÝ PROFILE</a:t>
            </a:r>
          </a:p>
        </p:txBody>
      </p:sp>
      <p:sp>
        <p:nvSpPr>
          <p:cNvPr id="26" name="TextBox 25">
            <a:extLst>
              <a:ext uri="{FF2B5EF4-FFF2-40B4-BE49-F238E27FC236}">
                <a16:creationId xmlns:a16="http://schemas.microsoft.com/office/drawing/2014/main" id="{7AC7E529-CD09-A482-0D65-A9362CADE1BD}"/>
              </a:ext>
            </a:extLst>
          </p:cNvPr>
          <p:cNvSpPr txBox="1"/>
          <p:nvPr/>
        </p:nvSpPr>
        <p:spPr>
          <a:xfrm>
            <a:off x="3005978" y="4683319"/>
            <a:ext cx="2435122" cy="338554"/>
          </a:xfrm>
          <a:prstGeom prst="rect">
            <a:avLst/>
          </a:prstGeom>
          <a:noFill/>
        </p:spPr>
        <p:txBody>
          <a:bodyPr wrap="square">
            <a:spAutoFit/>
          </a:bodyPr>
          <a:lstStyle/>
          <a:p>
            <a:pPr marL="0" indent="0">
              <a:buNone/>
            </a:pPr>
            <a:r>
              <a:rPr lang="en-US" sz="1600"/>
              <a:t>THAY ĐỔI THÔNG TIN</a:t>
            </a:r>
          </a:p>
        </p:txBody>
      </p:sp>
      <p:sp>
        <p:nvSpPr>
          <p:cNvPr id="28" name="TextBox 27">
            <a:extLst>
              <a:ext uri="{FF2B5EF4-FFF2-40B4-BE49-F238E27FC236}">
                <a16:creationId xmlns:a16="http://schemas.microsoft.com/office/drawing/2014/main" id="{29B5F134-1CBA-3837-C268-998603AC17AF}"/>
              </a:ext>
            </a:extLst>
          </p:cNvPr>
          <p:cNvSpPr txBox="1"/>
          <p:nvPr/>
        </p:nvSpPr>
        <p:spPr>
          <a:xfrm>
            <a:off x="9027015" y="4746524"/>
            <a:ext cx="657301" cy="369332"/>
          </a:xfrm>
          <a:prstGeom prst="rect">
            <a:avLst/>
          </a:prstGeom>
          <a:noFill/>
        </p:spPr>
        <p:txBody>
          <a:bodyPr wrap="square">
            <a:spAutoFit/>
          </a:bodyPr>
          <a:lstStyle/>
          <a:p>
            <a:pPr marL="0" indent="0">
              <a:buNone/>
            </a:pPr>
            <a:r>
              <a:rPr lang="en-US" sz="1800"/>
              <a:t>XÓA     </a:t>
            </a:r>
          </a:p>
        </p:txBody>
      </p:sp>
      <p:sp>
        <p:nvSpPr>
          <p:cNvPr id="30" name="TextBox 29">
            <a:extLst>
              <a:ext uri="{FF2B5EF4-FFF2-40B4-BE49-F238E27FC236}">
                <a16:creationId xmlns:a16="http://schemas.microsoft.com/office/drawing/2014/main" id="{7E9B5F83-5207-37F2-B87D-BEF3F5B2264F}"/>
              </a:ext>
            </a:extLst>
          </p:cNvPr>
          <p:cNvSpPr txBox="1"/>
          <p:nvPr/>
        </p:nvSpPr>
        <p:spPr>
          <a:xfrm>
            <a:off x="10359102" y="4775059"/>
            <a:ext cx="1403555" cy="369332"/>
          </a:xfrm>
          <a:prstGeom prst="rect">
            <a:avLst/>
          </a:prstGeom>
          <a:noFill/>
        </p:spPr>
        <p:txBody>
          <a:bodyPr wrap="square">
            <a:spAutoFit/>
          </a:bodyPr>
          <a:lstStyle/>
          <a:p>
            <a:r>
              <a:rPr lang="en-US" sz="1800"/>
              <a:t>ĐÁNH GIÁ </a:t>
            </a:r>
            <a:endParaRPr lang="en-US"/>
          </a:p>
        </p:txBody>
      </p:sp>
      <p:graphicFrame>
        <p:nvGraphicFramePr>
          <p:cNvPr id="32" name="Table 31">
            <a:extLst>
              <a:ext uri="{FF2B5EF4-FFF2-40B4-BE49-F238E27FC236}">
                <a16:creationId xmlns:a16="http://schemas.microsoft.com/office/drawing/2014/main" id="{5FA09803-A2DE-5154-BCF6-4B83BA65A557}"/>
              </a:ext>
            </a:extLst>
          </p:cNvPr>
          <p:cNvGraphicFramePr>
            <a:graphicFrameLocks noGrp="1"/>
          </p:cNvGraphicFramePr>
          <p:nvPr>
            <p:extLst>
              <p:ext uri="{D42A27DB-BD31-4B8C-83A1-F6EECF244321}">
                <p14:modId xmlns:p14="http://schemas.microsoft.com/office/powerpoint/2010/main" val="2716750641"/>
              </p:ext>
            </p:extLst>
          </p:nvPr>
        </p:nvGraphicFramePr>
        <p:xfrm>
          <a:off x="5231346" y="1229033"/>
          <a:ext cx="1592242" cy="1081548"/>
        </p:xfrm>
        <a:graphic>
          <a:graphicData uri="http://schemas.openxmlformats.org/drawingml/2006/table">
            <a:tbl>
              <a:tblPr firstRow="1" bandRow="1">
                <a:tableStyleId>{5940675A-B579-460E-94D1-54222C63F5DA}</a:tableStyleId>
              </a:tblPr>
              <a:tblGrid>
                <a:gridCol w="1592242">
                  <a:extLst>
                    <a:ext uri="{9D8B030D-6E8A-4147-A177-3AD203B41FA5}">
                      <a16:colId xmlns:a16="http://schemas.microsoft.com/office/drawing/2014/main" val="2318645389"/>
                    </a:ext>
                  </a:extLst>
                </a:gridCol>
              </a:tblGrid>
              <a:tr h="1081548">
                <a:tc>
                  <a:txBody>
                    <a:bodyPr/>
                    <a:lstStyle/>
                    <a:p>
                      <a:endParaRPr lang="en-US"/>
                    </a:p>
                  </a:txBody>
                  <a:tcPr/>
                </a:tc>
                <a:extLst>
                  <a:ext uri="{0D108BD9-81ED-4DB2-BD59-A6C34878D82A}">
                    <a16:rowId xmlns:a16="http://schemas.microsoft.com/office/drawing/2014/main" val="623786183"/>
                  </a:ext>
                </a:extLst>
              </a:tr>
            </a:tbl>
          </a:graphicData>
        </a:graphic>
      </p:graphicFrame>
      <p:graphicFrame>
        <p:nvGraphicFramePr>
          <p:cNvPr id="33" name="Table 32">
            <a:extLst>
              <a:ext uri="{FF2B5EF4-FFF2-40B4-BE49-F238E27FC236}">
                <a16:creationId xmlns:a16="http://schemas.microsoft.com/office/drawing/2014/main" id="{5189A14A-871F-DFCB-80B1-6FD86492BEF0}"/>
              </a:ext>
            </a:extLst>
          </p:cNvPr>
          <p:cNvGraphicFramePr>
            <a:graphicFrameLocks noGrp="1"/>
          </p:cNvGraphicFramePr>
          <p:nvPr>
            <p:extLst>
              <p:ext uri="{D42A27DB-BD31-4B8C-83A1-F6EECF244321}">
                <p14:modId xmlns:p14="http://schemas.microsoft.com/office/powerpoint/2010/main" val="2416316339"/>
              </p:ext>
            </p:extLst>
          </p:nvPr>
        </p:nvGraphicFramePr>
        <p:xfrm>
          <a:off x="1032386" y="2405539"/>
          <a:ext cx="2389239" cy="1281558"/>
        </p:xfrm>
        <a:graphic>
          <a:graphicData uri="http://schemas.openxmlformats.org/drawingml/2006/table">
            <a:tbl>
              <a:tblPr firstRow="1" bandRow="1">
                <a:tableStyleId>{5940675A-B579-460E-94D1-54222C63F5DA}</a:tableStyleId>
              </a:tblPr>
              <a:tblGrid>
                <a:gridCol w="2389239">
                  <a:extLst>
                    <a:ext uri="{9D8B030D-6E8A-4147-A177-3AD203B41FA5}">
                      <a16:colId xmlns:a16="http://schemas.microsoft.com/office/drawing/2014/main" val="2318645389"/>
                    </a:ext>
                  </a:extLst>
                </a:gridCol>
              </a:tblGrid>
              <a:tr h="1281558">
                <a:tc>
                  <a:txBody>
                    <a:bodyPr/>
                    <a:lstStyle/>
                    <a:p>
                      <a:endParaRPr lang="en-US"/>
                    </a:p>
                  </a:txBody>
                  <a:tcPr/>
                </a:tc>
                <a:extLst>
                  <a:ext uri="{0D108BD9-81ED-4DB2-BD59-A6C34878D82A}">
                    <a16:rowId xmlns:a16="http://schemas.microsoft.com/office/drawing/2014/main" val="623786183"/>
                  </a:ext>
                </a:extLst>
              </a:tr>
            </a:tbl>
          </a:graphicData>
        </a:graphic>
      </p:graphicFrame>
      <p:graphicFrame>
        <p:nvGraphicFramePr>
          <p:cNvPr id="34" name="Table 33">
            <a:extLst>
              <a:ext uri="{FF2B5EF4-FFF2-40B4-BE49-F238E27FC236}">
                <a16:creationId xmlns:a16="http://schemas.microsoft.com/office/drawing/2014/main" id="{53B9A558-0C6E-F45A-B8FE-755D7DCBCC73}"/>
              </a:ext>
            </a:extLst>
          </p:cNvPr>
          <p:cNvGraphicFramePr>
            <a:graphicFrameLocks noGrp="1"/>
          </p:cNvGraphicFramePr>
          <p:nvPr>
            <p:extLst>
              <p:ext uri="{D42A27DB-BD31-4B8C-83A1-F6EECF244321}">
                <p14:modId xmlns:p14="http://schemas.microsoft.com/office/powerpoint/2010/main" val="3320122422"/>
              </p:ext>
            </p:extLst>
          </p:nvPr>
        </p:nvGraphicFramePr>
        <p:xfrm>
          <a:off x="282316" y="4415811"/>
          <a:ext cx="2225367" cy="984075"/>
        </p:xfrm>
        <a:graphic>
          <a:graphicData uri="http://schemas.openxmlformats.org/drawingml/2006/table">
            <a:tbl>
              <a:tblPr firstRow="1" bandRow="1">
                <a:tableStyleId>{5940675A-B579-460E-94D1-54222C63F5DA}</a:tableStyleId>
              </a:tblPr>
              <a:tblGrid>
                <a:gridCol w="2225367">
                  <a:extLst>
                    <a:ext uri="{9D8B030D-6E8A-4147-A177-3AD203B41FA5}">
                      <a16:colId xmlns:a16="http://schemas.microsoft.com/office/drawing/2014/main" val="2318645389"/>
                    </a:ext>
                  </a:extLst>
                </a:gridCol>
              </a:tblGrid>
              <a:tr h="984075">
                <a:tc>
                  <a:txBody>
                    <a:bodyPr/>
                    <a:lstStyle/>
                    <a:p>
                      <a:endParaRPr lang="en-US"/>
                    </a:p>
                  </a:txBody>
                  <a:tcPr/>
                </a:tc>
                <a:extLst>
                  <a:ext uri="{0D108BD9-81ED-4DB2-BD59-A6C34878D82A}">
                    <a16:rowId xmlns:a16="http://schemas.microsoft.com/office/drawing/2014/main" val="623786183"/>
                  </a:ext>
                </a:extLst>
              </a:tr>
            </a:tbl>
          </a:graphicData>
        </a:graphic>
      </p:graphicFrame>
      <p:graphicFrame>
        <p:nvGraphicFramePr>
          <p:cNvPr id="35" name="Table 34">
            <a:extLst>
              <a:ext uri="{FF2B5EF4-FFF2-40B4-BE49-F238E27FC236}">
                <a16:creationId xmlns:a16="http://schemas.microsoft.com/office/drawing/2014/main" id="{0D1AC586-8CD7-00F7-C9DC-CFC350B1DC14}"/>
              </a:ext>
            </a:extLst>
          </p:cNvPr>
          <p:cNvGraphicFramePr>
            <a:graphicFrameLocks noGrp="1"/>
          </p:cNvGraphicFramePr>
          <p:nvPr>
            <p:extLst>
              <p:ext uri="{D42A27DB-BD31-4B8C-83A1-F6EECF244321}">
                <p14:modId xmlns:p14="http://schemas.microsoft.com/office/powerpoint/2010/main" val="3319049048"/>
              </p:ext>
            </p:extLst>
          </p:nvPr>
        </p:nvGraphicFramePr>
        <p:xfrm>
          <a:off x="2987220" y="4452462"/>
          <a:ext cx="2244125" cy="947424"/>
        </p:xfrm>
        <a:graphic>
          <a:graphicData uri="http://schemas.openxmlformats.org/drawingml/2006/table">
            <a:tbl>
              <a:tblPr firstRow="1" bandRow="1">
                <a:tableStyleId>{5940675A-B579-460E-94D1-54222C63F5DA}</a:tableStyleId>
              </a:tblPr>
              <a:tblGrid>
                <a:gridCol w="2244125">
                  <a:extLst>
                    <a:ext uri="{9D8B030D-6E8A-4147-A177-3AD203B41FA5}">
                      <a16:colId xmlns:a16="http://schemas.microsoft.com/office/drawing/2014/main" val="2318645389"/>
                    </a:ext>
                  </a:extLst>
                </a:gridCol>
              </a:tblGrid>
              <a:tr h="947424">
                <a:tc>
                  <a:txBody>
                    <a:bodyPr/>
                    <a:lstStyle/>
                    <a:p>
                      <a:endParaRPr lang="en-US"/>
                    </a:p>
                  </a:txBody>
                  <a:tcPr/>
                </a:tc>
                <a:extLst>
                  <a:ext uri="{0D108BD9-81ED-4DB2-BD59-A6C34878D82A}">
                    <a16:rowId xmlns:a16="http://schemas.microsoft.com/office/drawing/2014/main" val="623786183"/>
                  </a:ext>
                </a:extLst>
              </a:tr>
            </a:tbl>
          </a:graphicData>
        </a:graphic>
      </p:graphicFrame>
      <p:graphicFrame>
        <p:nvGraphicFramePr>
          <p:cNvPr id="36" name="Table 35">
            <a:extLst>
              <a:ext uri="{FF2B5EF4-FFF2-40B4-BE49-F238E27FC236}">
                <a16:creationId xmlns:a16="http://schemas.microsoft.com/office/drawing/2014/main" id="{09D0E097-A7D7-E4C5-EB66-1571F4C8F485}"/>
              </a:ext>
            </a:extLst>
          </p:cNvPr>
          <p:cNvGraphicFramePr>
            <a:graphicFrameLocks noGrp="1"/>
          </p:cNvGraphicFramePr>
          <p:nvPr>
            <p:extLst>
              <p:ext uri="{D42A27DB-BD31-4B8C-83A1-F6EECF244321}">
                <p14:modId xmlns:p14="http://schemas.microsoft.com/office/powerpoint/2010/main" val="2278792747"/>
              </p:ext>
            </p:extLst>
          </p:nvPr>
        </p:nvGraphicFramePr>
        <p:xfrm>
          <a:off x="8159901" y="2405539"/>
          <a:ext cx="2601914" cy="1281558"/>
        </p:xfrm>
        <a:graphic>
          <a:graphicData uri="http://schemas.openxmlformats.org/drawingml/2006/table">
            <a:tbl>
              <a:tblPr firstRow="1" bandRow="1">
                <a:tableStyleId>{5940675A-B579-460E-94D1-54222C63F5DA}</a:tableStyleId>
              </a:tblPr>
              <a:tblGrid>
                <a:gridCol w="2601914">
                  <a:extLst>
                    <a:ext uri="{9D8B030D-6E8A-4147-A177-3AD203B41FA5}">
                      <a16:colId xmlns:a16="http://schemas.microsoft.com/office/drawing/2014/main" val="2318645389"/>
                    </a:ext>
                  </a:extLst>
                </a:gridCol>
              </a:tblGrid>
              <a:tr h="1281558">
                <a:tc>
                  <a:txBody>
                    <a:bodyPr/>
                    <a:lstStyle/>
                    <a:p>
                      <a:endParaRPr lang="en-US"/>
                    </a:p>
                  </a:txBody>
                  <a:tcPr/>
                </a:tc>
                <a:extLst>
                  <a:ext uri="{0D108BD9-81ED-4DB2-BD59-A6C34878D82A}">
                    <a16:rowId xmlns:a16="http://schemas.microsoft.com/office/drawing/2014/main" val="623786183"/>
                  </a:ext>
                </a:extLst>
              </a:tr>
            </a:tbl>
          </a:graphicData>
        </a:graphic>
      </p:graphicFrame>
      <p:graphicFrame>
        <p:nvGraphicFramePr>
          <p:cNvPr id="37" name="Table 36">
            <a:extLst>
              <a:ext uri="{FF2B5EF4-FFF2-40B4-BE49-F238E27FC236}">
                <a16:creationId xmlns:a16="http://schemas.microsoft.com/office/drawing/2014/main" id="{77E15D99-6089-0376-340F-032273A0EFEA}"/>
              </a:ext>
            </a:extLst>
          </p:cNvPr>
          <p:cNvGraphicFramePr>
            <a:graphicFrameLocks noGrp="1"/>
          </p:cNvGraphicFramePr>
          <p:nvPr>
            <p:extLst>
              <p:ext uri="{D42A27DB-BD31-4B8C-83A1-F6EECF244321}">
                <p14:modId xmlns:p14="http://schemas.microsoft.com/office/powerpoint/2010/main" val="2142542097"/>
              </p:ext>
            </p:extLst>
          </p:nvPr>
        </p:nvGraphicFramePr>
        <p:xfrm>
          <a:off x="5802290" y="4467707"/>
          <a:ext cx="2384651" cy="895527"/>
        </p:xfrm>
        <a:graphic>
          <a:graphicData uri="http://schemas.openxmlformats.org/drawingml/2006/table">
            <a:tbl>
              <a:tblPr firstRow="1" bandRow="1">
                <a:tableStyleId>{5940675A-B579-460E-94D1-54222C63F5DA}</a:tableStyleId>
              </a:tblPr>
              <a:tblGrid>
                <a:gridCol w="2384651">
                  <a:extLst>
                    <a:ext uri="{9D8B030D-6E8A-4147-A177-3AD203B41FA5}">
                      <a16:colId xmlns:a16="http://schemas.microsoft.com/office/drawing/2014/main" val="2318645389"/>
                    </a:ext>
                  </a:extLst>
                </a:gridCol>
              </a:tblGrid>
              <a:tr h="895527">
                <a:tc>
                  <a:txBody>
                    <a:bodyPr/>
                    <a:lstStyle/>
                    <a:p>
                      <a:endParaRPr lang="en-US"/>
                    </a:p>
                  </a:txBody>
                  <a:tcPr/>
                </a:tc>
                <a:extLst>
                  <a:ext uri="{0D108BD9-81ED-4DB2-BD59-A6C34878D82A}">
                    <a16:rowId xmlns:a16="http://schemas.microsoft.com/office/drawing/2014/main" val="623786183"/>
                  </a:ext>
                </a:extLst>
              </a:tr>
            </a:tbl>
          </a:graphicData>
        </a:graphic>
      </p:graphicFrame>
      <p:graphicFrame>
        <p:nvGraphicFramePr>
          <p:cNvPr id="38" name="Table 37">
            <a:extLst>
              <a:ext uri="{FF2B5EF4-FFF2-40B4-BE49-F238E27FC236}">
                <a16:creationId xmlns:a16="http://schemas.microsoft.com/office/drawing/2014/main" id="{C4A802B7-600D-DF84-68D9-218746FE20E5}"/>
              </a:ext>
            </a:extLst>
          </p:cNvPr>
          <p:cNvGraphicFramePr>
            <a:graphicFrameLocks noGrp="1"/>
          </p:cNvGraphicFramePr>
          <p:nvPr>
            <p:extLst>
              <p:ext uri="{D42A27DB-BD31-4B8C-83A1-F6EECF244321}">
                <p14:modId xmlns:p14="http://schemas.microsoft.com/office/powerpoint/2010/main" val="4273662618"/>
              </p:ext>
            </p:extLst>
          </p:nvPr>
        </p:nvGraphicFramePr>
        <p:xfrm>
          <a:off x="8757885" y="4452461"/>
          <a:ext cx="1054709" cy="910773"/>
        </p:xfrm>
        <a:graphic>
          <a:graphicData uri="http://schemas.openxmlformats.org/drawingml/2006/table">
            <a:tbl>
              <a:tblPr firstRow="1" bandRow="1">
                <a:tableStyleId>{5940675A-B579-460E-94D1-54222C63F5DA}</a:tableStyleId>
              </a:tblPr>
              <a:tblGrid>
                <a:gridCol w="1054709">
                  <a:extLst>
                    <a:ext uri="{9D8B030D-6E8A-4147-A177-3AD203B41FA5}">
                      <a16:colId xmlns:a16="http://schemas.microsoft.com/office/drawing/2014/main" val="2318645389"/>
                    </a:ext>
                  </a:extLst>
                </a:gridCol>
              </a:tblGrid>
              <a:tr h="910773">
                <a:tc>
                  <a:txBody>
                    <a:bodyPr/>
                    <a:lstStyle/>
                    <a:p>
                      <a:endParaRPr lang="en-US"/>
                    </a:p>
                  </a:txBody>
                  <a:tcPr/>
                </a:tc>
                <a:extLst>
                  <a:ext uri="{0D108BD9-81ED-4DB2-BD59-A6C34878D82A}">
                    <a16:rowId xmlns:a16="http://schemas.microsoft.com/office/drawing/2014/main" val="623786183"/>
                  </a:ext>
                </a:extLst>
              </a:tr>
            </a:tbl>
          </a:graphicData>
        </a:graphic>
      </p:graphicFrame>
      <p:graphicFrame>
        <p:nvGraphicFramePr>
          <p:cNvPr id="39" name="Table 38">
            <a:extLst>
              <a:ext uri="{FF2B5EF4-FFF2-40B4-BE49-F238E27FC236}">
                <a16:creationId xmlns:a16="http://schemas.microsoft.com/office/drawing/2014/main" id="{D8EE7B02-5C81-4CB2-0FAF-C24A52C809DB}"/>
              </a:ext>
            </a:extLst>
          </p:cNvPr>
          <p:cNvGraphicFramePr>
            <a:graphicFrameLocks noGrp="1"/>
          </p:cNvGraphicFramePr>
          <p:nvPr>
            <p:extLst>
              <p:ext uri="{D42A27DB-BD31-4B8C-83A1-F6EECF244321}">
                <p14:modId xmlns:p14="http://schemas.microsoft.com/office/powerpoint/2010/main" val="210864779"/>
              </p:ext>
            </p:extLst>
          </p:nvPr>
        </p:nvGraphicFramePr>
        <p:xfrm>
          <a:off x="10181531" y="4467708"/>
          <a:ext cx="1573523" cy="905862"/>
        </p:xfrm>
        <a:graphic>
          <a:graphicData uri="http://schemas.openxmlformats.org/drawingml/2006/table">
            <a:tbl>
              <a:tblPr firstRow="1" bandRow="1">
                <a:tableStyleId>{5940675A-B579-460E-94D1-54222C63F5DA}</a:tableStyleId>
              </a:tblPr>
              <a:tblGrid>
                <a:gridCol w="1573523">
                  <a:extLst>
                    <a:ext uri="{9D8B030D-6E8A-4147-A177-3AD203B41FA5}">
                      <a16:colId xmlns:a16="http://schemas.microsoft.com/office/drawing/2014/main" val="2318645389"/>
                    </a:ext>
                  </a:extLst>
                </a:gridCol>
              </a:tblGrid>
              <a:tr h="905862">
                <a:tc>
                  <a:txBody>
                    <a:bodyPr/>
                    <a:lstStyle/>
                    <a:p>
                      <a:endParaRPr lang="en-US"/>
                    </a:p>
                  </a:txBody>
                  <a:tcPr/>
                </a:tc>
                <a:extLst>
                  <a:ext uri="{0D108BD9-81ED-4DB2-BD59-A6C34878D82A}">
                    <a16:rowId xmlns:a16="http://schemas.microsoft.com/office/drawing/2014/main" val="623786183"/>
                  </a:ext>
                </a:extLst>
              </a:tr>
            </a:tbl>
          </a:graphicData>
        </a:graphic>
      </p:graphicFrame>
      <p:pic>
        <p:nvPicPr>
          <p:cNvPr id="43" name="Graphic 42" descr="Business Growth with solid fill">
            <a:extLst>
              <a:ext uri="{FF2B5EF4-FFF2-40B4-BE49-F238E27FC236}">
                <a16:creationId xmlns:a16="http://schemas.microsoft.com/office/drawing/2014/main" id="{E575D9BE-D234-0A8B-093C-3B31DF0C4A0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231346" y="1109586"/>
            <a:ext cx="570944" cy="570944"/>
          </a:xfrm>
          <a:prstGeom prst="rect">
            <a:avLst/>
          </a:prstGeom>
        </p:spPr>
      </p:pic>
      <p:cxnSp>
        <p:nvCxnSpPr>
          <p:cNvPr id="45" name="Straight Connector 44">
            <a:extLst>
              <a:ext uri="{FF2B5EF4-FFF2-40B4-BE49-F238E27FC236}">
                <a16:creationId xmlns:a16="http://schemas.microsoft.com/office/drawing/2014/main" id="{C14065F3-9CA3-B13E-C7D5-53BDF13A3CDC}"/>
              </a:ext>
            </a:extLst>
          </p:cNvPr>
          <p:cNvCxnSpPr/>
          <p:nvPr/>
        </p:nvCxnSpPr>
        <p:spPr>
          <a:xfrm flipH="1">
            <a:off x="2360152" y="1610427"/>
            <a:ext cx="287119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BE4D7297-8944-C834-20B1-FD03D681B853}"/>
              </a:ext>
            </a:extLst>
          </p:cNvPr>
          <p:cNvCxnSpPr/>
          <p:nvPr/>
        </p:nvCxnSpPr>
        <p:spPr>
          <a:xfrm>
            <a:off x="2360152" y="1610427"/>
            <a:ext cx="0" cy="795112"/>
          </a:xfrm>
          <a:prstGeom prst="line">
            <a:avLst/>
          </a:prstGeom>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AEC1EE31-12AD-B5A3-DA74-5F862690349C}"/>
              </a:ext>
            </a:extLst>
          </p:cNvPr>
          <p:cNvCxnSpPr/>
          <p:nvPr/>
        </p:nvCxnSpPr>
        <p:spPr>
          <a:xfrm>
            <a:off x="1501059" y="3687097"/>
            <a:ext cx="0" cy="728714"/>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0D7E44A5-C8A3-F5BE-0679-795365337018}"/>
              </a:ext>
            </a:extLst>
          </p:cNvPr>
          <p:cNvCxnSpPr>
            <a:cxnSpLocks/>
          </p:cNvCxnSpPr>
          <p:nvPr/>
        </p:nvCxnSpPr>
        <p:spPr>
          <a:xfrm>
            <a:off x="3293806" y="3687097"/>
            <a:ext cx="815476"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58D053F2-A4D5-BBE3-5C11-8E9186855173}"/>
              </a:ext>
            </a:extLst>
          </p:cNvPr>
          <p:cNvCxnSpPr>
            <a:endCxn id="35" idx="0"/>
          </p:cNvCxnSpPr>
          <p:nvPr/>
        </p:nvCxnSpPr>
        <p:spPr>
          <a:xfrm>
            <a:off x="4109282" y="3687097"/>
            <a:ext cx="0" cy="765365"/>
          </a:xfrm>
          <a:prstGeom prst="line">
            <a:avLst/>
          </a:prstGeom>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13E94E35-41CC-C4E8-2C47-FF607586E70C}"/>
              </a:ext>
            </a:extLst>
          </p:cNvPr>
          <p:cNvCxnSpPr/>
          <p:nvPr/>
        </p:nvCxnSpPr>
        <p:spPr>
          <a:xfrm>
            <a:off x="6823588" y="1680530"/>
            <a:ext cx="234990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ADFB34F4-6F24-1F1E-D615-602C2ABE232F}"/>
              </a:ext>
            </a:extLst>
          </p:cNvPr>
          <p:cNvCxnSpPr/>
          <p:nvPr/>
        </p:nvCxnSpPr>
        <p:spPr>
          <a:xfrm>
            <a:off x="9163665" y="1680530"/>
            <a:ext cx="0" cy="725009"/>
          </a:xfrm>
          <a:prstGeom prst="line">
            <a:avLst/>
          </a:prstGeom>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DA482702-E399-17DB-5733-888D90E29994}"/>
              </a:ext>
            </a:extLst>
          </p:cNvPr>
          <p:cNvCxnSpPr/>
          <p:nvPr/>
        </p:nvCxnSpPr>
        <p:spPr>
          <a:xfrm flipH="1">
            <a:off x="6823588" y="3046318"/>
            <a:ext cx="133631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6D176A76-AC40-95F3-EF6C-4BD8EF1492A3}"/>
              </a:ext>
            </a:extLst>
          </p:cNvPr>
          <p:cNvCxnSpPr/>
          <p:nvPr/>
        </p:nvCxnSpPr>
        <p:spPr>
          <a:xfrm>
            <a:off x="6823588" y="3046318"/>
            <a:ext cx="0" cy="1421389"/>
          </a:xfrm>
          <a:prstGeom prst="line">
            <a:avLst/>
          </a:prstGeom>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7AEA583B-C925-18E7-E4D7-78E892BF8D45}"/>
              </a:ext>
            </a:extLst>
          </p:cNvPr>
          <p:cNvCxnSpPr>
            <a:endCxn id="38" idx="0"/>
          </p:cNvCxnSpPr>
          <p:nvPr/>
        </p:nvCxnSpPr>
        <p:spPr>
          <a:xfrm>
            <a:off x="9285239" y="3687097"/>
            <a:ext cx="0" cy="765364"/>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4F68E44-1BAD-2BB5-4205-7AE7D5796F12}"/>
              </a:ext>
            </a:extLst>
          </p:cNvPr>
          <p:cNvCxnSpPr/>
          <p:nvPr/>
        </p:nvCxnSpPr>
        <p:spPr>
          <a:xfrm>
            <a:off x="10761815" y="3046318"/>
            <a:ext cx="55511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89536FE-DF7F-F700-2D0B-D51810B14769}"/>
              </a:ext>
            </a:extLst>
          </p:cNvPr>
          <p:cNvCxnSpPr/>
          <p:nvPr/>
        </p:nvCxnSpPr>
        <p:spPr>
          <a:xfrm>
            <a:off x="11316929" y="3046318"/>
            <a:ext cx="0" cy="1421389"/>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256274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00B81-20D3-3A64-8791-BE1072AF929C}"/>
              </a:ext>
            </a:extLst>
          </p:cNvPr>
          <p:cNvSpPr>
            <a:spLocks noGrp="1"/>
          </p:cNvSpPr>
          <p:nvPr>
            <p:ph type="title"/>
          </p:nvPr>
        </p:nvSpPr>
        <p:spPr>
          <a:xfrm>
            <a:off x="415413" y="138984"/>
            <a:ext cx="3615813" cy="903236"/>
          </a:xfrm>
        </p:spPr>
        <p:txBody>
          <a:bodyPr/>
          <a:lstStyle/>
          <a:p>
            <a:r>
              <a:rPr lang="en-US">
                <a:solidFill>
                  <a:srgbClr val="FF0000"/>
                </a:solidFill>
              </a:rPr>
              <a:t>CHỨC NĂNG</a:t>
            </a:r>
            <a:endParaRPr lang="en-US"/>
          </a:p>
        </p:txBody>
      </p:sp>
      <p:sp>
        <p:nvSpPr>
          <p:cNvPr id="4" name="TextBox 3">
            <a:extLst>
              <a:ext uri="{FF2B5EF4-FFF2-40B4-BE49-F238E27FC236}">
                <a16:creationId xmlns:a16="http://schemas.microsoft.com/office/drawing/2014/main" id="{8AC02956-0C5E-226A-A688-4C730976D7CC}"/>
              </a:ext>
            </a:extLst>
          </p:cNvPr>
          <p:cNvSpPr txBox="1"/>
          <p:nvPr/>
        </p:nvSpPr>
        <p:spPr>
          <a:xfrm>
            <a:off x="5555226" y="1388264"/>
            <a:ext cx="1081548" cy="369332"/>
          </a:xfrm>
          <a:prstGeom prst="rect">
            <a:avLst/>
          </a:prstGeom>
          <a:noFill/>
        </p:spPr>
        <p:txBody>
          <a:bodyPr wrap="square">
            <a:spAutoFit/>
          </a:bodyPr>
          <a:lstStyle/>
          <a:p>
            <a:r>
              <a:rPr lang="en-US">
                <a:solidFill>
                  <a:srgbClr val="FF0000"/>
                </a:solidFill>
              </a:rPr>
              <a:t>ADMIN</a:t>
            </a:r>
            <a:r>
              <a:rPr lang="en-US"/>
              <a:t>  </a:t>
            </a:r>
          </a:p>
        </p:txBody>
      </p:sp>
      <p:graphicFrame>
        <p:nvGraphicFramePr>
          <p:cNvPr id="5" name="Table 4">
            <a:extLst>
              <a:ext uri="{FF2B5EF4-FFF2-40B4-BE49-F238E27FC236}">
                <a16:creationId xmlns:a16="http://schemas.microsoft.com/office/drawing/2014/main" id="{1F336711-8EE3-82B2-16BF-3C6DE33B9552}"/>
              </a:ext>
            </a:extLst>
          </p:cNvPr>
          <p:cNvGraphicFramePr>
            <a:graphicFrameLocks noGrp="1"/>
          </p:cNvGraphicFramePr>
          <p:nvPr>
            <p:extLst>
              <p:ext uri="{D42A27DB-BD31-4B8C-83A1-F6EECF244321}">
                <p14:modId xmlns:p14="http://schemas.microsoft.com/office/powerpoint/2010/main" val="764879261"/>
              </p:ext>
            </p:extLst>
          </p:nvPr>
        </p:nvGraphicFramePr>
        <p:xfrm>
          <a:off x="4906297" y="1167351"/>
          <a:ext cx="2180711" cy="806706"/>
        </p:xfrm>
        <a:graphic>
          <a:graphicData uri="http://schemas.openxmlformats.org/drawingml/2006/table">
            <a:tbl>
              <a:tblPr firstRow="1" bandRow="1">
                <a:tableStyleId>{5940675A-B579-460E-94D1-54222C63F5DA}</a:tableStyleId>
              </a:tblPr>
              <a:tblGrid>
                <a:gridCol w="2180711">
                  <a:extLst>
                    <a:ext uri="{9D8B030D-6E8A-4147-A177-3AD203B41FA5}">
                      <a16:colId xmlns:a16="http://schemas.microsoft.com/office/drawing/2014/main" val="2774198329"/>
                    </a:ext>
                  </a:extLst>
                </a:gridCol>
              </a:tblGrid>
              <a:tr h="806706">
                <a:tc>
                  <a:txBody>
                    <a:bodyPr/>
                    <a:lstStyle/>
                    <a:p>
                      <a:endParaRPr lang="en-US"/>
                    </a:p>
                  </a:txBody>
                  <a:tcPr/>
                </a:tc>
                <a:extLst>
                  <a:ext uri="{0D108BD9-81ED-4DB2-BD59-A6C34878D82A}">
                    <a16:rowId xmlns:a16="http://schemas.microsoft.com/office/drawing/2014/main" val="2475706333"/>
                  </a:ext>
                </a:extLst>
              </a:tr>
            </a:tbl>
          </a:graphicData>
        </a:graphic>
      </p:graphicFrame>
      <p:graphicFrame>
        <p:nvGraphicFramePr>
          <p:cNvPr id="7" name="Table 6">
            <a:extLst>
              <a:ext uri="{FF2B5EF4-FFF2-40B4-BE49-F238E27FC236}">
                <a16:creationId xmlns:a16="http://schemas.microsoft.com/office/drawing/2014/main" id="{F29BF0C7-851B-B67A-5C83-500D2A248E02}"/>
              </a:ext>
            </a:extLst>
          </p:cNvPr>
          <p:cNvGraphicFramePr>
            <a:graphicFrameLocks noGrp="1"/>
          </p:cNvGraphicFramePr>
          <p:nvPr>
            <p:extLst>
              <p:ext uri="{D42A27DB-BD31-4B8C-83A1-F6EECF244321}">
                <p14:modId xmlns:p14="http://schemas.microsoft.com/office/powerpoint/2010/main" val="3459698779"/>
              </p:ext>
            </p:extLst>
          </p:nvPr>
        </p:nvGraphicFramePr>
        <p:xfrm>
          <a:off x="943897" y="3706761"/>
          <a:ext cx="3539613" cy="2084439"/>
        </p:xfrm>
        <a:graphic>
          <a:graphicData uri="http://schemas.openxmlformats.org/drawingml/2006/table">
            <a:tbl>
              <a:tblPr firstRow="1" bandRow="1">
                <a:tableStyleId>{5940675A-B579-460E-94D1-54222C63F5DA}</a:tableStyleId>
              </a:tblPr>
              <a:tblGrid>
                <a:gridCol w="3539613">
                  <a:extLst>
                    <a:ext uri="{9D8B030D-6E8A-4147-A177-3AD203B41FA5}">
                      <a16:colId xmlns:a16="http://schemas.microsoft.com/office/drawing/2014/main" val="2774198329"/>
                    </a:ext>
                  </a:extLst>
                </a:gridCol>
              </a:tblGrid>
              <a:tr h="2084439">
                <a:tc>
                  <a:txBody>
                    <a:bodyPr/>
                    <a:lstStyle/>
                    <a:p>
                      <a:endParaRPr lang="en-US"/>
                    </a:p>
                  </a:txBody>
                  <a:tcPr/>
                </a:tc>
                <a:extLst>
                  <a:ext uri="{0D108BD9-81ED-4DB2-BD59-A6C34878D82A}">
                    <a16:rowId xmlns:a16="http://schemas.microsoft.com/office/drawing/2014/main" val="2475706333"/>
                  </a:ext>
                </a:extLst>
              </a:tr>
            </a:tbl>
          </a:graphicData>
        </a:graphic>
      </p:graphicFrame>
      <p:graphicFrame>
        <p:nvGraphicFramePr>
          <p:cNvPr id="9" name="Table 8">
            <a:extLst>
              <a:ext uri="{FF2B5EF4-FFF2-40B4-BE49-F238E27FC236}">
                <a16:creationId xmlns:a16="http://schemas.microsoft.com/office/drawing/2014/main" id="{D9464835-20EA-C690-986D-70D6D624BEDF}"/>
              </a:ext>
            </a:extLst>
          </p:cNvPr>
          <p:cNvGraphicFramePr>
            <a:graphicFrameLocks noGrp="1"/>
          </p:cNvGraphicFramePr>
          <p:nvPr>
            <p:extLst>
              <p:ext uri="{D42A27DB-BD31-4B8C-83A1-F6EECF244321}">
                <p14:modId xmlns:p14="http://schemas.microsoft.com/office/powerpoint/2010/main" val="2532060736"/>
              </p:ext>
            </p:extLst>
          </p:nvPr>
        </p:nvGraphicFramePr>
        <p:xfrm>
          <a:off x="7943439" y="3706761"/>
          <a:ext cx="3441290" cy="2084439"/>
        </p:xfrm>
        <a:graphic>
          <a:graphicData uri="http://schemas.openxmlformats.org/drawingml/2006/table">
            <a:tbl>
              <a:tblPr firstRow="1" bandRow="1">
                <a:tableStyleId>{5940675A-B579-460E-94D1-54222C63F5DA}</a:tableStyleId>
              </a:tblPr>
              <a:tblGrid>
                <a:gridCol w="3441290">
                  <a:extLst>
                    <a:ext uri="{9D8B030D-6E8A-4147-A177-3AD203B41FA5}">
                      <a16:colId xmlns:a16="http://schemas.microsoft.com/office/drawing/2014/main" val="2774198329"/>
                    </a:ext>
                  </a:extLst>
                </a:gridCol>
              </a:tblGrid>
              <a:tr h="2084439">
                <a:tc>
                  <a:txBody>
                    <a:bodyPr/>
                    <a:lstStyle/>
                    <a:p>
                      <a:endParaRPr lang="en-US"/>
                    </a:p>
                  </a:txBody>
                  <a:tcPr/>
                </a:tc>
                <a:extLst>
                  <a:ext uri="{0D108BD9-81ED-4DB2-BD59-A6C34878D82A}">
                    <a16:rowId xmlns:a16="http://schemas.microsoft.com/office/drawing/2014/main" val="2475706333"/>
                  </a:ext>
                </a:extLst>
              </a:tr>
            </a:tbl>
          </a:graphicData>
        </a:graphic>
      </p:graphicFrame>
      <p:sp>
        <p:nvSpPr>
          <p:cNvPr id="11" name="TextBox 10">
            <a:extLst>
              <a:ext uri="{FF2B5EF4-FFF2-40B4-BE49-F238E27FC236}">
                <a16:creationId xmlns:a16="http://schemas.microsoft.com/office/drawing/2014/main" id="{CD3707ED-B6FA-F251-8CCA-B49C2EEF2BF2}"/>
              </a:ext>
            </a:extLst>
          </p:cNvPr>
          <p:cNvSpPr txBox="1"/>
          <p:nvPr/>
        </p:nvSpPr>
        <p:spPr>
          <a:xfrm>
            <a:off x="1315066" y="4509614"/>
            <a:ext cx="2949677" cy="369332"/>
          </a:xfrm>
          <a:prstGeom prst="rect">
            <a:avLst/>
          </a:prstGeom>
          <a:noFill/>
        </p:spPr>
        <p:txBody>
          <a:bodyPr wrap="square">
            <a:spAutoFit/>
          </a:bodyPr>
          <a:lstStyle/>
          <a:p>
            <a:r>
              <a:rPr lang="en-US"/>
              <a:t>QUẢN LÝ NGƯỜI DÙNG  </a:t>
            </a:r>
          </a:p>
        </p:txBody>
      </p:sp>
      <p:sp>
        <p:nvSpPr>
          <p:cNvPr id="13" name="TextBox 12">
            <a:extLst>
              <a:ext uri="{FF2B5EF4-FFF2-40B4-BE49-F238E27FC236}">
                <a16:creationId xmlns:a16="http://schemas.microsoft.com/office/drawing/2014/main" id="{1DC88527-68F2-79AD-AB36-AEEA68E3E33C}"/>
              </a:ext>
            </a:extLst>
          </p:cNvPr>
          <p:cNvSpPr txBox="1"/>
          <p:nvPr/>
        </p:nvSpPr>
        <p:spPr>
          <a:xfrm>
            <a:off x="8288594" y="4416520"/>
            <a:ext cx="3441290" cy="369331"/>
          </a:xfrm>
          <a:prstGeom prst="rect">
            <a:avLst/>
          </a:prstGeom>
          <a:noFill/>
        </p:spPr>
        <p:txBody>
          <a:bodyPr wrap="square">
            <a:spAutoFit/>
          </a:bodyPr>
          <a:lstStyle/>
          <a:p>
            <a:r>
              <a:rPr lang="en-US"/>
              <a:t>THÊM, SỬA, XÓA, DUYỆT  </a:t>
            </a:r>
          </a:p>
        </p:txBody>
      </p:sp>
      <p:cxnSp>
        <p:nvCxnSpPr>
          <p:cNvPr id="15" name="Straight Connector 14">
            <a:extLst>
              <a:ext uri="{FF2B5EF4-FFF2-40B4-BE49-F238E27FC236}">
                <a16:creationId xmlns:a16="http://schemas.microsoft.com/office/drawing/2014/main" id="{35292E0C-B12A-935C-15B9-553CA41EBD45}"/>
              </a:ext>
            </a:extLst>
          </p:cNvPr>
          <p:cNvCxnSpPr>
            <a:cxnSpLocks/>
          </p:cNvCxnSpPr>
          <p:nvPr/>
        </p:nvCxnSpPr>
        <p:spPr>
          <a:xfrm flipH="1">
            <a:off x="2713703" y="1572930"/>
            <a:ext cx="2192594" cy="9144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829307D8-5F20-BD3D-8217-9C013CFC4C8B}"/>
              </a:ext>
            </a:extLst>
          </p:cNvPr>
          <p:cNvCxnSpPr>
            <a:cxnSpLocks/>
          </p:cNvCxnSpPr>
          <p:nvPr/>
        </p:nvCxnSpPr>
        <p:spPr>
          <a:xfrm>
            <a:off x="7098891" y="1474492"/>
            <a:ext cx="2467896" cy="816424"/>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FAE3366D-DE23-D26C-7ACF-A9E80B4F668C}"/>
              </a:ext>
            </a:extLst>
          </p:cNvPr>
          <p:cNvCxnSpPr>
            <a:endCxn id="7" idx="0"/>
          </p:cNvCxnSpPr>
          <p:nvPr/>
        </p:nvCxnSpPr>
        <p:spPr>
          <a:xfrm>
            <a:off x="2713703" y="2487330"/>
            <a:ext cx="0" cy="1219431"/>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8ABC343D-FD33-27B1-A487-70885FAD1986}"/>
              </a:ext>
            </a:extLst>
          </p:cNvPr>
          <p:cNvCxnSpPr>
            <a:cxnSpLocks/>
          </p:cNvCxnSpPr>
          <p:nvPr/>
        </p:nvCxnSpPr>
        <p:spPr>
          <a:xfrm>
            <a:off x="9566787" y="2271252"/>
            <a:ext cx="0" cy="1435509"/>
          </a:xfrm>
          <a:prstGeom prst="line">
            <a:avLst/>
          </a:prstGeom>
        </p:spPr>
        <p:style>
          <a:lnRef idx="2">
            <a:schemeClr val="accent1"/>
          </a:lnRef>
          <a:fillRef idx="0">
            <a:schemeClr val="accent1"/>
          </a:fillRef>
          <a:effectRef idx="1">
            <a:schemeClr val="accent1"/>
          </a:effectRef>
          <a:fontRef idx="minor">
            <a:schemeClr val="tx1"/>
          </a:fontRef>
        </p:style>
      </p:cxnSp>
      <p:pic>
        <p:nvPicPr>
          <p:cNvPr id="23" name="Graphic 22" descr="Confused person with solid fill">
            <a:extLst>
              <a:ext uri="{FF2B5EF4-FFF2-40B4-BE49-F238E27FC236}">
                <a16:creationId xmlns:a16="http://schemas.microsoft.com/office/drawing/2014/main" id="{8FF864EC-F32B-7683-F258-1EFC794B1A0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862051" y="1224117"/>
            <a:ext cx="693174" cy="693174"/>
          </a:xfrm>
          <a:prstGeom prst="rect">
            <a:avLst/>
          </a:prstGeom>
        </p:spPr>
      </p:pic>
      <p:pic>
        <p:nvPicPr>
          <p:cNvPr id="31" name="Graphic 30" descr="Clipboard with solid fill">
            <a:extLst>
              <a:ext uri="{FF2B5EF4-FFF2-40B4-BE49-F238E27FC236}">
                <a16:creationId xmlns:a16="http://schemas.microsoft.com/office/drawing/2014/main" id="{DCB0B690-DEAD-297B-23A6-E857465465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3897" y="3678788"/>
            <a:ext cx="521108" cy="521108"/>
          </a:xfrm>
          <a:prstGeom prst="rect">
            <a:avLst/>
          </a:prstGeom>
        </p:spPr>
      </p:pic>
      <p:pic>
        <p:nvPicPr>
          <p:cNvPr id="33" name="Graphic 32" descr="Arrow circle with solid fill">
            <a:extLst>
              <a:ext uri="{FF2B5EF4-FFF2-40B4-BE49-F238E27FC236}">
                <a16:creationId xmlns:a16="http://schemas.microsoft.com/office/drawing/2014/main" id="{7FA5EFC3-B84E-0A71-0DA2-D70FB5F6471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818351" y="3758787"/>
            <a:ext cx="566378" cy="566378"/>
          </a:xfrm>
          <a:prstGeom prst="rect">
            <a:avLst/>
          </a:prstGeom>
        </p:spPr>
      </p:pic>
    </p:spTree>
    <p:extLst>
      <p:ext uri="{BB962C8B-B14F-4D97-AF65-F5344CB8AC3E}">
        <p14:creationId xmlns:p14="http://schemas.microsoft.com/office/powerpoint/2010/main" val="2355460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E869A-BC21-B9DE-49DE-C96CDCF9A3B7}"/>
              </a:ext>
            </a:extLst>
          </p:cNvPr>
          <p:cNvSpPr>
            <a:spLocks noGrp="1"/>
          </p:cNvSpPr>
          <p:nvPr>
            <p:ph type="title"/>
          </p:nvPr>
        </p:nvSpPr>
        <p:spPr>
          <a:xfrm>
            <a:off x="138881" y="70158"/>
            <a:ext cx="6722806" cy="1031056"/>
          </a:xfrm>
        </p:spPr>
        <p:txBody>
          <a:bodyPr/>
          <a:lstStyle/>
          <a:p>
            <a:r>
              <a:rPr lang="en-US">
                <a:solidFill>
                  <a:srgbClr val="FF0000"/>
                </a:solidFill>
              </a:rPr>
              <a:t>QUY TRÌNH VẬN HÀNH</a:t>
            </a:r>
          </a:p>
        </p:txBody>
      </p:sp>
      <p:sp>
        <p:nvSpPr>
          <p:cNvPr id="3" name="Content Placeholder 2">
            <a:extLst>
              <a:ext uri="{FF2B5EF4-FFF2-40B4-BE49-F238E27FC236}">
                <a16:creationId xmlns:a16="http://schemas.microsoft.com/office/drawing/2014/main" id="{32AA71A2-2A4A-8CEE-2969-228BDF541B21}"/>
              </a:ext>
            </a:extLst>
          </p:cNvPr>
          <p:cNvSpPr>
            <a:spLocks noGrp="1"/>
          </p:cNvSpPr>
          <p:nvPr>
            <p:ph idx="1"/>
          </p:nvPr>
        </p:nvSpPr>
        <p:spPr>
          <a:xfrm>
            <a:off x="868311" y="2285040"/>
            <a:ext cx="3714136" cy="1031056"/>
          </a:xfrm>
        </p:spPr>
        <p:txBody>
          <a:bodyPr>
            <a:normAutofit fontScale="77500" lnSpcReduction="20000"/>
          </a:bodyPr>
          <a:lstStyle/>
          <a:p>
            <a:pPr marL="0" indent="0">
              <a:buNone/>
            </a:pPr>
            <a:r>
              <a:rPr lang="en-US"/>
              <a:t>                  </a:t>
            </a:r>
            <a:r>
              <a:rPr lang="en-US" sz="2200" b="1">
                <a:solidFill>
                  <a:srgbClr val="FF0000"/>
                </a:solidFill>
              </a:rPr>
              <a:t>NGƯỜI DÙNG </a:t>
            </a:r>
          </a:p>
          <a:p>
            <a:pPr marL="0" indent="0">
              <a:buNone/>
            </a:pPr>
            <a:r>
              <a:rPr lang="en-US" sz="2000">
                <a:solidFill>
                  <a:schemeClr val="tx1">
                    <a:lumMod val="85000"/>
                    <a:lumOff val="15000"/>
                  </a:schemeClr>
                </a:solidFill>
              </a:rPr>
              <a:t>Truy cập trang website,Xem các bài viết của người khác, tìm kiếm thông tin           </a:t>
            </a:r>
          </a:p>
        </p:txBody>
      </p:sp>
      <p:sp>
        <p:nvSpPr>
          <p:cNvPr id="7" name="TextBox 6">
            <a:extLst>
              <a:ext uri="{FF2B5EF4-FFF2-40B4-BE49-F238E27FC236}">
                <a16:creationId xmlns:a16="http://schemas.microsoft.com/office/drawing/2014/main" id="{02ACECAE-EFAC-D9FD-7CF9-B0924010552E}"/>
              </a:ext>
            </a:extLst>
          </p:cNvPr>
          <p:cNvSpPr txBox="1"/>
          <p:nvPr/>
        </p:nvSpPr>
        <p:spPr>
          <a:xfrm>
            <a:off x="4002345" y="4817388"/>
            <a:ext cx="3636707" cy="600164"/>
          </a:xfrm>
          <a:prstGeom prst="rect">
            <a:avLst/>
          </a:prstGeom>
          <a:noFill/>
        </p:spPr>
        <p:txBody>
          <a:bodyPr wrap="square">
            <a:spAutoFit/>
          </a:bodyPr>
          <a:lstStyle/>
          <a:p>
            <a:pPr marL="0" indent="0">
              <a:buNone/>
            </a:pPr>
            <a:r>
              <a:rPr lang="en-US" sz="1700">
                <a:solidFill>
                  <a:srgbClr val="FF0000"/>
                </a:solidFill>
              </a:rPr>
              <a:t>                         </a:t>
            </a:r>
            <a:r>
              <a:rPr lang="en-US" sz="1700" b="1">
                <a:solidFill>
                  <a:srgbClr val="FF0000"/>
                </a:solidFill>
              </a:rPr>
              <a:t>ĐĂNG BÀI</a:t>
            </a:r>
          </a:p>
          <a:p>
            <a:pPr marL="0" indent="0">
              <a:buNone/>
            </a:pPr>
            <a:r>
              <a:rPr lang="en-US" sz="1600">
                <a:solidFill>
                  <a:schemeClr val="bg2">
                    <a:lumMod val="25000"/>
                  </a:schemeClr>
                </a:solidFill>
              </a:rPr>
              <a:t>        Đăng bài viết lên trang , có ảnh</a:t>
            </a:r>
          </a:p>
        </p:txBody>
      </p:sp>
      <p:sp>
        <p:nvSpPr>
          <p:cNvPr id="9" name="TextBox 8">
            <a:extLst>
              <a:ext uri="{FF2B5EF4-FFF2-40B4-BE49-F238E27FC236}">
                <a16:creationId xmlns:a16="http://schemas.microsoft.com/office/drawing/2014/main" id="{D1884038-0DFE-AFB2-9F69-7F1EB9CFBE6D}"/>
              </a:ext>
            </a:extLst>
          </p:cNvPr>
          <p:cNvSpPr txBox="1"/>
          <p:nvPr/>
        </p:nvSpPr>
        <p:spPr>
          <a:xfrm>
            <a:off x="8125747" y="2387254"/>
            <a:ext cx="3197942" cy="584775"/>
          </a:xfrm>
          <a:prstGeom prst="rect">
            <a:avLst/>
          </a:prstGeom>
          <a:noFill/>
        </p:spPr>
        <p:txBody>
          <a:bodyPr wrap="square">
            <a:spAutoFit/>
          </a:bodyPr>
          <a:lstStyle/>
          <a:p>
            <a:pPr marL="0" indent="0" algn="ctr">
              <a:buNone/>
            </a:pPr>
            <a:r>
              <a:rPr lang="en-US" sz="1600" b="1">
                <a:solidFill>
                  <a:srgbClr val="FF0000"/>
                </a:solidFill>
              </a:rPr>
              <a:t>CHỜ DUYỆT</a:t>
            </a:r>
          </a:p>
          <a:p>
            <a:pPr marL="0" indent="0">
              <a:buNone/>
            </a:pPr>
            <a:r>
              <a:rPr lang="en-US" sz="1600" b="1">
                <a:solidFill>
                  <a:schemeClr val="bg2">
                    <a:lumMod val="50000"/>
                  </a:schemeClr>
                </a:solidFill>
              </a:rPr>
              <a:t>   Admin sẽ duyệt bài hoặc không</a:t>
            </a:r>
          </a:p>
        </p:txBody>
      </p:sp>
      <p:cxnSp>
        <p:nvCxnSpPr>
          <p:cNvPr id="11" name="Straight Connector 10">
            <a:extLst>
              <a:ext uri="{FF2B5EF4-FFF2-40B4-BE49-F238E27FC236}">
                <a16:creationId xmlns:a16="http://schemas.microsoft.com/office/drawing/2014/main" id="{73B42C90-2E69-166B-0666-51585256EF2A}"/>
              </a:ext>
            </a:extLst>
          </p:cNvPr>
          <p:cNvCxnSpPr/>
          <p:nvPr/>
        </p:nvCxnSpPr>
        <p:spPr>
          <a:xfrm>
            <a:off x="1179871" y="3972232"/>
            <a:ext cx="10068232" cy="0"/>
          </a:xfrm>
          <a:prstGeom prst="line">
            <a:avLst/>
          </a:prstGeom>
        </p:spPr>
        <p:style>
          <a:lnRef idx="2">
            <a:schemeClr val="accent1"/>
          </a:lnRef>
          <a:fillRef idx="0">
            <a:schemeClr val="accent1"/>
          </a:fillRef>
          <a:effectRef idx="1">
            <a:schemeClr val="accent1"/>
          </a:effectRef>
          <a:fontRef idx="minor">
            <a:schemeClr val="tx1"/>
          </a:fontRef>
        </p:style>
      </p:cxnSp>
      <p:sp>
        <p:nvSpPr>
          <p:cNvPr id="15" name="Flowchart: Connector 14">
            <a:extLst>
              <a:ext uri="{FF2B5EF4-FFF2-40B4-BE49-F238E27FC236}">
                <a16:creationId xmlns:a16="http://schemas.microsoft.com/office/drawing/2014/main" id="{C799157A-05FB-60FE-A46A-B77D87F5F880}"/>
              </a:ext>
            </a:extLst>
          </p:cNvPr>
          <p:cNvSpPr/>
          <p:nvPr/>
        </p:nvSpPr>
        <p:spPr>
          <a:xfrm>
            <a:off x="1474839" y="3785419"/>
            <a:ext cx="373626" cy="393281"/>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1</a:t>
            </a:r>
          </a:p>
        </p:txBody>
      </p:sp>
      <p:sp>
        <p:nvSpPr>
          <p:cNvPr id="16" name="Flowchart: Connector 15">
            <a:extLst>
              <a:ext uri="{FF2B5EF4-FFF2-40B4-BE49-F238E27FC236}">
                <a16:creationId xmlns:a16="http://schemas.microsoft.com/office/drawing/2014/main" id="{EA7305BB-7226-0994-7B1D-B68AE667F0A6}"/>
              </a:ext>
            </a:extLst>
          </p:cNvPr>
          <p:cNvSpPr/>
          <p:nvPr/>
        </p:nvSpPr>
        <p:spPr>
          <a:xfrm>
            <a:off x="5633886" y="3741168"/>
            <a:ext cx="373626" cy="393281"/>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2</a:t>
            </a:r>
          </a:p>
        </p:txBody>
      </p:sp>
      <p:sp>
        <p:nvSpPr>
          <p:cNvPr id="17" name="Flowchart: Connector 16">
            <a:extLst>
              <a:ext uri="{FF2B5EF4-FFF2-40B4-BE49-F238E27FC236}">
                <a16:creationId xmlns:a16="http://schemas.microsoft.com/office/drawing/2014/main" id="{C6107E9D-D95B-3D47-CC46-1E1A5FBF980D}"/>
              </a:ext>
            </a:extLst>
          </p:cNvPr>
          <p:cNvSpPr/>
          <p:nvPr/>
        </p:nvSpPr>
        <p:spPr>
          <a:xfrm>
            <a:off x="9635617" y="3800162"/>
            <a:ext cx="373626" cy="393281"/>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3</a:t>
            </a:r>
          </a:p>
        </p:txBody>
      </p:sp>
      <p:cxnSp>
        <p:nvCxnSpPr>
          <p:cNvPr id="19" name="Straight Connector 18">
            <a:extLst>
              <a:ext uri="{FF2B5EF4-FFF2-40B4-BE49-F238E27FC236}">
                <a16:creationId xmlns:a16="http://schemas.microsoft.com/office/drawing/2014/main" id="{AE8CA0D1-96A7-2438-3CF6-D25BE2A133A8}"/>
              </a:ext>
            </a:extLst>
          </p:cNvPr>
          <p:cNvCxnSpPr>
            <a:cxnSpLocks/>
            <a:stCxn id="15" idx="4"/>
          </p:cNvCxnSpPr>
          <p:nvPr/>
        </p:nvCxnSpPr>
        <p:spPr>
          <a:xfrm>
            <a:off x="1661652" y="4178700"/>
            <a:ext cx="0" cy="1160216"/>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7F8E60D-5AB2-8644-01C2-5045EFB29810}"/>
              </a:ext>
            </a:extLst>
          </p:cNvPr>
          <p:cNvCxnSpPr>
            <a:cxnSpLocks/>
          </p:cNvCxnSpPr>
          <p:nvPr/>
        </p:nvCxnSpPr>
        <p:spPr>
          <a:xfrm flipV="1">
            <a:off x="5810870" y="2458065"/>
            <a:ext cx="0" cy="12831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7BDB5716-F0F1-EF5A-5FF6-0FD63C4CD847}"/>
              </a:ext>
            </a:extLst>
          </p:cNvPr>
          <p:cNvCxnSpPr>
            <a:stCxn id="17" idx="4"/>
          </p:cNvCxnSpPr>
          <p:nvPr/>
        </p:nvCxnSpPr>
        <p:spPr>
          <a:xfrm>
            <a:off x="9822430" y="4193443"/>
            <a:ext cx="0" cy="1145473"/>
          </a:xfrm>
          <a:prstGeom prst="line">
            <a:avLst/>
          </a:prstGeom>
        </p:spPr>
        <p:style>
          <a:lnRef idx="2">
            <a:schemeClr val="accent1"/>
          </a:lnRef>
          <a:fillRef idx="0">
            <a:schemeClr val="accent1"/>
          </a:fillRef>
          <a:effectRef idx="1">
            <a:schemeClr val="accent1"/>
          </a:effectRef>
          <a:fontRef idx="minor">
            <a:schemeClr val="tx1"/>
          </a:fontRef>
        </p:style>
      </p:cxnSp>
      <p:pic>
        <p:nvPicPr>
          <p:cNvPr id="26" name="Graphic 25" descr="Man with solid fill">
            <a:extLst>
              <a:ext uri="{FF2B5EF4-FFF2-40B4-BE49-F238E27FC236}">
                <a16:creationId xmlns:a16="http://schemas.microsoft.com/office/drawing/2014/main" id="{39B06D52-2F88-59ED-836F-3E1D051C84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38866" y="5319251"/>
            <a:ext cx="845572" cy="845572"/>
          </a:xfrm>
          <a:prstGeom prst="rect">
            <a:avLst/>
          </a:prstGeom>
        </p:spPr>
      </p:pic>
      <p:pic>
        <p:nvPicPr>
          <p:cNvPr id="28" name="Graphic 27" descr="Remote learning math with solid fill">
            <a:extLst>
              <a:ext uri="{FF2B5EF4-FFF2-40B4-BE49-F238E27FC236}">
                <a16:creationId xmlns:a16="http://schemas.microsoft.com/office/drawing/2014/main" id="{B17EA15E-CE48-378A-6B4E-9DA7B5C06B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363498" y="1698524"/>
            <a:ext cx="914400" cy="914400"/>
          </a:xfrm>
          <a:prstGeom prst="rect">
            <a:avLst/>
          </a:prstGeom>
        </p:spPr>
      </p:pic>
      <p:pic>
        <p:nvPicPr>
          <p:cNvPr id="30" name="Graphic 29" descr="Tools with solid fill">
            <a:extLst>
              <a:ext uri="{FF2B5EF4-FFF2-40B4-BE49-F238E27FC236}">
                <a16:creationId xmlns:a16="http://schemas.microsoft.com/office/drawing/2014/main" id="{543D60C7-B7DD-463E-D8EC-EF22C8425C8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500424" y="5095546"/>
            <a:ext cx="644012" cy="644012"/>
          </a:xfrm>
          <a:prstGeom prst="rect">
            <a:avLst/>
          </a:prstGeom>
        </p:spPr>
      </p:pic>
    </p:spTree>
    <p:extLst>
      <p:ext uri="{BB962C8B-B14F-4D97-AF65-F5344CB8AC3E}">
        <p14:creationId xmlns:p14="http://schemas.microsoft.com/office/powerpoint/2010/main" val="35427009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7B831B6F-405A-4B47-B9BB-5CA88F2858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DDB5E9-E4BD-45D1-7264-68642273AAB3}"/>
              </a:ext>
            </a:extLst>
          </p:cNvPr>
          <p:cNvSpPr>
            <a:spLocks noGrp="1"/>
          </p:cNvSpPr>
          <p:nvPr>
            <p:ph type="title"/>
          </p:nvPr>
        </p:nvSpPr>
        <p:spPr>
          <a:xfrm>
            <a:off x="6739128" y="638089"/>
            <a:ext cx="4818888" cy="1476801"/>
          </a:xfrm>
        </p:spPr>
        <p:txBody>
          <a:bodyPr vert="horz" lIns="91440" tIns="45720" rIns="91440" bIns="45720" rtlCol="0" anchor="b">
            <a:normAutofit/>
          </a:bodyPr>
          <a:lstStyle/>
          <a:p>
            <a:r>
              <a:rPr lang="en-US" sz="5400" kern="1200">
                <a:solidFill>
                  <a:srgbClr val="FF0000"/>
                </a:solidFill>
                <a:latin typeface="+mj-lt"/>
                <a:ea typeface="+mj-ea"/>
                <a:cs typeface="+mj-cs"/>
              </a:rPr>
              <a:t>PHẦN 02</a:t>
            </a:r>
          </a:p>
        </p:txBody>
      </p:sp>
      <p:pic>
        <p:nvPicPr>
          <p:cNvPr id="7" name="Graphic 6" descr="Rocket">
            <a:extLst>
              <a:ext uri="{FF2B5EF4-FFF2-40B4-BE49-F238E27FC236}">
                <a16:creationId xmlns:a16="http://schemas.microsoft.com/office/drawing/2014/main" id="{A9651269-4D90-A3A6-938A-B2A36C6CACC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30936" y="699516"/>
            <a:ext cx="5458968" cy="5458968"/>
          </a:xfrm>
          <a:prstGeom prst="rect">
            <a:avLst/>
          </a:prstGeom>
        </p:spPr>
      </p:pic>
      <p:sp>
        <p:nvSpPr>
          <p:cNvPr id="33" name="sketch line">
            <a:extLst>
              <a:ext uri="{FF2B5EF4-FFF2-40B4-BE49-F238E27FC236}">
                <a16:creationId xmlns:a16="http://schemas.microsoft.com/office/drawing/2014/main" id="{953EE71A-6488-4203-A7C4-77102FD0DC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912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BBEF39E-3396-A8AE-B00C-5CC0CF7A264A}"/>
              </a:ext>
            </a:extLst>
          </p:cNvPr>
          <p:cNvSpPr>
            <a:spLocks noGrp="1"/>
          </p:cNvSpPr>
          <p:nvPr>
            <p:ph idx="1"/>
          </p:nvPr>
        </p:nvSpPr>
        <p:spPr>
          <a:xfrm>
            <a:off x="6739128" y="2664886"/>
            <a:ext cx="4818888" cy="3550789"/>
          </a:xfrm>
        </p:spPr>
        <p:txBody>
          <a:bodyPr vert="horz" lIns="91440" tIns="45720" rIns="91440" bIns="45720" rtlCol="0" anchor="t">
            <a:normAutofit/>
          </a:bodyPr>
          <a:lstStyle/>
          <a:p>
            <a:pPr marL="0" indent="0">
              <a:buNone/>
            </a:pPr>
            <a:r>
              <a:rPr lang="en-US" sz="3000" kern="1200">
                <a:latin typeface="+mn-lt"/>
                <a:ea typeface="+mn-ea"/>
                <a:cs typeface="+mn-cs"/>
              </a:rPr>
              <a:t>MỤC TIÊU CỦA ĐỀ TÀI</a:t>
            </a:r>
          </a:p>
        </p:txBody>
      </p:sp>
    </p:spTree>
    <p:extLst>
      <p:ext uri="{BB962C8B-B14F-4D97-AF65-F5344CB8AC3E}">
        <p14:creationId xmlns:p14="http://schemas.microsoft.com/office/powerpoint/2010/main" val="16205430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59BE9-FB82-079A-6B4D-38FB2BF7F8FE}"/>
              </a:ext>
            </a:extLst>
          </p:cNvPr>
          <p:cNvSpPr>
            <a:spLocks noGrp="1"/>
          </p:cNvSpPr>
          <p:nvPr>
            <p:ph type="title"/>
          </p:nvPr>
        </p:nvSpPr>
        <p:spPr>
          <a:xfrm>
            <a:off x="980767" y="1206151"/>
            <a:ext cx="5021826" cy="880086"/>
          </a:xfrm>
        </p:spPr>
        <p:txBody>
          <a:bodyPr/>
          <a:lstStyle/>
          <a:p>
            <a:r>
              <a:rPr lang="en-US" b="1"/>
              <a:t> </a:t>
            </a:r>
            <a:r>
              <a:rPr lang="en-US" sz="4000" b="1">
                <a:solidFill>
                  <a:srgbClr val="FF0000"/>
                </a:solidFill>
              </a:rPr>
              <a:t>MỤC TIÊU ĐỀ TÀI</a:t>
            </a:r>
          </a:p>
        </p:txBody>
      </p:sp>
      <p:sp>
        <p:nvSpPr>
          <p:cNvPr id="3" name="Content Placeholder 2">
            <a:extLst>
              <a:ext uri="{FF2B5EF4-FFF2-40B4-BE49-F238E27FC236}">
                <a16:creationId xmlns:a16="http://schemas.microsoft.com/office/drawing/2014/main" id="{680BA119-1D04-0549-F48E-19F5087EF9EA}"/>
              </a:ext>
            </a:extLst>
          </p:cNvPr>
          <p:cNvSpPr>
            <a:spLocks noGrp="1"/>
          </p:cNvSpPr>
          <p:nvPr>
            <p:ph idx="1"/>
          </p:nvPr>
        </p:nvSpPr>
        <p:spPr>
          <a:xfrm>
            <a:off x="7300451" y="1245212"/>
            <a:ext cx="4746523" cy="1173213"/>
          </a:xfrm>
        </p:spPr>
        <p:txBody>
          <a:bodyPr/>
          <a:lstStyle/>
          <a:p>
            <a:pPr marL="0" indent="0">
              <a:buNone/>
            </a:pPr>
            <a:r>
              <a:rPr lang="en-US" sz="1800" b="1"/>
              <a:t>Sự tương tác với người dùng</a:t>
            </a:r>
          </a:p>
          <a:p>
            <a:pPr marL="0" indent="0">
              <a:buNone/>
            </a:pPr>
            <a:r>
              <a:rPr lang="en-US" sz="1800"/>
              <a:t>Tìm kiếm thông tin dễ dàng với tính năng tìm kiếm, lọc theo yêu cầu.</a:t>
            </a:r>
          </a:p>
        </p:txBody>
      </p:sp>
      <p:sp>
        <p:nvSpPr>
          <p:cNvPr id="5" name="TextBox 4">
            <a:extLst>
              <a:ext uri="{FF2B5EF4-FFF2-40B4-BE49-F238E27FC236}">
                <a16:creationId xmlns:a16="http://schemas.microsoft.com/office/drawing/2014/main" id="{BC0FFDD0-9978-D66C-AF4F-E791E9B19BEA}"/>
              </a:ext>
            </a:extLst>
          </p:cNvPr>
          <p:cNvSpPr txBox="1"/>
          <p:nvPr/>
        </p:nvSpPr>
        <p:spPr>
          <a:xfrm>
            <a:off x="7300450" y="2547240"/>
            <a:ext cx="4109883" cy="1200329"/>
          </a:xfrm>
          <a:prstGeom prst="rect">
            <a:avLst/>
          </a:prstGeom>
          <a:noFill/>
        </p:spPr>
        <p:txBody>
          <a:bodyPr wrap="square">
            <a:spAutoFit/>
          </a:bodyPr>
          <a:lstStyle/>
          <a:p>
            <a:pPr marL="0" indent="0">
              <a:buNone/>
            </a:pPr>
            <a:r>
              <a:rPr lang="en-US" b="1"/>
              <a:t>Đăng bài,quản lý, xem bài viết</a:t>
            </a:r>
          </a:p>
          <a:p>
            <a:pPr marL="0" indent="0">
              <a:buNone/>
            </a:pPr>
            <a:r>
              <a:rPr lang="en-US"/>
              <a:t>Hỗ trợ xem các bài viết thông tin không cần tài khoản và có tài khoản, quy trình đăng bài nhanh.</a:t>
            </a:r>
          </a:p>
        </p:txBody>
      </p:sp>
      <p:sp>
        <p:nvSpPr>
          <p:cNvPr id="7" name="TextBox 6">
            <a:extLst>
              <a:ext uri="{FF2B5EF4-FFF2-40B4-BE49-F238E27FC236}">
                <a16:creationId xmlns:a16="http://schemas.microsoft.com/office/drawing/2014/main" id="{2AB7D539-C5B2-8718-CE07-29C070AED779}"/>
              </a:ext>
            </a:extLst>
          </p:cNvPr>
          <p:cNvSpPr txBox="1"/>
          <p:nvPr/>
        </p:nvSpPr>
        <p:spPr>
          <a:xfrm>
            <a:off x="7300450" y="4068112"/>
            <a:ext cx="4395020" cy="923330"/>
          </a:xfrm>
          <a:prstGeom prst="rect">
            <a:avLst/>
          </a:prstGeom>
          <a:noFill/>
        </p:spPr>
        <p:txBody>
          <a:bodyPr wrap="square">
            <a:spAutoFit/>
          </a:bodyPr>
          <a:lstStyle/>
          <a:p>
            <a:pPr marL="0" indent="0">
              <a:buNone/>
            </a:pPr>
            <a:r>
              <a:rPr lang="en-US" b="1"/>
              <a:t>Quản lý website với người quản lý</a:t>
            </a:r>
          </a:p>
          <a:p>
            <a:pPr marL="0" indent="0">
              <a:buNone/>
            </a:pPr>
            <a:r>
              <a:rPr lang="en-US"/>
              <a:t>Các chức năng quản lý :Tin tức, Thông tin &amp; kỹ thuật nuôi trồng, Đăng tin..v…v</a:t>
            </a:r>
          </a:p>
        </p:txBody>
      </p:sp>
      <p:sp>
        <p:nvSpPr>
          <p:cNvPr id="9" name="TextBox 8">
            <a:extLst>
              <a:ext uri="{FF2B5EF4-FFF2-40B4-BE49-F238E27FC236}">
                <a16:creationId xmlns:a16="http://schemas.microsoft.com/office/drawing/2014/main" id="{860623EB-53E7-81CF-DA2A-47F1E528B9AA}"/>
              </a:ext>
            </a:extLst>
          </p:cNvPr>
          <p:cNvSpPr txBox="1"/>
          <p:nvPr/>
        </p:nvSpPr>
        <p:spPr>
          <a:xfrm>
            <a:off x="7300450" y="5311986"/>
            <a:ext cx="4746523" cy="923330"/>
          </a:xfrm>
          <a:prstGeom prst="rect">
            <a:avLst/>
          </a:prstGeom>
          <a:noFill/>
        </p:spPr>
        <p:txBody>
          <a:bodyPr wrap="square">
            <a:spAutoFit/>
          </a:bodyPr>
          <a:lstStyle/>
          <a:p>
            <a:pPr marL="0" indent="0">
              <a:buNone/>
            </a:pPr>
            <a:r>
              <a:rPr lang="en-US" b="1"/>
              <a:t>Phát triển thương hiệu của website</a:t>
            </a:r>
          </a:p>
          <a:p>
            <a:pPr marL="0" indent="0">
              <a:buNone/>
            </a:pPr>
            <a:r>
              <a:rPr lang="en-US"/>
              <a:t>Nâng cao chất lượng thông tin đến người dung.</a:t>
            </a:r>
          </a:p>
        </p:txBody>
      </p:sp>
      <p:pic>
        <p:nvPicPr>
          <p:cNvPr id="11" name="Picture 10" descr="A screenshot of a computer&#10;&#10;AI-generated content may be incorrect.">
            <a:extLst>
              <a:ext uri="{FF2B5EF4-FFF2-40B4-BE49-F238E27FC236}">
                <a16:creationId xmlns:a16="http://schemas.microsoft.com/office/drawing/2014/main" id="{2094542E-E656-17F3-FB4A-5ED8B9B659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3111" y="2383946"/>
            <a:ext cx="5782889" cy="2727246"/>
          </a:xfrm>
          <a:prstGeom prst="rect">
            <a:avLst/>
          </a:prstGeom>
        </p:spPr>
      </p:pic>
      <p:pic>
        <p:nvPicPr>
          <p:cNvPr id="13" name="Graphic 12" descr="Lights On with solid fill">
            <a:extLst>
              <a:ext uri="{FF2B5EF4-FFF2-40B4-BE49-F238E27FC236}">
                <a16:creationId xmlns:a16="http://schemas.microsoft.com/office/drawing/2014/main" id="{399DBAA2-8860-CCE7-EC59-F47D24999C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04818" y="1495275"/>
            <a:ext cx="590962" cy="590962"/>
          </a:xfrm>
          <a:prstGeom prst="rect">
            <a:avLst/>
          </a:prstGeom>
        </p:spPr>
      </p:pic>
      <p:pic>
        <p:nvPicPr>
          <p:cNvPr id="15" name="Graphic 14" descr="Pen with solid fill">
            <a:extLst>
              <a:ext uri="{FF2B5EF4-FFF2-40B4-BE49-F238E27FC236}">
                <a16:creationId xmlns:a16="http://schemas.microsoft.com/office/drawing/2014/main" id="{4262AE55-D0F7-555C-C52C-73703ED7C0B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39478" y="2772698"/>
            <a:ext cx="590962" cy="590962"/>
          </a:xfrm>
          <a:prstGeom prst="rect">
            <a:avLst/>
          </a:prstGeom>
        </p:spPr>
      </p:pic>
      <p:pic>
        <p:nvPicPr>
          <p:cNvPr id="17" name="Graphic 16" descr="Single gear with solid fill">
            <a:extLst>
              <a:ext uri="{FF2B5EF4-FFF2-40B4-BE49-F238E27FC236}">
                <a16:creationId xmlns:a16="http://schemas.microsoft.com/office/drawing/2014/main" id="{D7560078-1058-4F6F-0547-6EF67BD28CA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32102" y="4161205"/>
            <a:ext cx="656304" cy="656304"/>
          </a:xfrm>
          <a:prstGeom prst="rect">
            <a:avLst/>
          </a:prstGeom>
        </p:spPr>
      </p:pic>
      <p:pic>
        <p:nvPicPr>
          <p:cNvPr id="19" name="Graphic 18" descr="Wallet outline">
            <a:extLst>
              <a:ext uri="{FF2B5EF4-FFF2-40B4-BE49-F238E27FC236}">
                <a16:creationId xmlns:a16="http://schemas.microsoft.com/office/drawing/2014/main" id="{D718D6E6-89FE-D21A-DB4D-2977B437CAA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20591" y="5488365"/>
            <a:ext cx="575189" cy="575189"/>
          </a:xfrm>
          <a:prstGeom prst="rect">
            <a:avLst/>
          </a:prstGeom>
        </p:spPr>
      </p:pic>
    </p:spTree>
    <p:extLst>
      <p:ext uri="{BB962C8B-B14F-4D97-AF65-F5344CB8AC3E}">
        <p14:creationId xmlns:p14="http://schemas.microsoft.com/office/powerpoint/2010/main" val="36868693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A807A-3B62-6471-E2E9-5E4B2268CD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A347FB-4A5C-288F-2C21-3FBCFFD8CD3B}"/>
              </a:ext>
            </a:extLst>
          </p:cNvPr>
          <p:cNvSpPr>
            <a:spLocks noGrp="1"/>
          </p:cNvSpPr>
          <p:nvPr>
            <p:ph type="title"/>
          </p:nvPr>
        </p:nvSpPr>
        <p:spPr>
          <a:xfrm>
            <a:off x="6739128" y="638089"/>
            <a:ext cx="4818888" cy="1476801"/>
          </a:xfrm>
        </p:spPr>
        <p:txBody>
          <a:bodyPr vert="horz" lIns="91440" tIns="45720" rIns="91440" bIns="45720" rtlCol="0" anchor="b">
            <a:normAutofit/>
          </a:bodyPr>
          <a:lstStyle/>
          <a:p>
            <a:r>
              <a:rPr lang="en-US" sz="5400" kern="1200">
                <a:solidFill>
                  <a:srgbClr val="FF0000"/>
                </a:solidFill>
                <a:latin typeface="+mj-lt"/>
                <a:ea typeface="+mj-ea"/>
                <a:cs typeface="+mj-cs"/>
              </a:rPr>
              <a:t>PHẦN </a:t>
            </a:r>
            <a:r>
              <a:rPr lang="en-US" sz="5400">
                <a:solidFill>
                  <a:srgbClr val="FF0000"/>
                </a:solidFill>
              </a:rPr>
              <a:t>03</a:t>
            </a:r>
            <a:endParaRPr lang="en-US" sz="5400" kern="1200">
              <a:solidFill>
                <a:srgbClr val="FF0000"/>
              </a:solidFill>
              <a:latin typeface="+mj-lt"/>
              <a:ea typeface="+mj-ea"/>
              <a:cs typeface="+mj-cs"/>
            </a:endParaRPr>
          </a:p>
        </p:txBody>
      </p:sp>
      <p:pic>
        <p:nvPicPr>
          <p:cNvPr id="7" name="Graphic 6" descr="Rocket">
            <a:extLst>
              <a:ext uri="{FF2B5EF4-FFF2-40B4-BE49-F238E27FC236}">
                <a16:creationId xmlns:a16="http://schemas.microsoft.com/office/drawing/2014/main" id="{DEDECB5E-A778-ED1D-98AE-28C9F71D03B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37032" y="699516"/>
            <a:ext cx="5458968" cy="5458968"/>
          </a:xfrm>
          <a:prstGeom prst="rect">
            <a:avLst/>
          </a:prstGeom>
        </p:spPr>
      </p:pic>
      <p:sp>
        <p:nvSpPr>
          <p:cNvPr id="3" name="Content Placeholder 2">
            <a:extLst>
              <a:ext uri="{FF2B5EF4-FFF2-40B4-BE49-F238E27FC236}">
                <a16:creationId xmlns:a16="http://schemas.microsoft.com/office/drawing/2014/main" id="{0CDC24A8-553F-E07B-795F-441F7EE43B6F}"/>
              </a:ext>
            </a:extLst>
          </p:cNvPr>
          <p:cNvSpPr>
            <a:spLocks noGrp="1"/>
          </p:cNvSpPr>
          <p:nvPr>
            <p:ph idx="1"/>
          </p:nvPr>
        </p:nvSpPr>
        <p:spPr>
          <a:xfrm>
            <a:off x="6739128" y="2379751"/>
            <a:ext cx="3083298" cy="3550789"/>
          </a:xfrm>
        </p:spPr>
        <p:txBody>
          <a:bodyPr vert="horz" lIns="91440" tIns="45720" rIns="91440" bIns="45720" rtlCol="0" anchor="t">
            <a:normAutofit/>
          </a:bodyPr>
          <a:lstStyle/>
          <a:p>
            <a:pPr marL="0" indent="0">
              <a:buNone/>
            </a:pPr>
            <a:r>
              <a:rPr lang="en-US" sz="4400"/>
              <a:t>PHÂN TÍCH    THIẾT KẾ HỆ THỐNG</a:t>
            </a:r>
            <a:endParaRPr lang="en-US" sz="4400" kern="1200">
              <a:latin typeface="+mn-lt"/>
              <a:ea typeface="+mn-ea"/>
              <a:cs typeface="+mn-cs"/>
            </a:endParaRPr>
          </a:p>
        </p:txBody>
      </p:sp>
    </p:spTree>
    <p:extLst>
      <p:ext uri="{BB962C8B-B14F-4D97-AF65-F5344CB8AC3E}">
        <p14:creationId xmlns:p14="http://schemas.microsoft.com/office/powerpoint/2010/main" val="22197549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DE2EB2-8ED4-74F3-3BD9-4A08F573AACF}"/>
              </a:ext>
            </a:extLst>
          </p:cNvPr>
          <p:cNvSpPr>
            <a:spLocks noGrp="1"/>
          </p:cNvSpPr>
          <p:nvPr>
            <p:ph type="title"/>
          </p:nvPr>
        </p:nvSpPr>
        <p:spPr>
          <a:xfrm>
            <a:off x="311355" y="35733"/>
            <a:ext cx="6427839" cy="745921"/>
          </a:xfrm>
        </p:spPr>
        <p:txBody>
          <a:bodyPr>
            <a:normAutofit/>
          </a:bodyPr>
          <a:lstStyle/>
          <a:p>
            <a:r>
              <a:rPr lang="en-US" sz="3000" b="1">
                <a:solidFill>
                  <a:srgbClr val="FF0000"/>
                </a:solidFill>
              </a:rPr>
              <a:t>SƠ ĐỒ CÁC ACTOR CỦA HỆ THỐNG</a:t>
            </a:r>
          </a:p>
        </p:txBody>
      </p:sp>
      <p:graphicFrame>
        <p:nvGraphicFramePr>
          <p:cNvPr id="11" name="Table 10">
            <a:extLst>
              <a:ext uri="{FF2B5EF4-FFF2-40B4-BE49-F238E27FC236}">
                <a16:creationId xmlns:a16="http://schemas.microsoft.com/office/drawing/2014/main" id="{BDA541E4-BE61-ECAE-54D4-76E63117B2EE}"/>
              </a:ext>
            </a:extLst>
          </p:cNvPr>
          <p:cNvGraphicFramePr>
            <a:graphicFrameLocks noGrp="1"/>
          </p:cNvGraphicFramePr>
          <p:nvPr>
            <p:extLst>
              <p:ext uri="{D42A27DB-BD31-4B8C-83A1-F6EECF244321}">
                <p14:modId xmlns:p14="http://schemas.microsoft.com/office/powerpoint/2010/main" val="736498927"/>
              </p:ext>
            </p:extLst>
          </p:nvPr>
        </p:nvGraphicFramePr>
        <p:xfrm>
          <a:off x="151581" y="757063"/>
          <a:ext cx="11888838" cy="6036314"/>
        </p:xfrm>
        <a:graphic>
          <a:graphicData uri="http://schemas.openxmlformats.org/drawingml/2006/table">
            <a:tbl>
              <a:tblPr firstRow="1" bandRow="1">
                <a:tableStyleId>{5C22544A-7EE6-4342-B048-85BDC9FD1C3A}</a:tableStyleId>
              </a:tblPr>
              <a:tblGrid>
                <a:gridCol w="1002889">
                  <a:extLst>
                    <a:ext uri="{9D8B030D-6E8A-4147-A177-3AD203B41FA5}">
                      <a16:colId xmlns:a16="http://schemas.microsoft.com/office/drawing/2014/main" val="847593157"/>
                    </a:ext>
                  </a:extLst>
                </a:gridCol>
                <a:gridCol w="10885949">
                  <a:extLst>
                    <a:ext uri="{9D8B030D-6E8A-4147-A177-3AD203B41FA5}">
                      <a16:colId xmlns:a16="http://schemas.microsoft.com/office/drawing/2014/main" val="2005246259"/>
                    </a:ext>
                  </a:extLst>
                </a:gridCol>
              </a:tblGrid>
              <a:tr h="450675">
                <a:tc>
                  <a:txBody>
                    <a:bodyPr/>
                    <a:lstStyle/>
                    <a:p>
                      <a:r>
                        <a:rPr lang="en-US"/>
                        <a:t>Tên Actor</a:t>
                      </a:r>
                    </a:p>
                  </a:txBody>
                  <a:tcPr/>
                </a:tc>
                <a:tc>
                  <a:txBody>
                    <a:bodyPr/>
                    <a:lstStyle/>
                    <a:p>
                      <a:r>
                        <a:rPr lang="en-US"/>
                        <a:t>Chức năng</a:t>
                      </a:r>
                    </a:p>
                  </a:txBody>
                  <a:tcPr/>
                </a:tc>
                <a:extLst>
                  <a:ext uri="{0D108BD9-81ED-4DB2-BD59-A6C34878D82A}">
                    <a16:rowId xmlns:a16="http://schemas.microsoft.com/office/drawing/2014/main" val="1368837144"/>
                  </a:ext>
                </a:extLst>
              </a:tr>
              <a:tr h="1555754">
                <a:tc>
                  <a:txBody>
                    <a:bodyPr/>
                    <a:lstStyle/>
                    <a:p>
                      <a:r>
                        <a:rPr lang="en-US" sz="1600" b="0"/>
                        <a:t>Khách (Guest)</a:t>
                      </a:r>
                    </a:p>
                  </a:txBody>
                  <a:tcPr/>
                </a:tc>
                <a:tc>
                  <a:txBody>
                    <a:bodyPr/>
                    <a:lstStyle/>
                    <a:p>
                      <a:r>
                        <a:rPr lang="vi-VN" sz="1600" b="0"/>
                        <a:t>Đây là nhóm người dùng chưa đăng nhập vào hệ thống, chủ yếu truy cập để tìm kiếm thông tin tức thời</a:t>
                      </a:r>
                      <a:r>
                        <a:rPr lang="en-US" sz="1600" b="0"/>
                        <a:t>.</a:t>
                      </a:r>
                    </a:p>
                    <a:p>
                      <a:r>
                        <a:rPr lang="en-US" sz="1600" b="0"/>
                        <a:t>Các chức năng chính (Use Cases):</a:t>
                      </a:r>
                    </a:p>
                    <a:p>
                      <a:r>
                        <a:rPr lang="en-US" sz="1600" b="0"/>
                        <a:t> - Xem tin tức và các bài viết kỹ thuật về nuôi tôm, cá</a:t>
                      </a:r>
                    </a:p>
                    <a:p>
                      <a:r>
                        <a:rPr lang="en-US" sz="1600" b="0"/>
                        <a:t> - Tra cứu bảng giá thủy sản cập nhật theo thời gian thực</a:t>
                      </a:r>
                    </a:p>
                    <a:p>
                      <a:r>
                        <a:rPr lang="en-US" sz="1600" b="0"/>
                        <a:t> - </a:t>
                      </a:r>
                      <a:r>
                        <a:rPr lang="vi-VN" sz="1600" b="0"/>
                        <a:t>Tương tác với Trợ lý ảo Chatbot AI để hỏi đáp các dấu hiệu bệnh học cơ bản.</a:t>
                      </a:r>
                      <a:endParaRPr lang="en-US" sz="1600" b="0"/>
                    </a:p>
                    <a:p>
                      <a:r>
                        <a:rPr lang="en-US" sz="1600" b="0"/>
                        <a:t> - Sử dụng thanh công cụ tìm kiếm bài viết theo từ khóa.</a:t>
                      </a:r>
                    </a:p>
                  </a:txBody>
                  <a:tcPr/>
                </a:tc>
                <a:extLst>
                  <a:ext uri="{0D108BD9-81ED-4DB2-BD59-A6C34878D82A}">
                    <a16:rowId xmlns:a16="http://schemas.microsoft.com/office/drawing/2014/main" val="401823307"/>
                  </a:ext>
                </a:extLst>
              </a:tr>
              <a:tr h="2037297">
                <a:tc>
                  <a:txBody>
                    <a:bodyPr/>
                    <a:lstStyle/>
                    <a:p>
                      <a:r>
                        <a:rPr lang="en-US" sz="1600" b="0"/>
                        <a:t>Thành viên (User)</a:t>
                      </a:r>
                    </a:p>
                  </a:txBody>
                  <a:tcPr/>
                </a:tc>
                <a:tc>
                  <a:txBody>
                    <a:bodyPr/>
                    <a:lstStyle/>
                    <a:p>
                      <a:r>
                        <a:rPr lang="vi-VN" sz="1600" b="0"/>
                        <a:t>Là nhóm người dùng đã đăng ký tài khoản, có khả năng tương tác sâu hơn với cộng đồng</a:t>
                      </a:r>
                      <a:r>
                        <a:rPr lang="en-US" sz="1600" b="0"/>
                        <a:t>.</a:t>
                      </a:r>
                    </a:p>
                    <a:p>
                      <a:r>
                        <a:rPr lang="en-US" sz="1600" b="0"/>
                        <a:t>Các chức năng chính (Use Cases):</a:t>
                      </a:r>
                    </a:p>
                    <a:p>
                      <a:r>
                        <a:rPr lang="en-US" sz="1600" b="0"/>
                        <a:t> - </a:t>
                      </a:r>
                      <a:r>
                        <a:rPr lang="vi-VN" sz="1600" b="0"/>
                        <a:t>Thừa hưởng tất cả quyền hạn của Khách.</a:t>
                      </a:r>
                      <a:endParaRPr lang="en-US" sz="1600" b="0"/>
                    </a:p>
                    <a:p>
                      <a:r>
                        <a:rPr lang="en-US" sz="1600" b="0"/>
                        <a:t> - </a:t>
                      </a:r>
                      <a:r>
                        <a:rPr lang="vi-VN" sz="1600" b="0"/>
                        <a:t>Quản lý hồ sơ cá nhân</a:t>
                      </a:r>
                      <a:r>
                        <a:rPr lang="en-US" sz="1600" b="0"/>
                        <a:t>.</a:t>
                      </a:r>
                    </a:p>
                    <a:p>
                      <a:r>
                        <a:rPr lang="en-US" sz="1600" b="0"/>
                        <a:t> - Đăng bài viết chia sẻ kinh nghiệm nuôi trồng hoặc đặt câu hỏi từ thực tế ao nuôi.</a:t>
                      </a:r>
                    </a:p>
                    <a:p>
                      <a:r>
                        <a:rPr lang="en-US" sz="1600" b="0"/>
                        <a:t> - Đánh giá (Rating) từ 1-5 sao cho các bài viết.</a:t>
                      </a:r>
                    </a:p>
                    <a:p>
                      <a:r>
                        <a:rPr lang="en-US" sz="1600" b="0"/>
                        <a:t> - </a:t>
                      </a:r>
                      <a:r>
                        <a:rPr lang="vi-VN" sz="1600" b="0"/>
                        <a:t>Lưu trữ (Bookmark) các bài viết kỹ thuật quan trọng vào kho dữ liệu cá nhân.</a:t>
                      </a:r>
                      <a:endParaRPr lang="en-US" sz="1600" b="0"/>
                    </a:p>
                    <a:p>
                      <a:endParaRPr lang="en-US" sz="1600" b="0"/>
                    </a:p>
                  </a:txBody>
                  <a:tcPr/>
                </a:tc>
                <a:extLst>
                  <a:ext uri="{0D108BD9-81ED-4DB2-BD59-A6C34878D82A}">
                    <a16:rowId xmlns:a16="http://schemas.microsoft.com/office/drawing/2014/main" val="1391601867"/>
                  </a:ext>
                </a:extLst>
              </a:tr>
              <a:tr h="1555754">
                <a:tc>
                  <a:txBody>
                    <a:bodyPr/>
                    <a:lstStyle/>
                    <a:p>
                      <a:r>
                        <a:rPr lang="en-US" sz="1600" b="0"/>
                        <a:t>Quản trị viên (Admin)</a:t>
                      </a:r>
                    </a:p>
                  </a:txBody>
                  <a:tcPr/>
                </a:tc>
                <a:tc>
                  <a:txBody>
                    <a:bodyPr/>
                    <a:lstStyle/>
                    <a:p>
                      <a:r>
                        <a:rPr lang="en-US" sz="1600" b="0"/>
                        <a:t>Cấp bậc cao nhất, chịu trách nhiệm điều phối dữ liệu tri thức và quản lý vận hành toàn bộ hệ thống.</a:t>
                      </a:r>
                    </a:p>
                    <a:p>
                      <a:r>
                        <a:rPr lang="en-US" sz="1600" b="0"/>
                        <a:t>Các chức năng chính (Use Cases):</a:t>
                      </a:r>
                    </a:p>
                    <a:p>
                      <a:r>
                        <a:rPr lang="en-US" sz="1600" b="0"/>
                        <a:t> - Kiểm duyệt nội dung: Phê duyệt hoặc từ chối các bài đăng từ Thành viên để đảm bảo tính chính thống.</a:t>
                      </a:r>
                    </a:p>
                    <a:p>
                      <a:r>
                        <a:rPr lang="en-US" sz="1600" b="0"/>
                        <a:t> - </a:t>
                      </a:r>
                      <a:r>
                        <a:rPr lang="vi-VN" sz="1600" b="0"/>
                        <a:t>Bổ sung Ghi chú Chuyên gia (Admin Note): Đính chính hoặc thêm lời khuyên chuyên môn trực tiếp vào bài viết của người dùng.</a:t>
                      </a:r>
                      <a:endParaRPr lang="en-US" sz="1600" b="0"/>
                    </a:p>
                    <a:p>
                      <a:r>
                        <a:rPr lang="en-US" sz="1600" b="0"/>
                        <a:t> - Quản lý dữ liệu giá: Cập nhật biến động giá cả hàng ngày vào bảng </a:t>
                      </a:r>
                      <a:r>
                        <a:rPr lang="en-US" sz="1600" b="0" kern="1200">
                          <a:solidFill>
                            <a:schemeClr val="dk1"/>
                          </a:solidFill>
                          <a:latin typeface="+mn-lt"/>
                          <a:ea typeface="+mn-ea"/>
                          <a:cs typeface="+mn-cs"/>
                        </a:rPr>
                        <a:t>price_tracking</a:t>
                      </a:r>
                      <a:r>
                        <a:rPr lang="en-US" sz="1600" b="0"/>
                        <a:t>.</a:t>
                      </a:r>
                    </a:p>
                    <a:p>
                      <a:r>
                        <a:rPr lang="en-US" sz="1600" b="0"/>
                        <a:t> - </a:t>
                      </a:r>
                      <a:r>
                        <a:rPr lang="vi-VN" sz="1600" b="0"/>
                        <a:t>Quản trị người dùng: Khóa hoặc kích hoạt tài khoản thành viên.</a:t>
                      </a:r>
                      <a:endParaRPr lang="en-US" sz="1600" b="0"/>
                    </a:p>
                  </a:txBody>
                  <a:tcPr/>
                </a:tc>
                <a:extLst>
                  <a:ext uri="{0D108BD9-81ED-4DB2-BD59-A6C34878D82A}">
                    <a16:rowId xmlns:a16="http://schemas.microsoft.com/office/drawing/2014/main" val="2130822340"/>
                  </a:ext>
                </a:extLst>
              </a:tr>
            </a:tbl>
          </a:graphicData>
        </a:graphic>
      </p:graphicFrame>
    </p:spTree>
    <p:extLst>
      <p:ext uri="{BB962C8B-B14F-4D97-AF65-F5344CB8AC3E}">
        <p14:creationId xmlns:p14="http://schemas.microsoft.com/office/powerpoint/2010/main" val="3695489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F8004B-1652-3392-4B93-F9840E3AC1D0}"/>
              </a:ext>
            </a:extLst>
          </p:cNvPr>
          <p:cNvSpPr>
            <a:spLocks noGrp="1"/>
          </p:cNvSpPr>
          <p:nvPr>
            <p:ph type="title"/>
          </p:nvPr>
        </p:nvSpPr>
        <p:spPr>
          <a:xfrm>
            <a:off x="838200" y="365126"/>
            <a:ext cx="6703142" cy="1109714"/>
          </a:xfrm>
        </p:spPr>
        <p:txBody>
          <a:bodyPr>
            <a:normAutofit/>
          </a:bodyPr>
          <a:lstStyle/>
          <a:p>
            <a:r>
              <a:rPr lang="en-US" sz="3500">
                <a:solidFill>
                  <a:srgbClr val="FF0000"/>
                </a:solidFill>
              </a:rPr>
              <a:t>SƠ ĐỒ USE CASE TỔNG QUÁT</a:t>
            </a:r>
          </a:p>
        </p:txBody>
      </p:sp>
      <p:pic>
        <p:nvPicPr>
          <p:cNvPr id="9" name="Content Placeholder 8" descr="A screenshot of a computer screen&#10;&#10;AI-generated content may be incorrect.">
            <a:extLst>
              <a:ext uri="{FF2B5EF4-FFF2-40B4-BE49-F238E27FC236}">
                <a16:creationId xmlns:a16="http://schemas.microsoft.com/office/drawing/2014/main" id="{CD787DFD-2F0A-A04A-CA07-6B8592EB1D2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2384266"/>
            <a:ext cx="10515600" cy="3234055"/>
          </a:xfrm>
        </p:spPr>
      </p:pic>
    </p:spTree>
    <p:extLst>
      <p:ext uri="{BB962C8B-B14F-4D97-AF65-F5344CB8AC3E}">
        <p14:creationId xmlns:p14="http://schemas.microsoft.com/office/powerpoint/2010/main" val="14769677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1DC6ABD-215C-4EA8-A483-CEF5B99AB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107404-B28B-6567-DDAE-F6761F58A06D}"/>
              </a:ext>
            </a:extLst>
          </p:cNvPr>
          <p:cNvSpPr>
            <a:spLocks noGrp="1"/>
          </p:cNvSpPr>
          <p:nvPr>
            <p:ph type="title"/>
          </p:nvPr>
        </p:nvSpPr>
        <p:spPr>
          <a:xfrm>
            <a:off x="599609" y="679731"/>
            <a:ext cx="4171994" cy="3736540"/>
          </a:xfrm>
        </p:spPr>
        <p:txBody>
          <a:bodyPr vert="horz" lIns="91440" tIns="45720" rIns="91440" bIns="45720" rtlCol="0" anchor="b">
            <a:normAutofit/>
          </a:bodyPr>
          <a:lstStyle/>
          <a:p>
            <a:r>
              <a:rPr lang="en-US" sz="6000" kern="1200">
                <a:solidFill>
                  <a:schemeClr val="tx1"/>
                </a:solidFill>
                <a:latin typeface="+mj-lt"/>
                <a:ea typeface="+mj-ea"/>
                <a:cs typeface="+mj-cs"/>
              </a:rPr>
              <a:t>CƠ SỞ DỮ LIỆU</a:t>
            </a:r>
          </a:p>
        </p:txBody>
      </p:sp>
      <p:grpSp>
        <p:nvGrpSpPr>
          <p:cNvPr id="16" name="Group 15">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416432" y="1"/>
            <a:ext cx="2446384" cy="5777808"/>
            <a:chOff x="329184" y="1"/>
            <a:chExt cx="524256" cy="5777808"/>
          </a:xfrm>
        </p:grpSpPr>
        <p:cxnSp>
          <p:nvCxnSpPr>
            <p:cNvPr id="17" name="Straight Connector 16">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Rectangle 19">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Content Placeholder 8" descr="A screenshot of a computer&#10;&#10;AI-generated content may be incorrect.">
            <a:extLst>
              <a:ext uri="{FF2B5EF4-FFF2-40B4-BE49-F238E27FC236}">
                <a16:creationId xmlns:a16="http://schemas.microsoft.com/office/drawing/2014/main" id="{425BBA69-1610-7735-6D1D-6B3752E6468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640572" y="1137191"/>
            <a:ext cx="5608830" cy="4473042"/>
          </a:xfrm>
          <a:prstGeom prst="rect">
            <a:avLst/>
          </a:prstGeom>
        </p:spPr>
      </p:pic>
    </p:spTree>
    <p:extLst>
      <p:ext uri="{BB962C8B-B14F-4D97-AF65-F5344CB8AC3E}">
        <p14:creationId xmlns:p14="http://schemas.microsoft.com/office/powerpoint/2010/main" val="25492983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A94871E-96FC-4ADE-815B-41A636E34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5BCCE1-173D-98E2-D6F3-EE7E9A8F87C9}"/>
              </a:ext>
            </a:extLst>
          </p:cNvPr>
          <p:cNvSpPr>
            <a:spLocks noGrp="1"/>
          </p:cNvSpPr>
          <p:nvPr>
            <p:ph type="title"/>
          </p:nvPr>
        </p:nvSpPr>
        <p:spPr>
          <a:xfrm>
            <a:off x="640080" y="320040"/>
            <a:ext cx="6692827" cy="3892669"/>
          </a:xfrm>
        </p:spPr>
        <p:txBody>
          <a:bodyPr vert="horz" lIns="91440" tIns="45720" rIns="91440" bIns="45720" rtlCol="0" anchor="b">
            <a:normAutofit/>
          </a:bodyPr>
          <a:lstStyle/>
          <a:p>
            <a:r>
              <a:rPr lang="en-US" sz="6600" kern="1200">
                <a:solidFill>
                  <a:srgbClr val="FF0000"/>
                </a:solidFill>
                <a:latin typeface="+mj-lt"/>
                <a:ea typeface="+mj-ea"/>
                <a:cs typeface="+mj-cs"/>
              </a:rPr>
              <a:t>PHẦN 04 : </a:t>
            </a:r>
          </a:p>
        </p:txBody>
      </p:sp>
      <p:sp>
        <p:nvSpPr>
          <p:cNvPr id="3" name="Content Placeholder 2">
            <a:extLst>
              <a:ext uri="{FF2B5EF4-FFF2-40B4-BE49-F238E27FC236}">
                <a16:creationId xmlns:a16="http://schemas.microsoft.com/office/drawing/2014/main" id="{49C5ED65-6C78-4E95-1565-6739E4EAA9E9}"/>
              </a:ext>
            </a:extLst>
          </p:cNvPr>
          <p:cNvSpPr>
            <a:spLocks noGrp="1"/>
          </p:cNvSpPr>
          <p:nvPr>
            <p:ph idx="1"/>
          </p:nvPr>
        </p:nvSpPr>
        <p:spPr>
          <a:xfrm>
            <a:off x="640080" y="4631161"/>
            <a:ext cx="6692827" cy="1569486"/>
          </a:xfrm>
        </p:spPr>
        <p:txBody>
          <a:bodyPr vert="horz" lIns="91440" tIns="45720" rIns="91440" bIns="45720" rtlCol="0">
            <a:normAutofit/>
          </a:bodyPr>
          <a:lstStyle/>
          <a:p>
            <a:pPr marL="0" indent="0">
              <a:buNone/>
            </a:pPr>
            <a:r>
              <a:rPr lang="en-US" sz="4400" kern="1200">
                <a:solidFill>
                  <a:schemeClr val="tx1"/>
                </a:solidFill>
                <a:latin typeface="+mn-lt"/>
                <a:ea typeface="+mn-ea"/>
                <a:cs typeface="+mn-cs"/>
              </a:rPr>
              <a:t>DEMO SẢN PHẨM</a:t>
            </a:r>
          </a:p>
        </p:txBody>
      </p:sp>
      <p:sp>
        <p:nvSpPr>
          <p:cNvPr id="12"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45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Monitor">
            <a:extLst>
              <a:ext uri="{FF2B5EF4-FFF2-40B4-BE49-F238E27FC236}">
                <a16:creationId xmlns:a16="http://schemas.microsoft.com/office/drawing/2014/main" id="{5AAF1D25-64F7-594B-09F3-4EA650213AE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81544" y="1267079"/>
            <a:ext cx="4087368" cy="4087368"/>
          </a:xfrm>
          <a:prstGeom prst="rect">
            <a:avLst/>
          </a:prstGeom>
        </p:spPr>
      </p:pic>
    </p:spTree>
    <p:extLst>
      <p:ext uri="{BB962C8B-B14F-4D97-AF65-F5344CB8AC3E}">
        <p14:creationId xmlns:p14="http://schemas.microsoft.com/office/powerpoint/2010/main" val="35633523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nodeType="withEffect">
                                  <p:stCondLst>
                                    <p:cond delay="500"/>
                                  </p:stCondLst>
                                  <p:iterate>
                                    <p:tmPct val="10000"/>
                                  </p:iterate>
                                  <p:childTnLst>
                                    <p:set>
                                      <p:cBhvr>
                                        <p:cTn id="9" dur="1" fill="hold">
                                          <p:stCondLst>
                                            <p:cond delay="0"/>
                                          </p:stCondLst>
                                        </p:cTn>
                                        <p:tgtEl>
                                          <p:spTgt spid="7"/>
                                        </p:tgtEl>
                                        <p:attrNameLst>
                                          <p:attrName>style.visibility</p:attrName>
                                        </p:attrNameLst>
                                      </p:cBhvr>
                                      <p:to>
                                        <p:strVal val="visible"/>
                                      </p:to>
                                    </p:set>
                                    <p:animEffect transition="in" filter="fade">
                                      <p:cBhvr>
                                        <p:cTn id="10"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A94871E-96FC-4ADE-815B-41A636E34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462816-4EF6-AB7F-AFC8-3181B37C04E0}"/>
              </a:ext>
            </a:extLst>
          </p:cNvPr>
          <p:cNvSpPr>
            <a:spLocks noGrp="1"/>
          </p:cNvSpPr>
          <p:nvPr>
            <p:ph type="title"/>
          </p:nvPr>
        </p:nvSpPr>
        <p:spPr>
          <a:xfrm>
            <a:off x="640080" y="320040"/>
            <a:ext cx="6692827" cy="3892669"/>
          </a:xfrm>
        </p:spPr>
        <p:txBody>
          <a:bodyPr vert="horz" lIns="91440" tIns="45720" rIns="91440" bIns="45720" rtlCol="0" anchor="b">
            <a:normAutofit/>
          </a:bodyPr>
          <a:lstStyle/>
          <a:p>
            <a:r>
              <a:rPr lang="en-US" sz="6600" kern="1200">
                <a:solidFill>
                  <a:srgbClr val="FF0000"/>
                </a:solidFill>
                <a:latin typeface="+mj-lt"/>
                <a:ea typeface="+mj-ea"/>
                <a:cs typeface="+mj-cs"/>
              </a:rPr>
              <a:t>PHẦN 05 : </a:t>
            </a:r>
          </a:p>
        </p:txBody>
      </p:sp>
      <p:sp>
        <p:nvSpPr>
          <p:cNvPr id="3" name="Content Placeholder 2">
            <a:extLst>
              <a:ext uri="{FF2B5EF4-FFF2-40B4-BE49-F238E27FC236}">
                <a16:creationId xmlns:a16="http://schemas.microsoft.com/office/drawing/2014/main" id="{6EC7B98A-7F3D-5BBF-096D-7604A471644C}"/>
              </a:ext>
            </a:extLst>
          </p:cNvPr>
          <p:cNvSpPr>
            <a:spLocks noGrp="1"/>
          </p:cNvSpPr>
          <p:nvPr>
            <p:ph idx="1"/>
          </p:nvPr>
        </p:nvSpPr>
        <p:spPr>
          <a:xfrm>
            <a:off x="640080" y="4631161"/>
            <a:ext cx="6692827" cy="1569486"/>
          </a:xfrm>
        </p:spPr>
        <p:txBody>
          <a:bodyPr vert="horz" lIns="91440" tIns="45720" rIns="91440" bIns="45720" rtlCol="0">
            <a:normAutofit/>
          </a:bodyPr>
          <a:lstStyle/>
          <a:p>
            <a:pPr marL="0" indent="0">
              <a:buNone/>
            </a:pPr>
            <a:r>
              <a:rPr lang="en-US" sz="3500" kern="1200">
                <a:solidFill>
                  <a:schemeClr val="tx1"/>
                </a:solidFill>
                <a:latin typeface="+mn-lt"/>
                <a:ea typeface="+mn-ea"/>
                <a:cs typeface="+mn-cs"/>
              </a:rPr>
              <a:t>HẠN CHẾ &amp; HƯỚNG PHÁT TRIỂN ĐỀ TÀI</a:t>
            </a:r>
          </a:p>
        </p:txBody>
      </p:sp>
      <p:sp>
        <p:nvSpPr>
          <p:cNvPr id="12"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45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Checkmark">
            <a:extLst>
              <a:ext uri="{FF2B5EF4-FFF2-40B4-BE49-F238E27FC236}">
                <a16:creationId xmlns:a16="http://schemas.microsoft.com/office/drawing/2014/main" id="{0621EE17-A9DC-8DC1-7F2E-105176A6194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781544" y="1267079"/>
            <a:ext cx="4087368" cy="4087368"/>
          </a:xfrm>
          <a:prstGeom prst="rect">
            <a:avLst/>
          </a:prstGeom>
        </p:spPr>
      </p:pic>
    </p:spTree>
    <p:extLst>
      <p:ext uri="{BB962C8B-B14F-4D97-AF65-F5344CB8AC3E}">
        <p14:creationId xmlns:p14="http://schemas.microsoft.com/office/powerpoint/2010/main" val="1796832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nodeType="withEffect">
                                  <p:stCondLst>
                                    <p:cond delay="500"/>
                                  </p:stCondLst>
                                  <p:iterate>
                                    <p:tmPct val="10000"/>
                                  </p:iterate>
                                  <p:childTnLst>
                                    <p:set>
                                      <p:cBhvr>
                                        <p:cTn id="9" dur="1" fill="hold">
                                          <p:stCondLst>
                                            <p:cond delay="0"/>
                                          </p:stCondLst>
                                        </p:cTn>
                                        <p:tgtEl>
                                          <p:spTgt spid="7"/>
                                        </p:tgtEl>
                                        <p:attrNameLst>
                                          <p:attrName>style.visibility</p:attrName>
                                        </p:attrNameLst>
                                      </p:cBhvr>
                                      <p:to>
                                        <p:strVal val="visible"/>
                                      </p:to>
                                    </p:set>
                                    <p:animEffect transition="in" filter="fade">
                                      <p:cBhvr>
                                        <p:cTn id="10"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C05CBC3C-2E5A-4839-8B9B-2E5A6ADF0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B5B423A-57CC-4C58-AA26-8E2E862B03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5217023" cy="3994777"/>
          </a:xfrm>
          <a:custGeom>
            <a:avLst/>
            <a:gdLst>
              <a:gd name="connsiteX0" fmla="*/ 1945461 w 5217023"/>
              <a:gd name="connsiteY0" fmla="*/ 3787398 h 3994777"/>
              <a:gd name="connsiteX1" fmla="*/ 1942113 w 5217023"/>
              <a:gd name="connsiteY1" fmla="*/ 3790053 h 3994777"/>
              <a:gd name="connsiteX2" fmla="*/ 1946982 w 5217023"/>
              <a:gd name="connsiteY2" fmla="*/ 3787990 h 3994777"/>
              <a:gd name="connsiteX3" fmla="*/ 1945461 w 5217023"/>
              <a:gd name="connsiteY3" fmla="*/ 3787398 h 3994777"/>
              <a:gd name="connsiteX4" fmla="*/ 0 w 5217023"/>
              <a:gd name="connsiteY4" fmla="*/ 0 h 3994777"/>
              <a:gd name="connsiteX5" fmla="*/ 5030958 w 5217023"/>
              <a:gd name="connsiteY5" fmla="*/ 0 h 3994777"/>
              <a:gd name="connsiteX6" fmla="*/ 5046198 w 5217023"/>
              <a:gd name="connsiteY6" fmla="*/ 153449 h 3994777"/>
              <a:gd name="connsiteX7" fmla="*/ 5055729 w 5217023"/>
              <a:gd name="connsiteY7" fmla="*/ 415828 h 3994777"/>
              <a:gd name="connsiteX8" fmla="*/ 4735242 w 5217023"/>
              <a:gd name="connsiteY8" fmla="*/ 1867130 h 3994777"/>
              <a:gd name="connsiteX9" fmla="*/ 3907395 w 5217023"/>
              <a:gd name="connsiteY9" fmla="*/ 2938441 h 3994777"/>
              <a:gd name="connsiteX10" fmla="*/ 3946497 w 5217023"/>
              <a:gd name="connsiteY10" fmla="*/ 2908567 h 3994777"/>
              <a:gd name="connsiteX11" fmla="*/ 4585421 w 5217023"/>
              <a:gd name="connsiteY11" fmla="*/ 2188401 h 3994777"/>
              <a:gd name="connsiteX12" fmla="*/ 5142585 w 5217023"/>
              <a:gd name="connsiteY12" fmla="*/ 276891 h 3994777"/>
              <a:gd name="connsiteX13" fmla="*/ 5121833 w 5217023"/>
              <a:gd name="connsiteY13" fmla="*/ 30208 h 3994777"/>
              <a:gd name="connsiteX14" fmla="*/ 5116229 w 5217023"/>
              <a:gd name="connsiteY14" fmla="*/ 0 h 3994777"/>
              <a:gd name="connsiteX15" fmla="*/ 5184724 w 5217023"/>
              <a:gd name="connsiteY15" fmla="*/ 0 h 3994777"/>
              <a:gd name="connsiteX16" fmla="*/ 5196265 w 5217023"/>
              <a:gd name="connsiteY16" fmla="*/ 66113 h 3994777"/>
              <a:gd name="connsiteX17" fmla="*/ 5058603 w 5217023"/>
              <a:gd name="connsiteY17" fmla="*/ 1368242 h 3994777"/>
              <a:gd name="connsiteX18" fmla="*/ 4096624 w 5217023"/>
              <a:gd name="connsiteY18" fmla="*/ 2870829 h 3994777"/>
              <a:gd name="connsiteX19" fmla="*/ 3833203 w 5217023"/>
              <a:gd name="connsiteY19" fmla="*/ 3092190 h 3994777"/>
              <a:gd name="connsiteX20" fmla="*/ 3536509 w 5217023"/>
              <a:gd name="connsiteY20" fmla="*/ 3297128 h 3994777"/>
              <a:gd name="connsiteX21" fmla="*/ 3148966 w 5217023"/>
              <a:gd name="connsiteY21" fmla="*/ 3485478 h 3994777"/>
              <a:gd name="connsiteX22" fmla="*/ 1860557 w 5217023"/>
              <a:gd name="connsiteY22" fmla="*/ 3880910 h 3994777"/>
              <a:gd name="connsiteX23" fmla="*/ 573715 w 5217023"/>
              <a:gd name="connsiteY23" fmla="*/ 3983764 h 3994777"/>
              <a:gd name="connsiteX24" fmla="*/ 108410 w 5217023"/>
              <a:gd name="connsiteY24" fmla="*/ 3908816 h 3994777"/>
              <a:gd name="connsiteX25" fmla="*/ 0 w 5217023"/>
              <a:gd name="connsiteY25" fmla="*/ 3876793 h 3994777"/>
              <a:gd name="connsiteX26" fmla="*/ 0 w 5217023"/>
              <a:gd name="connsiteY26" fmla="*/ 3802912 h 3994777"/>
              <a:gd name="connsiteX27" fmla="*/ 36975 w 5217023"/>
              <a:gd name="connsiteY27" fmla="*/ 3815954 h 3994777"/>
              <a:gd name="connsiteX28" fmla="*/ 561628 w 5217023"/>
              <a:gd name="connsiteY28" fmla="*/ 3912655 h 3994777"/>
              <a:gd name="connsiteX29" fmla="*/ 1683086 w 5217023"/>
              <a:gd name="connsiteY29" fmla="*/ 3844334 h 3994777"/>
              <a:gd name="connsiteX30" fmla="*/ 1806023 w 5217023"/>
              <a:gd name="connsiteY30" fmla="*/ 3820992 h 3994777"/>
              <a:gd name="connsiteX31" fmla="*/ 1921817 w 5217023"/>
              <a:gd name="connsiteY31" fmla="*/ 3795747 h 3994777"/>
              <a:gd name="connsiteX32" fmla="*/ 1243689 w 5217023"/>
              <a:gd name="connsiteY32" fmla="*/ 3846539 h 3994777"/>
              <a:gd name="connsiteX33" fmla="*/ 62875 w 5217023"/>
              <a:gd name="connsiteY33" fmla="*/ 3668143 h 3994777"/>
              <a:gd name="connsiteX34" fmla="*/ 0 w 5217023"/>
              <a:gd name="connsiteY34" fmla="*/ 3644185 h 3994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217023" h="3994777">
                <a:moveTo>
                  <a:pt x="1945461" y="3787398"/>
                </a:moveTo>
                <a:lnTo>
                  <a:pt x="1942113" y="3790053"/>
                </a:lnTo>
                <a:lnTo>
                  <a:pt x="1946982" y="3787990"/>
                </a:lnTo>
                <a:cubicBezTo>
                  <a:pt x="1946982" y="3787990"/>
                  <a:pt x="1946379" y="3787019"/>
                  <a:pt x="1945461" y="3787398"/>
                </a:cubicBezTo>
                <a:close/>
                <a:moveTo>
                  <a:pt x="0" y="0"/>
                </a:moveTo>
                <a:lnTo>
                  <a:pt x="5030958" y="0"/>
                </a:lnTo>
                <a:lnTo>
                  <a:pt x="5046198" y="153449"/>
                </a:lnTo>
                <a:cubicBezTo>
                  <a:pt x="5052189" y="240558"/>
                  <a:pt x="5055458" y="328007"/>
                  <a:pt x="5055729" y="415828"/>
                </a:cubicBezTo>
                <a:cubicBezTo>
                  <a:pt x="5057604" y="923672"/>
                  <a:pt x="4959210" y="1409054"/>
                  <a:pt x="4735242" y="1867130"/>
                </a:cubicBezTo>
                <a:cubicBezTo>
                  <a:pt x="4533284" y="2280198"/>
                  <a:pt x="4248921" y="2629330"/>
                  <a:pt x="3907395" y="2938441"/>
                </a:cubicBezTo>
                <a:cubicBezTo>
                  <a:pt x="3922498" y="2931535"/>
                  <a:pt x="3935859" y="2921330"/>
                  <a:pt x="3946497" y="2908567"/>
                </a:cubicBezTo>
                <a:cubicBezTo>
                  <a:pt x="4193494" y="2700987"/>
                  <a:pt x="4408756" y="2458364"/>
                  <a:pt x="4585421" y="2188401"/>
                </a:cubicBezTo>
                <a:cubicBezTo>
                  <a:pt x="4967641" y="1608533"/>
                  <a:pt x="5169304" y="975361"/>
                  <a:pt x="5142585" y="276891"/>
                </a:cubicBezTo>
                <a:cubicBezTo>
                  <a:pt x="5139764" y="194215"/>
                  <a:pt x="5132824" y="111888"/>
                  <a:pt x="5121833" y="30208"/>
                </a:cubicBezTo>
                <a:lnTo>
                  <a:pt x="5116229" y="0"/>
                </a:lnTo>
                <a:lnTo>
                  <a:pt x="5184724" y="0"/>
                </a:lnTo>
                <a:lnTo>
                  <a:pt x="5196265" y="66113"/>
                </a:lnTo>
                <a:cubicBezTo>
                  <a:pt x="5249921" y="496647"/>
                  <a:pt x="5197997" y="931171"/>
                  <a:pt x="5058603" y="1368242"/>
                </a:cubicBezTo>
                <a:cubicBezTo>
                  <a:pt x="4872414" y="1953929"/>
                  <a:pt x="4544298" y="2451351"/>
                  <a:pt x="4096624" y="2870829"/>
                </a:cubicBezTo>
                <a:cubicBezTo>
                  <a:pt x="4012832" y="2949426"/>
                  <a:pt x="3924415" y="3022439"/>
                  <a:pt x="3833203" y="3092190"/>
                </a:cubicBezTo>
                <a:cubicBezTo>
                  <a:pt x="3741992" y="3161943"/>
                  <a:pt x="3648667" y="3225510"/>
                  <a:pt x="3536509" y="3297128"/>
                </a:cubicBezTo>
                <a:cubicBezTo>
                  <a:pt x="3427215" y="3372735"/>
                  <a:pt x="3288598" y="3430233"/>
                  <a:pt x="3148966" y="3485478"/>
                </a:cubicBezTo>
                <a:cubicBezTo>
                  <a:pt x="2729930" y="3651299"/>
                  <a:pt x="2302194" y="3788890"/>
                  <a:pt x="1860557" y="3880910"/>
                </a:cubicBezTo>
                <a:cubicBezTo>
                  <a:pt x="1435974" y="3969444"/>
                  <a:pt x="1008052" y="4017957"/>
                  <a:pt x="573715" y="3983764"/>
                </a:cubicBezTo>
                <a:cubicBezTo>
                  <a:pt x="415134" y="3971300"/>
                  <a:pt x="259585" y="3947743"/>
                  <a:pt x="108410" y="3908816"/>
                </a:cubicBezTo>
                <a:lnTo>
                  <a:pt x="0" y="3876793"/>
                </a:lnTo>
                <a:lnTo>
                  <a:pt x="0" y="3802912"/>
                </a:lnTo>
                <a:lnTo>
                  <a:pt x="36975" y="3815954"/>
                </a:lnTo>
                <a:cubicBezTo>
                  <a:pt x="206404" y="3867475"/>
                  <a:pt x="382020" y="3897326"/>
                  <a:pt x="561628" y="3912655"/>
                </a:cubicBezTo>
                <a:cubicBezTo>
                  <a:pt x="938583" y="3944832"/>
                  <a:pt x="1311814" y="3910697"/>
                  <a:pt x="1683086" y="3844334"/>
                </a:cubicBezTo>
                <a:cubicBezTo>
                  <a:pt x="1724123" y="3837151"/>
                  <a:pt x="1765097" y="3829374"/>
                  <a:pt x="1806023" y="3820992"/>
                </a:cubicBezTo>
                <a:cubicBezTo>
                  <a:pt x="1844740" y="3813079"/>
                  <a:pt x="1883218" y="3804161"/>
                  <a:pt x="1921817" y="3795747"/>
                </a:cubicBezTo>
                <a:cubicBezTo>
                  <a:pt x="1697011" y="3826435"/>
                  <a:pt x="1470551" y="3843387"/>
                  <a:pt x="1243689" y="3846539"/>
                </a:cubicBezTo>
                <a:cubicBezTo>
                  <a:pt x="839058" y="3849054"/>
                  <a:pt x="443424" y="3800206"/>
                  <a:pt x="62875" y="3668143"/>
                </a:cubicBezTo>
                <a:lnTo>
                  <a:pt x="0" y="3644185"/>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E7D9755-D571-DAA9-8851-73445D2D6D43}"/>
              </a:ext>
            </a:extLst>
          </p:cNvPr>
          <p:cNvSpPr>
            <a:spLocks noGrp="1"/>
          </p:cNvSpPr>
          <p:nvPr>
            <p:ph type="title"/>
          </p:nvPr>
        </p:nvSpPr>
        <p:spPr>
          <a:xfrm>
            <a:off x="838200" y="673770"/>
            <a:ext cx="3220329" cy="2027227"/>
          </a:xfrm>
        </p:spPr>
        <p:txBody>
          <a:bodyPr anchor="t">
            <a:normAutofit/>
          </a:bodyPr>
          <a:lstStyle/>
          <a:p>
            <a:r>
              <a:rPr lang="en-US" sz="5400">
                <a:solidFill>
                  <a:srgbClr val="FFFFFF"/>
                </a:solidFill>
              </a:rPr>
              <a:t>HẠN CHẾ</a:t>
            </a:r>
          </a:p>
        </p:txBody>
      </p:sp>
      <p:graphicFrame>
        <p:nvGraphicFramePr>
          <p:cNvPr id="12" name="Content Placeholder 2">
            <a:extLst>
              <a:ext uri="{FF2B5EF4-FFF2-40B4-BE49-F238E27FC236}">
                <a16:creationId xmlns:a16="http://schemas.microsoft.com/office/drawing/2014/main" id="{20786840-1B2D-69E3-C4B5-BF6203DC4883}"/>
              </a:ext>
            </a:extLst>
          </p:cNvPr>
          <p:cNvGraphicFramePr>
            <a:graphicFrameLocks noGrp="1"/>
          </p:cNvGraphicFramePr>
          <p:nvPr>
            <p:ph idx="1"/>
            <p:extLst>
              <p:ext uri="{D42A27DB-BD31-4B8C-83A1-F6EECF244321}">
                <p14:modId xmlns:p14="http://schemas.microsoft.com/office/powerpoint/2010/main" val="1003667648"/>
              </p:ext>
            </p:extLst>
          </p:nvPr>
        </p:nvGraphicFramePr>
        <p:xfrm>
          <a:off x="5542672" y="541606"/>
          <a:ext cx="5811128" cy="56782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435106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C05CBC3C-2E5A-4839-8B9B-2E5A6ADF0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827FF362-FC97-4BF5-949B-D4ADFA26E4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8888549">
            <a:off x="-1059473" y="-1108988"/>
            <a:ext cx="7179830" cy="5226565"/>
          </a:xfrm>
          <a:custGeom>
            <a:avLst/>
            <a:gdLst>
              <a:gd name="connsiteX0" fmla="*/ 5217841 w 7179830"/>
              <a:gd name="connsiteY0" fmla="*/ 464824 h 5226565"/>
              <a:gd name="connsiteX1" fmla="*/ 5222490 w 7179830"/>
              <a:gd name="connsiteY1" fmla="*/ 464289 h 5226565"/>
              <a:gd name="connsiteX2" fmla="*/ 5216768 w 7179830"/>
              <a:gd name="connsiteY2" fmla="*/ 463394 h 5226565"/>
              <a:gd name="connsiteX3" fmla="*/ 5217841 w 7179830"/>
              <a:gd name="connsiteY3" fmla="*/ 464824 h 5226565"/>
              <a:gd name="connsiteX4" fmla="*/ 4945201 w 7179830"/>
              <a:gd name="connsiteY4" fmla="*/ 5226565 h 5226565"/>
              <a:gd name="connsiteX5" fmla="*/ 140449 w 7179830"/>
              <a:gd name="connsiteY5" fmla="*/ 2240811 h 5226565"/>
              <a:gd name="connsiteX6" fmla="*/ 232913 w 7179830"/>
              <a:gd name="connsiteY6" fmla="*/ 2052782 h 5226565"/>
              <a:gd name="connsiteX7" fmla="*/ 375714 w 7179830"/>
              <a:gd name="connsiteY7" fmla="*/ 1803205 h 5226565"/>
              <a:gd name="connsiteX8" fmla="*/ 1512756 w 7179830"/>
              <a:gd name="connsiteY8" fmla="*/ 638448 h 5226565"/>
              <a:gd name="connsiteX9" fmla="*/ 2902095 w 7179830"/>
              <a:gd name="connsiteY9" fmla="*/ 120440 h 5226565"/>
              <a:gd name="connsiteX10" fmla="*/ 2848453 w 7179830"/>
              <a:gd name="connsiteY10" fmla="*/ 125626 h 5226565"/>
              <a:gd name="connsiteX11" fmla="*/ 1837830 w 7179830"/>
              <a:gd name="connsiteY11" fmla="*/ 426203 h 5226565"/>
              <a:gd name="connsiteX12" fmla="*/ 214608 w 7179830"/>
              <a:gd name="connsiteY12" fmla="*/ 1882239 h 5226565"/>
              <a:gd name="connsiteX13" fmla="*/ 91317 w 7179830"/>
              <a:gd name="connsiteY13" fmla="*/ 2123701 h 5226565"/>
              <a:gd name="connsiteX14" fmla="*/ 64092 w 7179830"/>
              <a:gd name="connsiteY14" fmla="*/ 2193361 h 5226565"/>
              <a:gd name="connsiteX15" fmla="*/ 0 w 7179830"/>
              <a:gd name="connsiteY15" fmla="*/ 2153533 h 5226565"/>
              <a:gd name="connsiteX16" fmla="*/ 42834 w 7179830"/>
              <a:gd name="connsiteY16" fmla="*/ 2047277 h 5226565"/>
              <a:gd name="connsiteX17" fmla="*/ 923582 w 7179830"/>
              <a:gd name="connsiteY17" fmla="*/ 915600 h 5226565"/>
              <a:gd name="connsiteX18" fmla="*/ 2686989 w 7179830"/>
              <a:gd name="connsiteY18" fmla="*/ 73950 h 5226565"/>
              <a:gd name="connsiteX19" fmla="*/ 3059983 w 7179830"/>
              <a:gd name="connsiteY19" fmla="*/ 20308 h 5226565"/>
              <a:gd name="connsiteX20" fmla="*/ 3454435 w 7179830"/>
              <a:gd name="connsiteY20" fmla="*/ 1176 h 5226565"/>
              <a:gd name="connsiteX21" fmla="*/ 3923806 w 7179830"/>
              <a:gd name="connsiteY21" fmla="*/ 49990 h 5226565"/>
              <a:gd name="connsiteX22" fmla="*/ 5350874 w 7179830"/>
              <a:gd name="connsiteY22" fmla="*/ 426917 h 5226565"/>
              <a:gd name="connsiteX23" fmla="*/ 6607360 w 7179830"/>
              <a:gd name="connsiteY23" fmla="*/ 1075097 h 5226565"/>
              <a:gd name="connsiteX24" fmla="*/ 7110534 w 7179830"/>
              <a:gd name="connsiteY24" fmla="*/ 1541421 h 5226565"/>
              <a:gd name="connsiteX25" fmla="*/ 7179830 w 7179830"/>
              <a:gd name="connsiteY25" fmla="*/ 1630542 h 5226565"/>
              <a:gd name="connsiteX26" fmla="*/ 7136295 w 7179830"/>
              <a:gd name="connsiteY26" fmla="*/ 1700600 h 5226565"/>
              <a:gd name="connsiteX27" fmla="*/ 7131140 w 7179830"/>
              <a:gd name="connsiteY27" fmla="*/ 1693045 h 5226565"/>
              <a:gd name="connsiteX28" fmla="*/ 6577499 w 7179830"/>
              <a:gd name="connsiteY28" fmla="*/ 1148230 h 5226565"/>
              <a:gd name="connsiteX29" fmla="*/ 5494816 w 7179830"/>
              <a:gd name="connsiteY29" fmla="*/ 563527 h 5226565"/>
              <a:gd name="connsiteX30" fmla="*/ 5366967 w 7179830"/>
              <a:gd name="connsiteY30" fmla="*/ 514176 h 5226565"/>
              <a:gd name="connsiteX31" fmla="*/ 5244661 w 7179830"/>
              <a:gd name="connsiteY31" fmla="*/ 470725 h 5226565"/>
              <a:gd name="connsiteX32" fmla="*/ 5904822 w 7179830"/>
              <a:gd name="connsiteY32" fmla="*/ 815468 h 5226565"/>
              <a:gd name="connsiteX33" fmla="*/ 7015222 w 7179830"/>
              <a:gd name="connsiteY33" fmla="*/ 1815185 h 5226565"/>
              <a:gd name="connsiteX34" fmla="*/ 7040454 w 7179830"/>
              <a:gd name="connsiteY34" fmla="*/ 1854830 h 52265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7179830" h="5226565">
                <a:moveTo>
                  <a:pt x="5217841" y="464824"/>
                </a:moveTo>
                <a:lnTo>
                  <a:pt x="5222490" y="464289"/>
                </a:lnTo>
                <a:lnTo>
                  <a:pt x="5216768" y="463394"/>
                </a:lnTo>
                <a:cubicBezTo>
                  <a:pt x="5216768" y="463394"/>
                  <a:pt x="5216768" y="464646"/>
                  <a:pt x="5217841" y="464824"/>
                </a:cubicBezTo>
                <a:close/>
                <a:moveTo>
                  <a:pt x="4945201" y="5226565"/>
                </a:moveTo>
                <a:lnTo>
                  <a:pt x="140449" y="2240811"/>
                </a:lnTo>
                <a:lnTo>
                  <a:pt x="232913" y="2052782"/>
                </a:lnTo>
                <a:cubicBezTo>
                  <a:pt x="277693" y="1968290"/>
                  <a:pt x="325201" y="1885054"/>
                  <a:pt x="375714" y="1803205"/>
                </a:cubicBezTo>
                <a:cubicBezTo>
                  <a:pt x="667528" y="1329721"/>
                  <a:pt x="1039629" y="935091"/>
                  <a:pt x="1512756" y="638448"/>
                </a:cubicBezTo>
                <a:cubicBezTo>
                  <a:pt x="1939392" y="370950"/>
                  <a:pt x="2405724" y="210560"/>
                  <a:pt x="2902095" y="120440"/>
                </a:cubicBezTo>
                <a:cubicBezTo>
                  <a:pt x="2884054" y="118134"/>
                  <a:pt x="2865727" y="119904"/>
                  <a:pt x="2848453" y="125626"/>
                </a:cubicBezTo>
                <a:cubicBezTo>
                  <a:pt x="2498704" y="175943"/>
                  <a:pt x="2158217" y="277201"/>
                  <a:pt x="1837830" y="426203"/>
                </a:cubicBezTo>
                <a:cubicBezTo>
                  <a:pt x="1147094" y="744660"/>
                  <a:pt x="593502" y="1217071"/>
                  <a:pt x="214608" y="1882239"/>
                </a:cubicBezTo>
                <a:cubicBezTo>
                  <a:pt x="169441" y="1960776"/>
                  <a:pt x="128308" y="2041369"/>
                  <a:pt x="91317" y="2123701"/>
                </a:cubicBezTo>
                <a:lnTo>
                  <a:pt x="64092" y="2193361"/>
                </a:lnTo>
                <a:lnTo>
                  <a:pt x="0" y="2153533"/>
                </a:lnTo>
                <a:lnTo>
                  <a:pt x="42834" y="2047277"/>
                </a:lnTo>
                <a:cubicBezTo>
                  <a:pt x="241792" y="1615775"/>
                  <a:pt x="541268" y="1241591"/>
                  <a:pt x="923582" y="915600"/>
                </a:cubicBezTo>
                <a:cubicBezTo>
                  <a:pt x="1435331" y="478415"/>
                  <a:pt x="2028081" y="205375"/>
                  <a:pt x="2686989" y="73950"/>
                </a:cubicBezTo>
                <a:cubicBezTo>
                  <a:pt x="2810367" y="49274"/>
                  <a:pt x="2934818" y="32466"/>
                  <a:pt x="3059983" y="20308"/>
                </a:cubicBezTo>
                <a:cubicBezTo>
                  <a:pt x="3185149" y="8148"/>
                  <a:pt x="3308706" y="2963"/>
                  <a:pt x="3454435" y="1176"/>
                </a:cubicBezTo>
                <a:cubicBezTo>
                  <a:pt x="3599805" y="-5977"/>
                  <a:pt x="3761985" y="20665"/>
                  <a:pt x="3923806" y="49990"/>
                </a:cubicBezTo>
                <a:cubicBezTo>
                  <a:pt x="4409449" y="137964"/>
                  <a:pt x="4886867" y="257228"/>
                  <a:pt x="5350874" y="426917"/>
                </a:cubicBezTo>
                <a:cubicBezTo>
                  <a:pt x="5797001" y="589991"/>
                  <a:pt x="6223101" y="792223"/>
                  <a:pt x="6607360" y="1075097"/>
                </a:cubicBezTo>
                <a:cubicBezTo>
                  <a:pt x="6794438" y="1212779"/>
                  <a:pt x="6965102" y="1365689"/>
                  <a:pt x="7110534" y="1541421"/>
                </a:cubicBezTo>
                <a:lnTo>
                  <a:pt x="7179830" y="1630542"/>
                </a:lnTo>
                <a:lnTo>
                  <a:pt x="7136295" y="1700600"/>
                </a:lnTo>
                <a:lnTo>
                  <a:pt x="7131140" y="1693045"/>
                </a:lnTo>
                <a:cubicBezTo>
                  <a:pt x="6977874" y="1483026"/>
                  <a:pt x="6788448" y="1305671"/>
                  <a:pt x="6577499" y="1148230"/>
                </a:cubicBezTo>
                <a:cubicBezTo>
                  <a:pt x="6245452" y="900401"/>
                  <a:pt x="5878538" y="716408"/>
                  <a:pt x="5494816" y="563527"/>
                </a:cubicBezTo>
                <a:cubicBezTo>
                  <a:pt x="5452491" y="546487"/>
                  <a:pt x="5409881" y="530036"/>
                  <a:pt x="5366967" y="514176"/>
                </a:cubicBezTo>
                <a:cubicBezTo>
                  <a:pt x="5326377" y="499156"/>
                  <a:pt x="5285430" y="485210"/>
                  <a:pt x="5244661" y="470725"/>
                </a:cubicBezTo>
                <a:cubicBezTo>
                  <a:pt x="5471517" y="572127"/>
                  <a:pt x="5691970" y="687263"/>
                  <a:pt x="5904822" y="815468"/>
                </a:cubicBezTo>
                <a:cubicBezTo>
                  <a:pt x="6336645" y="1080104"/>
                  <a:pt x="6718758" y="1400351"/>
                  <a:pt x="7015222" y="1815185"/>
                </a:cubicBezTo>
                <a:lnTo>
                  <a:pt x="7040454" y="1854830"/>
                </a:lnTo>
                <a:close/>
              </a:path>
            </a:pathLst>
          </a:custGeom>
          <a:solidFill>
            <a:schemeClr val="accent2"/>
          </a:solidFill>
          <a:ln w="12700"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2BA13C8D-2988-D99B-8F83-465E4D787308}"/>
              </a:ext>
            </a:extLst>
          </p:cNvPr>
          <p:cNvSpPr>
            <a:spLocks noGrp="1"/>
          </p:cNvSpPr>
          <p:nvPr>
            <p:ph type="title"/>
          </p:nvPr>
        </p:nvSpPr>
        <p:spPr>
          <a:xfrm>
            <a:off x="841246" y="673770"/>
            <a:ext cx="3644489" cy="2414488"/>
          </a:xfrm>
        </p:spPr>
        <p:txBody>
          <a:bodyPr anchor="t">
            <a:normAutofit/>
          </a:bodyPr>
          <a:lstStyle/>
          <a:p>
            <a:r>
              <a:rPr lang="en-US" sz="5400">
                <a:solidFill>
                  <a:srgbClr val="FFFFFF"/>
                </a:solidFill>
              </a:rPr>
              <a:t>HƯỚNG PHÁT TRIỂN ĐỀ TÀI</a:t>
            </a:r>
          </a:p>
        </p:txBody>
      </p:sp>
      <p:graphicFrame>
        <p:nvGraphicFramePr>
          <p:cNvPr id="22" name="Content Placeholder 2">
            <a:extLst>
              <a:ext uri="{FF2B5EF4-FFF2-40B4-BE49-F238E27FC236}">
                <a16:creationId xmlns:a16="http://schemas.microsoft.com/office/drawing/2014/main" id="{E8524EFA-6AEF-241F-C628-D86AE26DEACD}"/>
              </a:ext>
            </a:extLst>
          </p:cNvPr>
          <p:cNvGraphicFramePr>
            <a:graphicFrameLocks noGrp="1"/>
          </p:cNvGraphicFramePr>
          <p:nvPr>
            <p:ph idx="1"/>
          </p:nvPr>
        </p:nvGraphicFramePr>
        <p:xfrm>
          <a:off x="6095999" y="882315"/>
          <a:ext cx="5254754" cy="5294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298751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278ADA9-6383-4BDD-80D2-8899A40268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84B7147-B0F6-40ED-B5A2-FF72BC8198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2" name="Rectangle 11">
            <a:extLst>
              <a:ext uri="{FF2B5EF4-FFF2-40B4-BE49-F238E27FC236}">
                <a16:creationId xmlns:a16="http://schemas.microsoft.com/office/drawing/2014/main" id="{B36D2DE0-0628-4A9A-A59D-7BA8B5EB30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48E405C9-94BE-41DA-928C-DEC9A8550E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15929" y="148929"/>
            <a:ext cx="6560142" cy="656014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06B5702D-8056-4C37-08FE-4F8EAD8EC5DF}"/>
              </a:ext>
            </a:extLst>
          </p:cNvPr>
          <p:cNvSpPr>
            <a:spLocks noGrp="1"/>
          </p:cNvSpPr>
          <p:nvPr>
            <p:ph type="title"/>
          </p:nvPr>
        </p:nvSpPr>
        <p:spPr>
          <a:xfrm>
            <a:off x="3501842" y="1198737"/>
            <a:ext cx="5561938" cy="2513516"/>
          </a:xfrm>
        </p:spPr>
        <p:txBody>
          <a:bodyPr vert="horz" lIns="91440" tIns="45720" rIns="91440" bIns="45720" rtlCol="0" anchor="b">
            <a:normAutofit/>
          </a:bodyPr>
          <a:lstStyle/>
          <a:p>
            <a:pPr algn="ctr"/>
            <a:r>
              <a:rPr lang="en-US" sz="6000" kern="1200">
                <a:solidFill>
                  <a:schemeClr val="tx1"/>
                </a:solidFill>
                <a:latin typeface="+mj-lt"/>
                <a:ea typeface="+mj-ea"/>
                <a:cs typeface="+mj-cs"/>
              </a:rPr>
              <a:t>THANKS YOU FOR WATCHING</a:t>
            </a:r>
          </a:p>
        </p:txBody>
      </p:sp>
      <p:sp>
        <p:nvSpPr>
          <p:cNvPr id="16" name="Arc 15">
            <a:extLst>
              <a:ext uri="{FF2B5EF4-FFF2-40B4-BE49-F238E27FC236}">
                <a16:creationId xmlns:a16="http://schemas.microsoft.com/office/drawing/2014/main" id="{D2091A72-D5BB-42AC-8FD3-F7747D9086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9222429" flipV="1">
            <a:off x="2494119" y="6170"/>
            <a:ext cx="6816262" cy="6816262"/>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8" name="Oval 17">
            <a:extLst>
              <a:ext uri="{FF2B5EF4-FFF2-40B4-BE49-F238E27FC236}">
                <a16:creationId xmlns:a16="http://schemas.microsoft.com/office/drawing/2014/main" id="{6ED12BFC-A737-46AF-8411-481112D54B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0995" y="5310973"/>
            <a:ext cx="705948" cy="686798"/>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FC831D2-F958-1CD1-E667-F88064BA8708}"/>
              </a:ext>
            </a:extLst>
          </p:cNvPr>
          <p:cNvSpPr txBox="1"/>
          <p:nvPr/>
        </p:nvSpPr>
        <p:spPr>
          <a:xfrm>
            <a:off x="4032118" y="3944706"/>
            <a:ext cx="4168877" cy="656590"/>
          </a:xfrm>
          <a:prstGeom prst="rect">
            <a:avLst/>
          </a:prstGeom>
          <a:noFill/>
        </p:spPr>
        <p:txBody>
          <a:bodyPr wrap="square">
            <a:spAutoFit/>
          </a:bodyPr>
          <a:lstStyle/>
          <a:p>
            <a:r>
              <a:rPr lang="en-US">
                <a:solidFill>
                  <a:schemeClr val="bg2">
                    <a:lumMod val="25000"/>
                  </a:schemeClr>
                </a:solidFill>
                <a:latin typeface="+mj-lt"/>
                <a:ea typeface="+mj-ea"/>
                <a:cs typeface="+mj-cs"/>
              </a:rPr>
              <a:t>Em xin chân thành cảm ơn thầy cô đã lắng nghe và theo dõi bài thuyết trình của em.</a:t>
            </a:r>
            <a:endParaRPr lang="en-US">
              <a:solidFill>
                <a:schemeClr val="bg2">
                  <a:lumMod val="25000"/>
                </a:schemeClr>
              </a:solidFill>
            </a:endParaRPr>
          </a:p>
        </p:txBody>
      </p:sp>
    </p:spTree>
    <p:extLst>
      <p:ext uri="{BB962C8B-B14F-4D97-AF65-F5344CB8AC3E}">
        <p14:creationId xmlns:p14="http://schemas.microsoft.com/office/powerpoint/2010/main" val="29185050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342</TotalTime>
  <Words>1287</Words>
  <Application>Microsoft Office PowerPoint</Application>
  <PresentationFormat>Widescreen</PresentationFormat>
  <Paragraphs>106</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Calibri</vt:lpstr>
      <vt:lpstr>Office Theme</vt:lpstr>
      <vt:lpstr>ĐỒ ÁN THỰC TẬP CƠ SỞ NGÀNH</vt:lpstr>
      <vt:lpstr>ĐỀ TÀI: XÂY DỰNG WEBSITE CUNG CẤP THÔNG TIN KỸ THUẬT NUÔI TRỒNG THỦY SẢN</vt:lpstr>
      <vt:lpstr>NỘI DUNG CHÍNH</vt:lpstr>
      <vt:lpstr>PHẦN 1: TỔNG QUAN VỀ ĐỀ TÀI  </vt:lpstr>
      <vt:lpstr>1. TỔNG QUAN ĐỀ TÀI</vt:lpstr>
      <vt:lpstr>LÝ DO CHỌN ĐỀ TÀI</vt:lpstr>
      <vt:lpstr>GIỚI THIỆU NGÔN NGỮ - FRAMEWORK</vt:lpstr>
      <vt:lpstr>CHỨC NĂNG</vt:lpstr>
      <vt:lpstr>CHỨC NĂNG</vt:lpstr>
      <vt:lpstr>QUY TRÌNH VẬN HÀNH</vt:lpstr>
      <vt:lpstr>PHẦN 02</vt:lpstr>
      <vt:lpstr> MỤC TIÊU ĐỀ TÀI</vt:lpstr>
      <vt:lpstr>PHẦN 03</vt:lpstr>
      <vt:lpstr>SƠ ĐỒ CÁC ACTOR CỦA HỆ THỐNG</vt:lpstr>
      <vt:lpstr>SƠ ĐỒ USE CASE TỔNG QUÁT</vt:lpstr>
      <vt:lpstr>CƠ SỞ DỮ LIỆU</vt:lpstr>
      <vt:lpstr>PHẦN 04 : </vt:lpstr>
      <vt:lpstr>PHẦN 05 : </vt:lpstr>
      <vt:lpstr>HẠN CHẾ</vt:lpstr>
      <vt:lpstr>HƯỚNG PHÁT TRIỂN ĐỀ TÀI</vt:lpstr>
      <vt:lpstr>THANKS YOU FOR WATCHING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 HANG VU</dc:creator>
  <cp:lastModifiedBy>TA HANG VU</cp:lastModifiedBy>
  <cp:revision>71</cp:revision>
  <dcterms:created xsi:type="dcterms:W3CDTF">2026-01-01T04:21:36Z</dcterms:created>
  <dcterms:modified xsi:type="dcterms:W3CDTF">2026-01-03T14:05:04Z</dcterms:modified>
</cp:coreProperties>
</file>