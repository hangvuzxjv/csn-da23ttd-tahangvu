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58" r:id="rId4"/>
    <p:sldId id="259" r:id="rId5"/>
    <p:sldId id="275" r:id="rId6"/>
    <p:sldId id="260" r:id="rId7"/>
    <p:sldId id="261" r:id="rId8"/>
    <p:sldId id="262" r:id="rId9"/>
    <p:sldId id="276" r:id="rId10"/>
    <p:sldId id="263" r:id="rId11"/>
    <p:sldId id="264" r:id="rId12"/>
    <p:sldId id="265" r:id="rId13"/>
    <p:sldId id="277" r:id="rId14"/>
    <p:sldId id="267" r:id="rId15"/>
    <p:sldId id="268" r:id="rId16"/>
    <p:sldId id="269" r:id="rId17"/>
    <p:sldId id="270" r:id="rId18"/>
    <p:sldId id="271" r:id="rId19"/>
    <p:sldId id="272" r:id="rId20"/>
    <p:sldId id="273" r:id="rId21"/>
    <p:sldId id="274"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27058DE-3815-4AAD-8B85-8722AB52F8C4}"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92F01C0E-C9BA-41A0-AF90-DB6B74963CAC}">
      <dgm:prSet custT="1"/>
      <dgm:spPr/>
      <dgm:t>
        <a:bodyPr/>
        <a:lstStyle/>
        <a:p>
          <a:r>
            <a:rPr lang="en-US" sz="2700" b="0"/>
            <a:t>1. TỔNG QUAN ĐỀ TÀI</a:t>
          </a:r>
        </a:p>
      </dgm:t>
    </dgm:pt>
    <dgm:pt modelId="{4C0680D7-EE09-4713-A786-2E677ED66AF7}" type="parTrans" cxnId="{7D4E9B2B-F7D0-40B0-8E6B-B367CF537128}">
      <dgm:prSet/>
      <dgm:spPr/>
      <dgm:t>
        <a:bodyPr/>
        <a:lstStyle/>
        <a:p>
          <a:endParaRPr lang="en-US"/>
        </a:p>
      </dgm:t>
    </dgm:pt>
    <dgm:pt modelId="{7E912E48-B803-44D4-827C-5A5B4D2D1CF8}" type="sibTrans" cxnId="{7D4E9B2B-F7D0-40B0-8E6B-B367CF537128}">
      <dgm:prSet/>
      <dgm:spPr/>
      <dgm:t>
        <a:bodyPr/>
        <a:lstStyle/>
        <a:p>
          <a:endParaRPr lang="en-US"/>
        </a:p>
      </dgm:t>
    </dgm:pt>
    <dgm:pt modelId="{53390E58-A768-4E52-A4E4-7FB75CA96323}">
      <dgm:prSet custT="1"/>
      <dgm:spPr/>
      <dgm:t>
        <a:bodyPr/>
        <a:lstStyle/>
        <a:p>
          <a:r>
            <a:rPr lang="en-US" sz="2700"/>
            <a:t>2. MỤC TIÊU WEBSITE</a:t>
          </a:r>
          <a:endParaRPr lang="en-US" sz="2700" b="1"/>
        </a:p>
      </dgm:t>
    </dgm:pt>
    <dgm:pt modelId="{52E3D096-8CF5-43AD-BA4B-63D0D7180530}" type="parTrans" cxnId="{184CA355-E366-406F-B0C7-E6A699A77E49}">
      <dgm:prSet/>
      <dgm:spPr/>
      <dgm:t>
        <a:bodyPr/>
        <a:lstStyle/>
        <a:p>
          <a:endParaRPr lang="en-US"/>
        </a:p>
      </dgm:t>
    </dgm:pt>
    <dgm:pt modelId="{ECFD0EDC-61E8-4715-8BFB-E14A48C0BFEE}" type="sibTrans" cxnId="{184CA355-E366-406F-B0C7-E6A699A77E49}">
      <dgm:prSet/>
      <dgm:spPr/>
      <dgm:t>
        <a:bodyPr/>
        <a:lstStyle/>
        <a:p>
          <a:endParaRPr lang="en-US"/>
        </a:p>
      </dgm:t>
    </dgm:pt>
    <dgm:pt modelId="{D92E9339-606A-4F15-B145-C997F353F79A}">
      <dgm:prSet custT="1"/>
      <dgm:spPr/>
      <dgm:t>
        <a:bodyPr/>
        <a:lstStyle/>
        <a:p>
          <a:r>
            <a:rPr lang="en-US" sz="2700"/>
            <a:t>3. PHÂN TÍCH HỆ THỐNG</a:t>
          </a:r>
          <a:endParaRPr lang="en-US" sz="2700" b="1"/>
        </a:p>
      </dgm:t>
    </dgm:pt>
    <dgm:pt modelId="{89D6FAAC-CAB6-433C-872A-F3BF9DD34183}" type="parTrans" cxnId="{9FEDA075-B3A9-42B2-B873-5662C31F2404}">
      <dgm:prSet/>
      <dgm:spPr/>
      <dgm:t>
        <a:bodyPr/>
        <a:lstStyle/>
        <a:p>
          <a:endParaRPr lang="en-US"/>
        </a:p>
      </dgm:t>
    </dgm:pt>
    <dgm:pt modelId="{16A5F621-99F4-4254-9EAD-09F400A531BD}" type="sibTrans" cxnId="{9FEDA075-B3A9-42B2-B873-5662C31F2404}">
      <dgm:prSet/>
      <dgm:spPr/>
      <dgm:t>
        <a:bodyPr/>
        <a:lstStyle/>
        <a:p>
          <a:endParaRPr lang="en-US"/>
        </a:p>
      </dgm:t>
    </dgm:pt>
    <dgm:pt modelId="{B7F18DA3-5519-48ED-9A85-3A77BF4474E6}">
      <dgm:prSet custT="1"/>
      <dgm:spPr/>
      <dgm:t>
        <a:bodyPr/>
        <a:lstStyle/>
        <a:p>
          <a:r>
            <a:rPr lang="en-US" sz="2700"/>
            <a:t>4. DEMO SẢN PHẨM</a:t>
          </a:r>
          <a:endParaRPr lang="en-US" sz="2700" b="1"/>
        </a:p>
      </dgm:t>
    </dgm:pt>
    <dgm:pt modelId="{03DACC9E-9E65-4EE7-8967-B9C7D6C30A1B}" type="parTrans" cxnId="{F9D6DB61-7852-413E-8BCC-8BABC3C8F655}">
      <dgm:prSet/>
      <dgm:spPr/>
      <dgm:t>
        <a:bodyPr/>
        <a:lstStyle/>
        <a:p>
          <a:endParaRPr lang="en-US"/>
        </a:p>
      </dgm:t>
    </dgm:pt>
    <dgm:pt modelId="{5E2D7830-259D-4B88-8D42-9D09450329A3}" type="sibTrans" cxnId="{F9D6DB61-7852-413E-8BCC-8BABC3C8F655}">
      <dgm:prSet/>
      <dgm:spPr/>
      <dgm:t>
        <a:bodyPr/>
        <a:lstStyle/>
        <a:p>
          <a:endParaRPr lang="en-US"/>
        </a:p>
      </dgm:t>
    </dgm:pt>
    <dgm:pt modelId="{2A033E3F-0C50-4FD0-9E0B-DF260A6EAD8C}">
      <dgm:prSet custT="1"/>
      <dgm:spPr/>
      <dgm:t>
        <a:bodyPr/>
        <a:lstStyle/>
        <a:p>
          <a:r>
            <a:rPr lang="en-US" sz="2700"/>
            <a:t>5. KẾT LUẬN VÀ HƯỚNG PHÁT TRIỂN</a:t>
          </a:r>
          <a:endParaRPr lang="en-US" sz="2700" b="1"/>
        </a:p>
      </dgm:t>
    </dgm:pt>
    <dgm:pt modelId="{20A2D3C1-A423-4C44-9716-9455D91D3B84}" type="parTrans" cxnId="{A5C916F0-220A-45D2-9AEB-25CE34C5898D}">
      <dgm:prSet/>
      <dgm:spPr/>
      <dgm:t>
        <a:bodyPr/>
        <a:lstStyle/>
        <a:p>
          <a:endParaRPr lang="en-US"/>
        </a:p>
      </dgm:t>
    </dgm:pt>
    <dgm:pt modelId="{92708A6B-D20A-4452-A6CB-6302BF06268D}" type="sibTrans" cxnId="{A5C916F0-220A-45D2-9AEB-25CE34C5898D}">
      <dgm:prSet/>
      <dgm:spPr/>
      <dgm:t>
        <a:bodyPr/>
        <a:lstStyle/>
        <a:p>
          <a:endParaRPr lang="en-US"/>
        </a:p>
      </dgm:t>
    </dgm:pt>
    <dgm:pt modelId="{C3E6E3E8-E7A0-4FE9-94AA-7A1BEDC5874B}" type="pres">
      <dgm:prSet presAssocID="{E27058DE-3815-4AAD-8B85-8722AB52F8C4}" presName="vert0" presStyleCnt="0">
        <dgm:presLayoutVars>
          <dgm:dir/>
          <dgm:animOne val="branch"/>
          <dgm:animLvl val="lvl"/>
        </dgm:presLayoutVars>
      </dgm:prSet>
      <dgm:spPr/>
    </dgm:pt>
    <dgm:pt modelId="{D36767E4-57A9-46B4-AF22-19515DEE55CC}" type="pres">
      <dgm:prSet presAssocID="{92F01C0E-C9BA-41A0-AF90-DB6B74963CAC}" presName="thickLine" presStyleLbl="alignNode1" presStyleIdx="0" presStyleCnt="5"/>
      <dgm:spPr/>
    </dgm:pt>
    <dgm:pt modelId="{A031376E-F264-4BE9-9A52-13B8871392B7}" type="pres">
      <dgm:prSet presAssocID="{92F01C0E-C9BA-41A0-AF90-DB6B74963CAC}" presName="horz1" presStyleCnt="0"/>
      <dgm:spPr/>
    </dgm:pt>
    <dgm:pt modelId="{18C4EDE3-B012-4986-9E8B-1198BB416619}" type="pres">
      <dgm:prSet presAssocID="{92F01C0E-C9BA-41A0-AF90-DB6B74963CAC}" presName="tx1" presStyleLbl="revTx" presStyleIdx="0" presStyleCnt="5"/>
      <dgm:spPr/>
    </dgm:pt>
    <dgm:pt modelId="{1595B7B9-2036-4E6A-A452-1AD93C06211B}" type="pres">
      <dgm:prSet presAssocID="{92F01C0E-C9BA-41A0-AF90-DB6B74963CAC}" presName="vert1" presStyleCnt="0"/>
      <dgm:spPr/>
    </dgm:pt>
    <dgm:pt modelId="{ADBE483E-8AFB-49AD-9F20-2EC23FFE5FEA}" type="pres">
      <dgm:prSet presAssocID="{53390E58-A768-4E52-A4E4-7FB75CA96323}" presName="thickLine" presStyleLbl="alignNode1" presStyleIdx="1" presStyleCnt="5"/>
      <dgm:spPr/>
    </dgm:pt>
    <dgm:pt modelId="{2C0D7022-B94A-4DAE-BBF8-722CE9DC39A8}" type="pres">
      <dgm:prSet presAssocID="{53390E58-A768-4E52-A4E4-7FB75CA96323}" presName="horz1" presStyleCnt="0"/>
      <dgm:spPr/>
    </dgm:pt>
    <dgm:pt modelId="{EB321178-E32D-4CD6-8055-1C620EB9F456}" type="pres">
      <dgm:prSet presAssocID="{53390E58-A768-4E52-A4E4-7FB75CA96323}" presName="tx1" presStyleLbl="revTx" presStyleIdx="1" presStyleCnt="5"/>
      <dgm:spPr/>
    </dgm:pt>
    <dgm:pt modelId="{3FE957F4-5F14-4A21-B71F-8F2A48D4968D}" type="pres">
      <dgm:prSet presAssocID="{53390E58-A768-4E52-A4E4-7FB75CA96323}" presName="vert1" presStyleCnt="0"/>
      <dgm:spPr/>
    </dgm:pt>
    <dgm:pt modelId="{38C05771-0978-467A-B2B9-AFBC0765F85B}" type="pres">
      <dgm:prSet presAssocID="{D92E9339-606A-4F15-B145-C997F353F79A}" presName="thickLine" presStyleLbl="alignNode1" presStyleIdx="2" presStyleCnt="5"/>
      <dgm:spPr/>
    </dgm:pt>
    <dgm:pt modelId="{F583D6A9-CD9A-4436-96B7-9CF9914AAFF1}" type="pres">
      <dgm:prSet presAssocID="{D92E9339-606A-4F15-B145-C997F353F79A}" presName="horz1" presStyleCnt="0"/>
      <dgm:spPr/>
    </dgm:pt>
    <dgm:pt modelId="{193FCE8E-7CF5-4640-8CAC-8FE6A2D27320}" type="pres">
      <dgm:prSet presAssocID="{D92E9339-606A-4F15-B145-C997F353F79A}" presName="tx1" presStyleLbl="revTx" presStyleIdx="2" presStyleCnt="5"/>
      <dgm:spPr/>
    </dgm:pt>
    <dgm:pt modelId="{040B6702-4D9A-4FCE-989C-D0C4E6C11D2F}" type="pres">
      <dgm:prSet presAssocID="{D92E9339-606A-4F15-B145-C997F353F79A}" presName="vert1" presStyleCnt="0"/>
      <dgm:spPr/>
    </dgm:pt>
    <dgm:pt modelId="{FC0BF5F9-953E-4275-98D7-128F4D35BA6F}" type="pres">
      <dgm:prSet presAssocID="{B7F18DA3-5519-48ED-9A85-3A77BF4474E6}" presName="thickLine" presStyleLbl="alignNode1" presStyleIdx="3" presStyleCnt="5"/>
      <dgm:spPr/>
    </dgm:pt>
    <dgm:pt modelId="{CF707AD4-C95D-4B8A-B1AD-BB4B24A7BB96}" type="pres">
      <dgm:prSet presAssocID="{B7F18DA3-5519-48ED-9A85-3A77BF4474E6}" presName="horz1" presStyleCnt="0"/>
      <dgm:spPr/>
    </dgm:pt>
    <dgm:pt modelId="{3455531F-D7B8-4B4A-8AD0-005CBB44538F}" type="pres">
      <dgm:prSet presAssocID="{B7F18DA3-5519-48ED-9A85-3A77BF4474E6}" presName="tx1" presStyleLbl="revTx" presStyleIdx="3" presStyleCnt="5"/>
      <dgm:spPr/>
    </dgm:pt>
    <dgm:pt modelId="{4287E1FD-A7B3-4557-8AA4-24ED86B6ADBF}" type="pres">
      <dgm:prSet presAssocID="{B7F18DA3-5519-48ED-9A85-3A77BF4474E6}" presName="vert1" presStyleCnt="0"/>
      <dgm:spPr/>
    </dgm:pt>
    <dgm:pt modelId="{ED91413D-4351-4AC9-97A1-B7FD70B5A9D3}" type="pres">
      <dgm:prSet presAssocID="{2A033E3F-0C50-4FD0-9E0B-DF260A6EAD8C}" presName="thickLine" presStyleLbl="alignNode1" presStyleIdx="4" presStyleCnt="5"/>
      <dgm:spPr/>
    </dgm:pt>
    <dgm:pt modelId="{1CF098FF-E196-4869-8CD6-5D294D70FC4F}" type="pres">
      <dgm:prSet presAssocID="{2A033E3F-0C50-4FD0-9E0B-DF260A6EAD8C}" presName="horz1" presStyleCnt="0"/>
      <dgm:spPr/>
    </dgm:pt>
    <dgm:pt modelId="{2812F590-0F54-4E95-ACCB-01B33A3D3096}" type="pres">
      <dgm:prSet presAssocID="{2A033E3F-0C50-4FD0-9E0B-DF260A6EAD8C}" presName="tx1" presStyleLbl="revTx" presStyleIdx="4" presStyleCnt="5"/>
      <dgm:spPr/>
    </dgm:pt>
    <dgm:pt modelId="{C59C6E90-39F2-4FE0-8C6F-55E3B8A6ACAD}" type="pres">
      <dgm:prSet presAssocID="{2A033E3F-0C50-4FD0-9E0B-DF260A6EAD8C}" presName="vert1" presStyleCnt="0"/>
      <dgm:spPr/>
    </dgm:pt>
  </dgm:ptLst>
  <dgm:cxnLst>
    <dgm:cxn modelId="{7D4E9B2B-F7D0-40B0-8E6B-B367CF537128}" srcId="{E27058DE-3815-4AAD-8B85-8722AB52F8C4}" destId="{92F01C0E-C9BA-41A0-AF90-DB6B74963CAC}" srcOrd="0" destOrd="0" parTransId="{4C0680D7-EE09-4713-A786-2E677ED66AF7}" sibTransId="{7E912E48-B803-44D4-827C-5A5B4D2D1CF8}"/>
    <dgm:cxn modelId="{E5559A37-BD43-49B0-869E-D71A7B8C0D52}" type="presOf" srcId="{92F01C0E-C9BA-41A0-AF90-DB6B74963CAC}" destId="{18C4EDE3-B012-4986-9E8B-1198BB416619}" srcOrd="0" destOrd="0" presId="urn:microsoft.com/office/officeart/2008/layout/LinedList"/>
    <dgm:cxn modelId="{F9D6DB61-7852-413E-8BCC-8BABC3C8F655}" srcId="{E27058DE-3815-4AAD-8B85-8722AB52F8C4}" destId="{B7F18DA3-5519-48ED-9A85-3A77BF4474E6}" srcOrd="3" destOrd="0" parTransId="{03DACC9E-9E65-4EE7-8967-B9C7D6C30A1B}" sibTransId="{5E2D7830-259D-4B88-8D42-9D09450329A3}"/>
    <dgm:cxn modelId="{DE89FB45-001C-415D-AC83-9BEB4E27F0A1}" type="presOf" srcId="{D92E9339-606A-4F15-B145-C997F353F79A}" destId="{193FCE8E-7CF5-4640-8CAC-8FE6A2D27320}" srcOrd="0" destOrd="0" presId="urn:microsoft.com/office/officeart/2008/layout/LinedList"/>
    <dgm:cxn modelId="{F25B6E6A-E195-4A9C-ACBC-E9ED90AFB7E7}" type="presOf" srcId="{2A033E3F-0C50-4FD0-9E0B-DF260A6EAD8C}" destId="{2812F590-0F54-4E95-ACCB-01B33A3D3096}" srcOrd="0" destOrd="0" presId="urn:microsoft.com/office/officeart/2008/layout/LinedList"/>
    <dgm:cxn modelId="{9FEDA075-B3A9-42B2-B873-5662C31F2404}" srcId="{E27058DE-3815-4AAD-8B85-8722AB52F8C4}" destId="{D92E9339-606A-4F15-B145-C997F353F79A}" srcOrd="2" destOrd="0" parTransId="{89D6FAAC-CAB6-433C-872A-F3BF9DD34183}" sibTransId="{16A5F621-99F4-4254-9EAD-09F400A531BD}"/>
    <dgm:cxn modelId="{184CA355-E366-406F-B0C7-E6A699A77E49}" srcId="{E27058DE-3815-4AAD-8B85-8722AB52F8C4}" destId="{53390E58-A768-4E52-A4E4-7FB75CA96323}" srcOrd="1" destOrd="0" parTransId="{52E3D096-8CF5-43AD-BA4B-63D0D7180530}" sibTransId="{ECFD0EDC-61E8-4715-8BFB-E14A48C0BFEE}"/>
    <dgm:cxn modelId="{A7910EC4-7443-4F90-A6E9-74802C8F51A4}" type="presOf" srcId="{B7F18DA3-5519-48ED-9A85-3A77BF4474E6}" destId="{3455531F-D7B8-4B4A-8AD0-005CBB44538F}" srcOrd="0" destOrd="0" presId="urn:microsoft.com/office/officeart/2008/layout/LinedList"/>
    <dgm:cxn modelId="{0EA466DF-0729-47A3-9A7C-48067561FE19}" type="presOf" srcId="{53390E58-A768-4E52-A4E4-7FB75CA96323}" destId="{EB321178-E32D-4CD6-8055-1C620EB9F456}" srcOrd="0" destOrd="0" presId="urn:microsoft.com/office/officeart/2008/layout/LinedList"/>
    <dgm:cxn modelId="{A5C916F0-220A-45D2-9AEB-25CE34C5898D}" srcId="{E27058DE-3815-4AAD-8B85-8722AB52F8C4}" destId="{2A033E3F-0C50-4FD0-9E0B-DF260A6EAD8C}" srcOrd="4" destOrd="0" parTransId="{20A2D3C1-A423-4C44-9716-9455D91D3B84}" sibTransId="{92708A6B-D20A-4452-A6CB-6302BF06268D}"/>
    <dgm:cxn modelId="{4461F2F6-EDD3-4D08-B6AF-987767371362}" type="presOf" srcId="{E27058DE-3815-4AAD-8B85-8722AB52F8C4}" destId="{C3E6E3E8-E7A0-4FE9-94AA-7A1BEDC5874B}" srcOrd="0" destOrd="0" presId="urn:microsoft.com/office/officeart/2008/layout/LinedList"/>
    <dgm:cxn modelId="{E85ECE49-945A-4E42-8A71-85C645AF8845}" type="presParOf" srcId="{C3E6E3E8-E7A0-4FE9-94AA-7A1BEDC5874B}" destId="{D36767E4-57A9-46B4-AF22-19515DEE55CC}" srcOrd="0" destOrd="0" presId="urn:microsoft.com/office/officeart/2008/layout/LinedList"/>
    <dgm:cxn modelId="{E29A5216-29B0-4439-BB8F-15E1B89702F2}" type="presParOf" srcId="{C3E6E3E8-E7A0-4FE9-94AA-7A1BEDC5874B}" destId="{A031376E-F264-4BE9-9A52-13B8871392B7}" srcOrd="1" destOrd="0" presId="urn:microsoft.com/office/officeart/2008/layout/LinedList"/>
    <dgm:cxn modelId="{2F1712B5-C9A9-4004-8533-EDF352205F10}" type="presParOf" srcId="{A031376E-F264-4BE9-9A52-13B8871392B7}" destId="{18C4EDE3-B012-4986-9E8B-1198BB416619}" srcOrd="0" destOrd="0" presId="urn:microsoft.com/office/officeart/2008/layout/LinedList"/>
    <dgm:cxn modelId="{FD5D93DE-1ADB-4B27-B64D-2DEDABAFB4F1}" type="presParOf" srcId="{A031376E-F264-4BE9-9A52-13B8871392B7}" destId="{1595B7B9-2036-4E6A-A452-1AD93C06211B}" srcOrd="1" destOrd="0" presId="urn:microsoft.com/office/officeart/2008/layout/LinedList"/>
    <dgm:cxn modelId="{C4FD52E5-6EDD-4C2C-8A3D-78C1D48A32DE}" type="presParOf" srcId="{C3E6E3E8-E7A0-4FE9-94AA-7A1BEDC5874B}" destId="{ADBE483E-8AFB-49AD-9F20-2EC23FFE5FEA}" srcOrd="2" destOrd="0" presId="urn:microsoft.com/office/officeart/2008/layout/LinedList"/>
    <dgm:cxn modelId="{59F2792F-55E8-4165-9DAE-EF8498250424}" type="presParOf" srcId="{C3E6E3E8-E7A0-4FE9-94AA-7A1BEDC5874B}" destId="{2C0D7022-B94A-4DAE-BBF8-722CE9DC39A8}" srcOrd="3" destOrd="0" presId="urn:microsoft.com/office/officeart/2008/layout/LinedList"/>
    <dgm:cxn modelId="{3E1B3CBE-E598-4755-B16D-3F52018379A8}" type="presParOf" srcId="{2C0D7022-B94A-4DAE-BBF8-722CE9DC39A8}" destId="{EB321178-E32D-4CD6-8055-1C620EB9F456}" srcOrd="0" destOrd="0" presId="urn:microsoft.com/office/officeart/2008/layout/LinedList"/>
    <dgm:cxn modelId="{F04E9E30-F04B-4690-ACBB-46B438B56725}" type="presParOf" srcId="{2C0D7022-B94A-4DAE-BBF8-722CE9DC39A8}" destId="{3FE957F4-5F14-4A21-B71F-8F2A48D4968D}" srcOrd="1" destOrd="0" presId="urn:microsoft.com/office/officeart/2008/layout/LinedList"/>
    <dgm:cxn modelId="{35A2A594-A195-4D8C-9AF9-A1DCA62EB52D}" type="presParOf" srcId="{C3E6E3E8-E7A0-4FE9-94AA-7A1BEDC5874B}" destId="{38C05771-0978-467A-B2B9-AFBC0765F85B}" srcOrd="4" destOrd="0" presId="urn:microsoft.com/office/officeart/2008/layout/LinedList"/>
    <dgm:cxn modelId="{11F25574-92FB-4169-91C2-8E63E8FA992E}" type="presParOf" srcId="{C3E6E3E8-E7A0-4FE9-94AA-7A1BEDC5874B}" destId="{F583D6A9-CD9A-4436-96B7-9CF9914AAFF1}" srcOrd="5" destOrd="0" presId="urn:microsoft.com/office/officeart/2008/layout/LinedList"/>
    <dgm:cxn modelId="{111D18BC-38BF-45FF-9592-8F2E2FE04DB6}" type="presParOf" srcId="{F583D6A9-CD9A-4436-96B7-9CF9914AAFF1}" destId="{193FCE8E-7CF5-4640-8CAC-8FE6A2D27320}" srcOrd="0" destOrd="0" presId="urn:microsoft.com/office/officeart/2008/layout/LinedList"/>
    <dgm:cxn modelId="{24FE49A4-76B6-490E-80D2-313DFB2800EB}" type="presParOf" srcId="{F583D6A9-CD9A-4436-96B7-9CF9914AAFF1}" destId="{040B6702-4D9A-4FCE-989C-D0C4E6C11D2F}" srcOrd="1" destOrd="0" presId="urn:microsoft.com/office/officeart/2008/layout/LinedList"/>
    <dgm:cxn modelId="{D44A478A-7BBC-49F9-B25F-76877420F2F5}" type="presParOf" srcId="{C3E6E3E8-E7A0-4FE9-94AA-7A1BEDC5874B}" destId="{FC0BF5F9-953E-4275-98D7-128F4D35BA6F}" srcOrd="6" destOrd="0" presId="urn:microsoft.com/office/officeart/2008/layout/LinedList"/>
    <dgm:cxn modelId="{8C64ECB8-F840-482F-9A18-3EF5C280CE2B}" type="presParOf" srcId="{C3E6E3E8-E7A0-4FE9-94AA-7A1BEDC5874B}" destId="{CF707AD4-C95D-4B8A-B1AD-BB4B24A7BB96}" srcOrd="7" destOrd="0" presId="urn:microsoft.com/office/officeart/2008/layout/LinedList"/>
    <dgm:cxn modelId="{99B991B2-526D-4798-854A-33040C81221F}" type="presParOf" srcId="{CF707AD4-C95D-4B8A-B1AD-BB4B24A7BB96}" destId="{3455531F-D7B8-4B4A-8AD0-005CBB44538F}" srcOrd="0" destOrd="0" presId="urn:microsoft.com/office/officeart/2008/layout/LinedList"/>
    <dgm:cxn modelId="{D9380717-6253-4921-BA29-99571C2D91FB}" type="presParOf" srcId="{CF707AD4-C95D-4B8A-B1AD-BB4B24A7BB96}" destId="{4287E1FD-A7B3-4557-8AA4-24ED86B6ADBF}" srcOrd="1" destOrd="0" presId="urn:microsoft.com/office/officeart/2008/layout/LinedList"/>
    <dgm:cxn modelId="{2EEB9493-38BF-4827-B0FA-2F533B315C7F}" type="presParOf" srcId="{C3E6E3E8-E7A0-4FE9-94AA-7A1BEDC5874B}" destId="{ED91413D-4351-4AC9-97A1-B7FD70B5A9D3}" srcOrd="8" destOrd="0" presId="urn:microsoft.com/office/officeart/2008/layout/LinedList"/>
    <dgm:cxn modelId="{7CCB510F-5B1E-469D-BA99-99CA6B293206}" type="presParOf" srcId="{C3E6E3E8-E7A0-4FE9-94AA-7A1BEDC5874B}" destId="{1CF098FF-E196-4869-8CD6-5D294D70FC4F}" srcOrd="9" destOrd="0" presId="urn:microsoft.com/office/officeart/2008/layout/LinedList"/>
    <dgm:cxn modelId="{8D9BD4D7-B162-48F5-BD06-B0AA22463FE9}" type="presParOf" srcId="{1CF098FF-E196-4869-8CD6-5D294D70FC4F}" destId="{2812F590-0F54-4E95-ACCB-01B33A3D3096}" srcOrd="0" destOrd="0" presId="urn:microsoft.com/office/officeart/2008/layout/LinedList"/>
    <dgm:cxn modelId="{EABDA411-57CF-4172-9BBC-BAF36D255E87}" type="presParOf" srcId="{1CF098FF-E196-4869-8CD6-5D294D70FC4F}" destId="{C59C6E90-39F2-4FE0-8C6F-55E3B8A6ACAD}"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F9146EC-D359-42CF-8935-8970D06F1B2B}" type="doc">
      <dgm:prSet loTypeId="urn:microsoft.com/office/officeart/2005/8/layout/process2" loCatId="process" qsTypeId="urn:microsoft.com/office/officeart/2005/8/quickstyle/simple1" qsCatId="simple" csTypeId="urn:microsoft.com/office/officeart/2005/8/colors/colorful5" csCatId="colorful"/>
      <dgm:spPr/>
      <dgm:t>
        <a:bodyPr/>
        <a:lstStyle/>
        <a:p>
          <a:endParaRPr lang="en-US"/>
        </a:p>
      </dgm:t>
    </dgm:pt>
    <dgm:pt modelId="{5A46837D-6E6F-4F08-84EE-1E7EDBAB3BA4}">
      <dgm:prSet/>
      <dgm:spPr/>
      <dgm:t>
        <a:bodyPr/>
        <a:lstStyle/>
        <a:p>
          <a:r>
            <a:rPr lang="en-US"/>
            <a:t>Mặc dù hệ thống đã vận hành ổn định với 121 tệp tin mã nguồn, vẫn còn một số điểm cần cải thiện</a:t>
          </a:r>
        </a:p>
      </dgm:t>
    </dgm:pt>
    <dgm:pt modelId="{4ACD8A1C-E5C5-42BF-A1CB-7A00D23E12BA}" type="parTrans" cxnId="{A7892277-6E3F-41A2-BB0A-E9988CDBFF7F}">
      <dgm:prSet/>
      <dgm:spPr/>
      <dgm:t>
        <a:bodyPr/>
        <a:lstStyle/>
        <a:p>
          <a:endParaRPr lang="en-US"/>
        </a:p>
      </dgm:t>
    </dgm:pt>
    <dgm:pt modelId="{6AFFB869-BB42-42C3-8613-40AF836A6CFE}" type="sibTrans" cxnId="{A7892277-6E3F-41A2-BB0A-E9988CDBFF7F}">
      <dgm:prSet/>
      <dgm:spPr/>
      <dgm:t>
        <a:bodyPr/>
        <a:lstStyle/>
        <a:p>
          <a:endParaRPr lang="en-US"/>
        </a:p>
      </dgm:t>
    </dgm:pt>
    <dgm:pt modelId="{091806F5-1952-4838-B7EC-7733F7C9EEC7}">
      <dgm:prSet/>
      <dgm:spPr/>
      <dgm:t>
        <a:bodyPr/>
        <a:lstStyle/>
        <a:p>
          <a:r>
            <a:rPr lang="vi-VN" b="1"/>
            <a:t>Về Chatbot:</a:t>
          </a:r>
          <a:r>
            <a:rPr lang="vi-VN"/>
            <a:t> Cơ chế phản hồi hiện tại dựa trên kỹ thuật so khớp từ khóa (Keyword Matching), chưa ứng dụng các mô hình ngôn ngữ lớn để hiểu sâu ngữ cảnh phức tạp của người dùng.</a:t>
          </a:r>
          <a:endParaRPr lang="en-US"/>
        </a:p>
      </dgm:t>
    </dgm:pt>
    <dgm:pt modelId="{CFAFFE75-C6D4-48A9-A983-06A82A94EE20}" type="parTrans" cxnId="{71B0AD82-E1ED-4CE9-B399-3A7F636EB99B}">
      <dgm:prSet/>
      <dgm:spPr/>
      <dgm:t>
        <a:bodyPr/>
        <a:lstStyle/>
        <a:p>
          <a:endParaRPr lang="en-US"/>
        </a:p>
      </dgm:t>
    </dgm:pt>
    <dgm:pt modelId="{5FB8D58C-1D54-4DC8-9948-4D9CA290F22F}" type="sibTrans" cxnId="{71B0AD82-E1ED-4CE9-B399-3A7F636EB99B}">
      <dgm:prSet/>
      <dgm:spPr/>
      <dgm:t>
        <a:bodyPr/>
        <a:lstStyle/>
        <a:p>
          <a:endParaRPr lang="en-US"/>
        </a:p>
      </dgm:t>
    </dgm:pt>
    <dgm:pt modelId="{74E838C8-BB75-4367-BA27-5AE3BA163B73}">
      <dgm:prSet/>
      <dgm:spPr/>
      <dgm:t>
        <a:bodyPr/>
        <a:lstStyle/>
        <a:p>
          <a:r>
            <a:rPr lang="vi-VN" b="1"/>
            <a:t>Về Dữ liệu giá:</a:t>
          </a:r>
          <a:r>
            <a:rPr lang="vi-VN"/>
            <a:t> Thông tin trong bảng price_tracking vẫn cần sự cập nhật thủ công từ phía Quản trị viên, chưa có cơ chế tự động thu thập dữ liệu (Crawl) từ các sàn giao dịch quốc tế.</a:t>
          </a:r>
          <a:endParaRPr lang="en-US"/>
        </a:p>
      </dgm:t>
    </dgm:pt>
    <dgm:pt modelId="{BDAB7C98-530C-46EA-8647-EA49356C65BC}" type="parTrans" cxnId="{4BE78DE1-B7A0-4135-8A5C-A868D2BC073B}">
      <dgm:prSet/>
      <dgm:spPr/>
      <dgm:t>
        <a:bodyPr/>
        <a:lstStyle/>
        <a:p>
          <a:endParaRPr lang="en-US"/>
        </a:p>
      </dgm:t>
    </dgm:pt>
    <dgm:pt modelId="{B6AD896C-F4F2-4203-A1A0-8D15236C26F8}" type="sibTrans" cxnId="{4BE78DE1-B7A0-4135-8A5C-A868D2BC073B}">
      <dgm:prSet/>
      <dgm:spPr/>
      <dgm:t>
        <a:bodyPr/>
        <a:lstStyle/>
        <a:p>
          <a:endParaRPr lang="en-US"/>
        </a:p>
      </dgm:t>
    </dgm:pt>
    <dgm:pt modelId="{87325414-6B53-411F-820E-BF6EDB17C197}">
      <dgm:prSet/>
      <dgm:spPr/>
      <dgm:t>
        <a:bodyPr/>
        <a:lstStyle/>
        <a:p>
          <a:r>
            <a:rPr lang="vi-VN" b="1"/>
            <a:t>Về Hạ tầng:</a:t>
          </a:r>
          <a:r>
            <a:rPr lang="vi-VN"/>
            <a:t> Hệ thống hiện đang triển khai thực nghiệm trên môi trường Localhost (XAMPP), cần được triển khai lên Hosting thực tế để đánh giá hiệu năng dưới tải lượng người dùng lớn.</a:t>
          </a:r>
          <a:endParaRPr lang="en-US"/>
        </a:p>
      </dgm:t>
    </dgm:pt>
    <dgm:pt modelId="{B08AC7E4-36FE-4F1C-8986-CA8B342674E2}" type="parTrans" cxnId="{D2000A9F-AD2F-40CA-AF7D-390F2203FBEA}">
      <dgm:prSet/>
      <dgm:spPr/>
      <dgm:t>
        <a:bodyPr/>
        <a:lstStyle/>
        <a:p>
          <a:endParaRPr lang="en-US"/>
        </a:p>
      </dgm:t>
    </dgm:pt>
    <dgm:pt modelId="{B2B92E76-CE53-49B7-A30D-65F00781F27B}" type="sibTrans" cxnId="{D2000A9F-AD2F-40CA-AF7D-390F2203FBEA}">
      <dgm:prSet/>
      <dgm:spPr/>
      <dgm:t>
        <a:bodyPr/>
        <a:lstStyle/>
        <a:p>
          <a:endParaRPr lang="en-US"/>
        </a:p>
      </dgm:t>
    </dgm:pt>
    <dgm:pt modelId="{06DC3D94-7ADE-4825-BF9D-D628F2FF2866}" type="pres">
      <dgm:prSet presAssocID="{DF9146EC-D359-42CF-8935-8970D06F1B2B}" presName="linearFlow" presStyleCnt="0">
        <dgm:presLayoutVars>
          <dgm:resizeHandles val="exact"/>
        </dgm:presLayoutVars>
      </dgm:prSet>
      <dgm:spPr/>
    </dgm:pt>
    <dgm:pt modelId="{DD8535BA-0F82-4EA9-96C6-17B43DC6D997}" type="pres">
      <dgm:prSet presAssocID="{5A46837D-6E6F-4F08-84EE-1E7EDBAB3BA4}" presName="node" presStyleLbl="node1" presStyleIdx="0" presStyleCnt="4">
        <dgm:presLayoutVars>
          <dgm:bulletEnabled val="1"/>
        </dgm:presLayoutVars>
      </dgm:prSet>
      <dgm:spPr/>
    </dgm:pt>
    <dgm:pt modelId="{F6D6058B-9509-4C75-BC2E-799373D2A94B}" type="pres">
      <dgm:prSet presAssocID="{6AFFB869-BB42-42C3-8613-40AF836A6CFE}" presName="sibTrans" presStyleLbl="sibTrans2D1" presStyleIdx="0" presStyleCnt="3"/>
      <dgm:spPr/>
    </dgm:pt>
    <dgm:pt modelId="{9A0EF7D3-D759-407A-9967-41A7AA821523}" type="pres">
      <dgm:prSet presAssocID="{6AFFB869-BB42-42C3-8613-40AF836A6CFE}" presName="connectorText" presStyleLbl="sibTrans2D1" presStyleIdx="0" presStyleCnt="3"/>
      <dgm:spPr/>
    </dgm:pt>
    <dgm:pt modelId="{56782BD1-5E40-4E86-BF40-2AD06C414EBE}" type="pres">
      <dgm:prSet presAssocID="{091806F5-1952-4838-B7EC-7733F7C9EEC7}" presName="node" presStyleLbl="node1" presStyleIdx="1" presStyleCnt="4">
        <dgm:presLayoutVars>
          <dgm:bulletEnabled val="1"/>
        </dgm:presLayoutVars>
      </dgm:prSet>
      <dgm:spPr/>
    </dgm:pt>
    <dgm:pt modelId="{FDDCB54C-BBCB-47D7-8496-A22E1A491C33}" type="pres">
      <dgm:prSet presAssocID="{5FB8D58C-1D54-4DC8-9948-4D9CA290F22F}" presName="sibTrans" presStyleLbl="sibTrans2D1" presStyleIdx="1" presStyleCnt="3"/>
      <dgm:spPr/>
    </dgm:pt>
    <dgm:pt modelId="{BC54C490-1856-4DA4-894A-93234705330D}" type="pres">
      <dgm:prSet presAssocID="{5FB8D58C-1D54-4DC8-9948-4D9CA290F22F}" presName="connectorText" presStyleLbl="sibTrans2D1" presStyleIdx="1" presStyleCnt="3"/>
      <dgm:spPr/>
    </dgm:pt>
    <dgm:pt modelId="{3FF081B7-4719-401B-B4C5-200FE1FDCA3B}" type="pres">
      <dgm:prSet presAssocID="{74E838C8-BB75-4367-BA27-5AE3BA163B73}" presName="node" presStyleLbl="node1" presStyleIdx="2" presStyleCnt="4">
        <dgm:presLayoutVars>
          <dgm:bulletEnabled val="1"/>
        </dgm:presLayoutVars>
      </dgm:prSet>
      <dgm:spPr/>
    </dgm:pt>
    <dgm:pt modelId="{3AA9A7B8-CA82-4CD8-8266-B9627E64CCA2}" type="pres">
      <dgm:prSet presAssocID="{B6AD896C-F4F2-4203-A1A0-8D15236C26F8}" presName="sibTrans" presStyleLbl="sibTrans2D1" presStyleIdx="2" presStyleCnt="3"/>
      <dgm:spPr/>
    </dgm:pt>
    <dgm:pt modelId="{C4D0C6C2-0678-44AE-8B00-8065100B0CA9}" type="pres">
      <dgm:prSet presAssocID="{B6AD896C-F4F2-4203-A1A0-8D15236C26F8}" presName="connectorText" presStyleLbl="sibTrans2D1" presStyleIdx="2" presStyleCnt="3"/>
      <dgm:spPr/>
    </dgm:pt>
    <dgm:pt modelId="{21ED6A9E-51DD-46E0-A6C8-F1F77DC0AAF2}" type="pres">
      <dgm:prSet presAssocID="{87325414-6B53-411F-820E-BF6EDB17C197}" presName="node" presStyleLbl="node1" presStyleIdx="3" presStyleCnt="4">
        <dgm:presLayoutVars>
          <dgm:bulletEnabled val="1"/>
        </dgm:presLayoutVars>
      </dgm:prSet>
      <dgm:spPr/>
    </dgm:pt>
  </dgm:ptLst>
  <dgm:cxnLst>
    <dgm:cxn modelId="{B2FB6F26-F75B-4D16-8319-7CABF1CECAE3}" type="presOf" srcId="{B6AD896C-F4F2-4203-A1A0-8D15236C26F8}" destId="{C4D0C6C2-0678-44AE-8B00-8065100B0CA9}" srcOrd="1" destOrd="0" presId="urn:microsoft.com/office/officeart/2005/8/layout/process2"/>
    <dgm:cxn modelId="{8716FD32-F144-48F4-BA82-2E0B730287AD}" type="presOf" srcId="{6AFFB869-BB42-42C3-8613-40AF836A6CFE}" destId="{F6D6058B-9509-4C75-BC2E-799373D2A94B}" srcOrd="0" destOrd="0" presId="urn:microsoft.com/office/officeart/2005/8/layout/process2"/>
    <dgm:cxn modelId="{8A5C626A-3CE1-41E1-B935-B66698D1F4C7}" type="presOf" srcId="{5FB8D58C-1D54-4DC8-9948-4D9CA290F22F}" destId="{BC54C490-1856-4DA4-894A-93234705330D}" srcOrd="1" destOrd="0" presId="urn:microsoft.com/office/officeart/2005/8/layout/process2"/>
    <dgm:cxn modelId="{A7892277-6E3F-41A2-BB0A-E9988CDBFF7F}" srcId="{DF9146EC-D359-42CF-8935-8970D06F1B2B}" destId="{5A46837D-6E6F-4F08-84EE-1E7EDBAB3BA4}" srcOrd="0" destOrd="0" parTransId="{4ACD8A1C-E5C5-42BF-A1CB-7A00D23E12BA}" sibTransId="{6AFFB869-BB42-42C3-8613-40AF836A6CFE}"/>
    <dgm:cxn modelId="{255E2A79-3B26-4511-BC8F-888795D1B022}" type="presOf" srcId="{5FB8D58C-1D54-4DC8-9948-4D9CA290F22F}" destId="{FDDCB54C-BBCB-47D7-8496-A22E1A491C33}" srcOrd="0" destOrd="0" presId="urn:microsoft.com/office/officeart/2005/8/layout/process2"/>
    <dgm:cxn modelId="{8588C059-1B8D-4E0E-A0A9-349199BFE233}" type="presOf" srcId="{6AFFB869-BB42-42C3-8613-40AF836A6CFE}" destId="{9A0EF7D3-D759-407A-9967-41A7AA821523}" srcOrd="1" destOrd="0" presId="urn:microsoft.com/office/officeart/2005/8/layout/process2"/>
    <dgm:cxn modelId="{DB02F87B-7EE2-4325-992D-F485B48E8A77}" type="presOf" srcId="{87325414-6B53-411F-820E-BF6EDB17C197}" destId="{21ED6A9E-51DD-46E0-A6C8-F1F77DC0AAF2}" srcOrd="0" destOrd="0" presId="urn:microsoft.com/office/officeart/2005/8/layout/process2"/>
    <dgm:cxn modelId="{71B0AD82-E1ED-4CE9-B399-3A7F636EB99B}" srcId="{DF9146EC-D359-42CF-8935-8970D06F1B2B}" destId="{091806F5-1952-4838-B7EC-7733F7C9EEC7}" srcOrd="1" destOrd="0" parTransId="{CFAFFE75-C6D4-48A9-A983-06A82A94EE20}" sibTransId="{5FB8D58C-1D54-4DC8-9948-4D9CA290F22F}"/>
    <dgm:cxn modelId="{D9886494-3DB8-41AC-8152-AC83B648D850}" type="presOf" srcId="{DF9146EC-D359-42CF-8935-8970D06F1B2B}" destId="{06DC3D94-7ADE-4825-BF9D-D628F2FF2866}" srcOrd="0" destOrd="0" presId="urn:microsoft.com/office/officeart/2005/8/layout/process2"/>
    <dgm:cxn modelId="{DACD2699-F1D4-4FB8-B7E8-81337643023D}" type="presOf" srcId="{5A46837D-6E6F-4F08-84EE-1E7EDBAB3BA4}" destId="{DD8535BA-0F82-4EA9-96C6-17B43DC6D997}" srcOrd="0" destOrd="0" presId="urn:microsoft.com/office/officeart/2005/8/layout/process2"/>
    <dgm:cxn modelId="{C678F39C-C931-4D9F-9198-AF7F1359B561}" type="presOf" srcId="{091806F5-1952-4838-B7EC-7733F7C9EEC7}" destId="{56782BD1-5E40-4E86-BF40-2AD06C414EBE}" srcOrd="0" destOrd="0" presId="urn:microsoft.com/office/officeart/2005/8/layout/process2"/>
    <dgm:cxn modelId="{D2000A9F-AD2F-40CA-AF7D-390F2203FBEA}" srcId="{DF9146EC-D359-42CF-8935-8970D06F1B2B}" destId="{87325414-6B53-411F-820E-BF6EDB17C197}" srcOrd="3" destOrd="0" parTransId="{B08AC7E4-36FE-4F1C-8986-CA8B342674E2}" sibTransId="{B2B92E76-CE53-49B7-A30D-65F00781F27B}"/>
    <dgm:cxn modelId="{72639EA4-D330-49CB-8DF9-769A47E95EDC}" type="presOf" srcId="{74E838C8-BB75-4367-BA27-5AE3BA163B73}" destId="{3FF081B7-4719-401B-B4C5-200FE1FDCA3B}" srcOrd="0" destOrd="0" presId="urn:microsoft.com/office/officeart/2005/8/layout/process2"/>
    <dgm:cxn modelId="{C367D6C1-5C4C-47DC-8C24-929CEB2FDA1B}" type="presOf" srcId="{B6AD896C-F4F2-4203-A1A0-8D15236C26F8}" destId="{3AA9A7B8-CA82-4CD8-8266-B9627E64CCA2}" srcOrd="0" destOrd="0" presId="urn:microsoft.com/office/officeart/2005/8/layout/process2"/>
    <dgm:cxn modelId="{4BE78DE1-B7A0-4135-8A5C-A868D2BC073B}" srcId="{DF9146EC-D359-42CF-8935-8970D06F1B2B}" destId="{74E838C8-BB75-4367-BA27-5AE3BA163B73}" srcOrd="2" destOrd="0" parTransId="{BDAB7C98-530C-46EA-8647-EA49356C65BC}" sibTransId="{B6AD896C-F4F2-4203-A1A0-8D15236C26F8}"/>
    <dgm:cxn modelId="{F40E319B-0F86-4AAE-A222-7C754A9FECC8}" type="presParOf" srcId="{06DC3D94-7ADE-4825-BF9D-D628F2FF2866}" destId="{DD8535BA-0F82-4EA9-96C6-17B43DC6D997}" srcOrd="0" destOrd="0" presId="urn:microsoft.com/office/officeart/2005/8/layout/process2"/>
    <dgm:cxn modelId="{DE26DE83-B12A-4932-B6D1-DCB3EEDE0C2C}" type="presParOf" srcId="{06DC3D94-7ADE-4825-BF9D-D628F2FF2866}" destId="{F6D6058B-9509-4C75-BC2E-799373D2A94B}" srcOrd="1" destOrd="0" presId="urn:microsoft.com/office/officeart/2005/8/layout/process2"/>
    <dgm:cxn modelId="{475C5BE9-A3C1-40A9-A416-57A60AE9A92D}" type="presParOf" srcId="{F6D6058B-9509-4C75-BC2E-799373D2A94B}" destId="{9A0EF7D3-D759-407A-9967-41A7AA821523}" srcOrd="0" destOrd="0" presId="urn:microsoft.com/office/officeart/2005/8/layout/process2"/>
    <dgm:cxn modelId="{21418521-296F-4ABE-939D-ECA1E25D1BC2}" type="presParOf" srcId="{06DC3D94-7ADE-4825-BF9D-D628F2FF2866}" destId="{56782BD1-5E40-4E86-BF40-2AD06C414EBE}" srcOrd="2" destOrd="0" presId="urn:microsoft.com/office/officeart/2005/8/layout/process2"/>
    <dgm:cxn modelId="{89C27925-8750-4D92-90D0-6EFD6344FC97}" type="presParOf" srcId="{06DC3D94-7ADE-4825-BF9D-D628F2FF2866}" destId="{FDDCB54C-BBCB-47D7-8496-A22E1A491C33}" srcOrd="3" destOrd="0" presId="urn:microsoft.com/office/officeart/2005/8/layout/process2"/>
    <dgm:cxn modelId="{B260883D-0224-4BD6-9DC4-9449BA311996}" type="presParOf" srcId="{FDDCB54C-BBCB-47D7-8496-A22E1A491C33}" destId="{BC54C490-1856-4DA4-894A-93234705330D}" srcOrd="0" destOrd="0" presId="urn:microsoft.com/office/officeart/2005/8/layout/process2"/>
    <dgm:cxn modelId="{A7A3B9E6-66E1-4B62-9C8A-49F4815BA446}" type="presParOf" srcId="{06DC3D94-7ADE-4825-BF9D-D628F2FF2866}" destId="{3FF081B7-4719-401B-B4C5-200FE1FDCA3B}" srcOrd="4" destOrd="0" presId="urn:microsoft.com/office/officeart/2005/8/layout/process2"/>
    <dgm:cxn modelId="{F325B617-06AC-49ED-A784-EB11C0A3038E}" type="presParOf" srcId="{06DC3D94-7ADE-4825-BF9D-D628F2FF2866}" destId="{3AA9A7B8-CA82-4CD8-8266-B9627E64CCA2}" srcOrd="5" destOrd="0" presId="urn:microsoft.com/office/officeart/2005/8/layout/process2"/>
    <dgm:cxn modelId="{93875B24-D4C2-4DC8-AC10-D110C2BDD27B}" type="presParOf" srcId="{3AA9A7B8-CA82-4CD8-8266-B9627E64CCA2}" destId="{C4D0C6C2-0678-44AE-8B00-8065100B0CA9}" srcOrd="0" destOrd="0" presId="urn:microsoft.com/office/officeart/2005/8/layout/process2"/>
    <dgm:cxn modelId="{8D51AD95-8F7B-4E32-BB95-34D5CF031504}" type="presParOf" srcId="{06DC3D94-7ADE-4825-BF9D-D628F2FF2866}" destId="{21ED6A9E-51DD-46E0-A6C8-F1F77DC0AAF2}" srcOrd="6" destOrd="0" presId="urn:microsoft.com/office/officeart/2005/8/layout/process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15B31CB-95DC-4F48-BFC6-711E05809089}"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42DDE5BD-1CF4-40FD-AD57-F05578DC6DC0}">
      <dgm:prSet/>
      <dgm:spPr/>
      <dgm:t>
        <a:bodyPr/>
        <a:lstStyle/>
        <a:p>
          <a:r>
            <a:rPr lang="vi-VN"/>
            <a:t>Để website thực sự trở thành một "Hệ sinh thái số" toàn diện, đề tài định hướng phát triển các module sau:</a:t>
          </a:r>
          <a:endParaRPr lang="en-US"/>
        </a:p>
      </dgm:t>
    </dgm:pt>
    <dgm:pt modelId="{BBE68DE9-1716-4ED8-97E5-CAC232B90362}" type="parTrans" cxnId="{44902767-A63C-465B-AE76-C63074FD89F3}">
      <dgm:prSet/>
      <dgm:spPr/>
      <dgm:t>
        <a:bodyPr/>
        <a:lstStyle/>
        <a:p>
          <a:endParaRPr lang="en-US"/>
        </a:p>
      </dgm:t>
    </dgm:pt>
    <dgm:pt modelId="{900503D8-67D2-41E1-BDBB-27A68A17EAAB}" type="sibTrans" cxnId="{44902767-A63C-465B-AE76-C63074FD89F3}">
      <dgm:prSet/>
      <dgm:spPr/>
      <dgm:t>
        <a:bodyPr/>
        <a:lstStyle/>
        <a:p>
          <a:endParaRPr lang="en-US"/>
        </a:p>
      </dgm:t>
    </dgm:pt>
    <dgm:pt modelId="{F281AA07-4869-451F-A163-013640CE97F4}">
      <dgm:prSet/>
      <dgm:spPr/>
      <dgm:t>
        <a:bodyPr/>
        <a:lstStyle/>
        <a:p>
          <a:r>
            <a:rPr lang="vi-VN" b="1"/>
            <a:t>Tích hợp hệ thống giám sát IoT (Internet of Things):</a:t>
          </a:r>
          <a:r>
            <a:rPr lang="vi-VN"/>
            <a:t> Kết nối website với các cảm biến tại ao nuôi để thu thập và hiển thị dữ liệu về độ pH, Oxy hòa tan, nhiệt độ nước theo thời gian thực .</a:t>
          </a:r>
          <a:endParaRPr lang="en-US"/>
        </a:p>
      </dgm:t>
    </dgm:pt>
    <dgm:pt modelId="{1D0D1BE1-E20A-4737-B318-A34DFE8FE224}" type="parTrans" cxnId="{7BC9F51C-412A-42CA-B8EE-500327433D42}">
      <dgm:prSet/>
      <dgm:spPr/>
      <dgm:t>
        <a:bodyPr/>
        <a:lstStyle/>
        <a:p>
          <a:endParaRPr lang="en-US"/>
        </a:p>
      </dgm:t>
    </dgm:pt>
    <dgm:pt modelId="{2BDB79DE-DAA0-4F9F-877D-CB442CAB398F}" type="sibTrans" cxnId="{7BC9F51C-412A-42CA-B8EE-500327433D42}">
      <dgm:prSet/>
      <dgm:spPr/>
      <dgm:t>
        <a:bodyPr/>
        <a:lstStyle/>
        <a:p>
          <a:endParaRPr lang="en-US"/>
        </a:p>
      </dgm:t>
    </dgm:pt>
    <dgm:pt modelId="{FC0DA460-6149-4578-A398-FAF4744D9234}">
      <dgm:prSet/>
      <dgm:spPr/>
      <dgm:t>
        <a:bodyPr/>
        <a:lstStyle/>
        <a:p>
          <a:r>
            <a:rPr lang="vi-VN" b="1"/>
            <a:t>Nâng cấp Trí tuệ nhân tạo (AI Deep Learning):</a:t>
          </a:r>
          <a:r>
            <a:rPr lang="vi-VN"/>
            <a:t> Tích hợp công nghệ nhận diện hình ảnh, cho phép nông dân chụp ảnh dấu hiệu trên tôm/cá để hệ thống tự động chẩn đoán bệnh chính xác hơn.</a:t>
          </a:r>
          <a:endParaRPr lang="en-US"/>
        </a:p>
      </dgm:t>
    </dgm:pt>
    <dgm:pt modelId="{5185742E-2B3F-4AB2-ABC8-7156BB261207}" type="parTrans" cxnId="{85076AEC-82A9-4AFD-95F6-D84692B98414}">
      <dgm:prSet/>
      <dgm:spPr/>
      <dgm:t>
        <a:bodyPr/>
        <a:lstStyle/>
        <a:p>
          <a:endParaRPr lang="en-US"/>
        </a:p>
      </dgm:t>
    </dgm:pt>
    <dgm:pt modelId="{817BB211-EF84-42C5-9B5F-83EE37BE2FC0}" type="sibTrans" cxnId="{85076AEC-82A9-4AFD-95F6-D84692B98414}">
      <dgm:prSet/>
      <dgm:spPr/>
      <dgm:t>
        <a:bodyPr/>
        <a:lstStyle/>
        <a:p>
          <a:endParaRPr lang="en-US"/>
        </a:p>
      </dgm:t>
    </dgm:pt>
    <dgm:pt modelId="{F0422F89-54C9-4576-B6C7-A8CE58CF672F}">
      <dgm:prSet/>
      <dgm:spPr/>
      <dgm:t>
        <a:bodyPr/>
        <a:lstStyle/>
        <a:p>
          <a:r>
            <a:rPr lang="en-US" b="1"/>
            <a:t>Phát triển Mobile App bản địa:</a:t>
          </a:r>
          <a:r>
            <a:rPr lang="en-US"/>
            <a:t> Chuyển đổi hệ thống sang nền tảng Android/iOS để hỗ trợ tính năng thông báo đẩy (Push Notification) về cảnh báo dịch bệnh khẩn cấp.</a:t>
          </a:r>
        </a:p>
      </dgm:t>
    </dgm:pt>
    <dgm:pt modelId="{84DE9C62-73B1-4D9A-8B76-7A1A06504074}" type="parTrans" cxnId="{C94224E3-6CE2-4C09-8641-638FA0541930}">
      <dgm:prSet/>
      <dgm:spPr/>
      <dgm:t>
        <a:bodyPr/>
        <a:lstStyle/>
        <a:p>
          <a:endParaRPr lang="en-US"/>
        </a:p>
      </dgm:t>
    </dgm:pt>
    <dgm:pt modelId="{FF2E8B8A-9FF5-4299-AA34-B6181F59565D}" type="sibTrans" cxnId="{C94224E3-6CE2-4C09-8641-638FA0541930}">
      <dgm:prSet/>
      <dgm:spPr/>
      <dgm:t>
        <a:bodyPr/>
        <a:lstStyle/>
        <a:p>
          <a:endParaRPr lang="en-US"/>
        </a:p>
      </dgm:t>
    </dgm:pt>
    <dgm:pt modelId="{1887DA42-4786-411C-8DD6-C4B4BF9C83A5}">
      <dgm:prSet/>
      <dgm:spPr/>
      <dgm:t>
        <a:bodyPr/>
        <a:lstStyle/>
        <a:p>
          <a:r>
            <a:rPr lang="vi-VN" b="1"/>
            <a:t>Mở rộng Sàn giao dịch thương mại điện tử:</a:t>
          </a:r>
          <a:r>
            <a:rPr lang="vi-VN"/>
            <a:t> Xây dựng tính năng kết nối trực tiếp giữa người nuôi và các doanh nghiệp thu mua, giúp giảm thiểu khâu trung gian và tối ưu giá trị nông sản.</a:t>
          </a:r>
          <a:endParaRPr lang="en-US"/>
        </a:p>
      </dgm:t>
    </dgm:pt>
    <dgm:pt modelId="{82CB2CFC-5226-474C-B0FB-5D3EFB9A7AE5}" type="parTrans" cxnId="{220189D4-9BB2-4D97-8B75-8E929FB28095}">
      <dgm:prSet/>
      <dgm:spPr/>
      <dgm:t>
        <a:bodyPr/>
        <a:lstStyle/>
        <a:p>
          <a:endParaRPr lang="en-US"/>
        </a:p>
      </dgm:t>
    </dgm:pt>
    <dgm:pt modelId="{10ADACA4-4CF4-44AA-981E-FEFAEE866B08}" type="sibTrans" cxnId="{220189D4-9BB2-4D97-8B75-8E929FB28095}">
      <dgm:prSet/>
      <dgm:spPr/>
      <dgm:t>
        <a:bodyPr/>
        <a:lstStyle/>
        <a:p>
          <a:endParaRPr lang="en-US"/>
        </a:p>
      </dgm:t>
    </dgm:pt>
    <dgm:pt modelId="{ED36760C-E7F3-476A-8CBA-CA5E894B77EC}" type="pres">
      <dgm:prSet presAssocID="{415B31CB-95DC-4F48-BFC6-711E05809089}" presName="linear" presStyleCnt="0">
        <dgm:presLayoutVars>
          <dgm:animLvl val="lvl"/>
          <dgm:resizeHandles val="exact"/>
        </dgm:presLayoutVars>
      </dgm:prSet>
      <dgm:spPr/>
    </dgm:pt>
    <dgm:pt modelId="{9D58869B-C27A-46CD-9093-A7D7DB450468}" type="pres">
      <dgm:prSet presAssocID="{42DDE5BD-1CF4-40FD-AD57-F05578DC6DC0}" presName="parentText" presStyleLbl="node1" presStyleIdx="0" presStyleCnt="5">
        <dgm:presLayoutVars>
          <dgm:chMax val="0"/>
          <dgm:bulletEnabled val="1"/>
        </dgm:presLayoutVars>
      </dgm:prSet>
      <dgm:spPr/>
    </dgm:pt>
    <dgm:pt modelId="{F800C16C-04A1-4983-8FC5-43E7B29A1AD2}" type="pres">
      <dgm:prSet presAssocID="{900503D8-67D2-41E1-BDBB-27A68A17EAAB}" presName="spacer" presStyleCnt="0"/>
      <dgm:spPr/>
    </dgm:pt>
    <dgm:pt modelId="{BE2097EC-FB09-4107-B55B-948D9CAB2903}" type="pres">
      <dgm:prSet presAssocID="{F281AA07-4869-451F-A163-013640CE97F4}" presName="parentText" presStyleLbl="node1" presStyleIdx="1" presStyleCnt="5">
        <dgm:presLayoutVars>
          <dgm:chMax val="0"/>
          <dgm:bulletEnabled val="1"/>
        </dgm:presLayoutVars>
      </dgm:prSet>
      <dgm:spPr/>
    </dgm:pt>
    <dgm:pt modelId="{E7000ED6-FE98-46B9-ABF7-19D957B0EA05}" type="pres">
      <dgm:prSet presAssocID="{2BDB79DE-DAA0-4F9F-877D-CB442CAB398F}" presName="spacer" presStyleCnt="0"/>
      <dgm:spPr/>
    </dgm:pt>
    <dgm:pt modelId="{36332828-A75B-4703-9C80-E527786569B3}" type="pres">
      <dgm:prSet presAssocID="{FC0DA460-6149-4578-A398-FAF4744D9234}" presName="parentText" presStyleLbl="node1" presStyleIdx="2" presStyleCnt="5">
        <dgm:presLayoutVars>
          <dgm:chMax val="0"/>
          <dgm:bulletEnabled val="1"/>
        </dgm:presLayoutVars>
      </dgm:prSet>
      <dgm:spPr/>
    </dgm:pt>
    <dgm:pt modelId="{372AF34E-4D16-4100-8304-48851DB399E8}" type="pres">
      <dgm:prSet presAssocID="{817BB211-EF84-42C5-9B5F-83EE37BE2FC0}" presName="spacer" presStyleCnt="0"/>
      <dgm:spPr/>
    </dgm:pt>
    <dgm:pt modelId="{55F384CF-8C82-442F-9F92-B024D803375A}" type="pres">
      <dgm:prSet presAssocID="{F0422F89-54C9-4576-B6C7-A8CE58CF672F}" presName="parentText" presStyleLbl="node1" presStyleIdx="3" presStyleCnt="5">
        <dgm:presLayoutVars>
          <dgm:chMax val="0"/>
          <dgm:bulletEnabled val="1"/>
        </dgm:presLayoutVars>
      </dgm:prSet>
      <dgm:spPr/>
    </dgm:pt>
    <dgm:pt modelId="{0AAFC77A-0525-4CAF-9C47-BE7F73E314D5}" type="pres">
      <dgm:prSet presAssocID="{FF2E8B8A-9FF5-4299-AA34-B6181F59565D}" presName="spacer" presStyleCnt="0"/>
      <dgm:spPr/>
    </dgm:pt>
    <dgm:pt modelId="{4CD06187-1996-4526-871F-FEEB7BED5D4B}" type="pres">
      <dgm:prSet presAssocID="{1887DA42-4786-411C-8DD6-C4B4BF9C83A5}" presName="parentText" presStyleLbl="node1" presStyleIdx="4" presStyleCnt="5">
        <dgm:presLayoutVars>
          <dgm:chMax val="0"/>
          <dgm:bulletEnabled val="1"/>
        </dgm:presLayoutVars>
      </dgm:prSet>
      <dgm:spPr/>
    </dgm:pt>
  </dgm:ptLst>
  <dgm:cxnLst>
    <dgm:cxn modelId="{7BC9F51C-412A-42CA-B8EE-500327433D42}" srcId="{415B31CB-95DC-4F48-BFC6-711E05809089}" destId="{F281AA07-4869-451F-A163-013640CE97F4}" srcOrd="1" destOrd="0" parTransId="{1D0D1BE1-E20A-4737-B318-A34DFE8FE224}" sibTransId="{2BDB79DE-DAA0-4F9F-877D-CB442CAB398F}"/>
    <dgm:cxn modelId="{A19DB162-E173-4BB2-86D8-E245D496BA64}" type="presOf" srcId="{415B31CB-95DC-4F48-BFC6-711E05809089}" destId="{ED36760C-E7F3-476A-8CBA-CA5E894B77EC}" srcOrd="0" destOrd="0" presId="urn:microsoft.com/office/officeart/2005/8/layout/vList2"/>
    <dgm:cxn modelId="{44902767-A63C-465B-AE76-C63074FD89F3}" srcId="{415B31CB-95DC-4F48-BFC6-711E05809089}" destId="{42DDE5BD-1CF4-40FD-AD57-F05578DC6DC0}" srcOrd="0" destOrd="0" parTransId="{BBE68DE9-1716-4ED8-97E5-CAC232B90362}" sibTransId="{900503D8-67D2-41E1-BDBB-27A68A17EAAB}"/>
    <dgm:cxn modelId="{2228376D-0B37-4F95-A528-C986739797CB}" type="presOf" srcId="{1887DA42-4786-411C-8DD6-C4B4BF9C83A5}" destId="{4CD06187-1996-4526-871F-FEEB7BED5D4B}" srcOrd="0" destOrd="0" presId="urn:microsoft.com/office/officeart/2005/8/layout/vList2"/>
    <dgm:cxn modelId="{E1512379-CF5D-4099-8E2E-2807267BDC88}" type="presOf" srcId="{42DDE5BD-1CF4-40FD-AD57-F05578DC6DC0}" destId="{9D58869B-C27A-46CD-9093-A7D7DB450468}" srcOrd="0" destOrd="0" presId="urn:microsoft.com/office/officeart/2005/8/layout/vList2"/>
    <dgm:cxn modelId="{9C0A75AA-9EE0-4E3E-8FE8-F942C0146EE7}" type="presOf" srcId="{F281AA07-4869-451F-A163-013640CE97F4}" destId="{BE2097EC-FB09-4107-B55B-948D9CAB2903}" srcOrd="0" destOrd="0" presId="urn:microsoft.com/office/officeart/2005/8/layout/vList2"/>
    <dgm:cxn modelId="{6F4A9BD0-E19E-4F82-B84E-7013C92B82B4}" type="presOf" srcId="{FC0DA460-6149-4578-A398-FAF4744D9234}" destId="{36332828-A75B-4703-9C80-E527786569B3}" srcOrd="0" destOrd="0" presId="urn:microsoft.com/office/officeart/2005/8/layout/vList2"/>
    <dgm:cxn modelId="{DD11F3D0-43A6-49A8-B3BB-A3DECCFBDC37}" type="presOf" srcId="{F0422F89-54C9-4576-B6C7-A8CE58CF672F}" destId="{55F384CF-8C82-442F-9F92-B024D803375A}" srcOrd="0" destOrd="0" presId="urn:microsoft.com/office/officeart/2005/8/layout/vList2"/>
    <dgm:cxn modelId="{220189D4-9BB2-4D97-8B75-8E929FB28095}" srcId="{415B31CB-95DC-4F48-BFC6-711E05809089}" destId="{1887DA42-4786-411C-8DD6-C4B4BF9C83A5}" srcOrd="4" destOrd="0" parTransId="{82CB2CFC-5226-474C-B0FB-5D3EFB9A7AE5}" sibTransId="{10ADACA4-4CF4-44AA-981E-FEFAEE866B08}"/>
    <dgm:cxn modelId="{C94224E3-6CE2-4C09-8641-638FA0541930}" srcId="{415B31CB-95DC-4F48-BFC6-711E05809089}" destId="{F0422F89-54C9-4576-B6C7-A8CE58CF672F}" srcOrd="3" destOrd="0" parTransId="{84DE9C62-73B1-4D9A-8B76-7A1A06504074}" sibTransId="{FF2E8B8A-9FF5-4299-AA34-B6181F59565D}"/>
    <dgm:cxn modelId="{85076AEC-82A9-4AFD-95F6-D84692B98414}" srcId="{415B31CB-95DC-4F48-BFC6-711E05809089}" destId="{FC0DA460-6149-4578-A398-FAF4744D9234}" srcOrd="2" destOrd="0" parTransId="{5185742E-2B3F-4AB2-ABC8-7156BB261207}" sibTransId="{817BB211-EF84-42C5-9B5F-83EE37BE2FC0}"/>
    <dgm:cxn modelId="{4E39537A-58FB-417F-9AA8-BDA92E83777C}" type="presParOf" srcId="{ED36760C-E7F3-476A-8CBA-CA5E894B77EC}" destId="{9D58869B-C27A-46CD-9093-A7D7DB450468}" srcOrd="0" destOrd="0" presId="urn:microsoft.com/office/officeart/2005/8/layout/vList2"/>
    <dgm:cxn modelId="{519D2C88-3970-466F-BC7D-C2F0FA9AE5F3}" type="presParOf" srcId="{ED36760C-E7F3-476A-8CBA-CA5E894B77EC}" destId="{F800C16C-04A1-4983-8FC5-43E7B29A1AD2}" srcOrd="1" destOrd="0" presId="urn:microsoft.com/office/officeart/2005/8/layout/vList2"/>
    <dgm:cxn modelId="{367A45B2-544A-481E-8907-1E05C65AD6AF}" type="presParOf" srcId="{ED36760C-E7F3-476A-8CBA-CA5E894B77EC}" destId="{BE2097EC-FB09-4107-B55B-948D9CAB2903}" srcOrd="2" destOrd="0" presId="urn:microsoft.com/office/officeart/2005/8/layout/vList2"/>
    <dgm:cxn modelId="{09D22326-99E5-4CAB-A627-D21791CA6033}" type="presParOf" srcId="{ED36760C-E7F3-476A-8CBA-CA5E894B77EC}" destId="{E7000ED6-FE98-46B9-ABF7-19D957B0EA05}" srcOrd="3" destOrd="0" presId="urn:microsoft.com/office/officeart/2005/8/layout/vList2"/>
    <dgm:cxn modelId="{AE78C8F5-BA0F-447B-93DD-1C31C965A645}" type="presParOf" srcId="{ED36760C-E7F3-476A-8CBA-CA5E894B77EC}" destId="{36332828-A75B-4703-9C80-E527786569B3}" srcOrd="4" destOrd="0" presId="urn:microsoft.com/office/officeart/2005/8/layout/vList2"/>
    <dgm:cxn modelId="{F7F15BE0-A531-43A2-80B3-E941FAF1B8FD}" type="presParOf" srcId="{ED36760C-E7F3-476A-8CBA-CA5E894B77EC}" destId="{372AF34E-4D16-4100-8304-48851DB399E8}" srcOrd="5" destOrd="0" presId="urn:microsoft.com/office/officeart/2005/8/layout/vList2"/>
    <dgm:cxn modelId="{6F8EE8C8-ED95-46F1-B1C8-06BC74662C68}" type="presParOf" srcId="{ED36760C-E7F3-476A-8CBA-CA5E894B77EC}" destId="{55F384CF-8C82-442F-9F92-B024D803375A}" srcOrd="6" destOrd="0" presId="urn:microsoft.com/office/officeart/2005/8/layout/vList2"/>
    <dgm:cxn modelId="{D62055FF-716B-4688-A716-0B916F1CA31C}" type="presParOf" srcId="{ED36760C-E7F3-476A-8CBA-CA5E894B77EC}" destId="{0AAFC77A-0525-4CAF-9C47-BE7F73E314D5}" srcOrd="7" destOrd="0" presId="urn:microsoft.com/office/officeart/2005/8/layout/vList2"/>
    <dgm:cxn modelId="{5C54B17D-4298-421E-A697-9F110790C4D8}" type="presParOf" srcId="{ED36760C-E7F3-476A-8CBA-CA5E894B77EC}" destId="{4CD06187-1996-4526-871F-FEEB7BED5D4B}"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6767E4-57A9-46B4-AF22-19515DEE55CC}">
      <dsp:nvSpPr>
        <dsp:cNvPr id="0" name=""/>
        <dsp:cNvSpPr/>
      </dsp:nvSpPr>
      <dsp:spPr>
        <a:xfrm>
          <a:off x="0" y="686"/>
          <a:ext cx="5660923"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8C4EDE3-B012-4986-9E8B-1198BB416619}">
      <dsp:nvSpPr>
        <dsp:cNvPr id="0" name=""/>
        <dsp:cNvSpPr/>
      </dsp:nvSpPr>
      <dsp:spPr>
        <a:xfrm>
          <a:off x="0" y="686"/>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b="0" kern="1200"/>
            <a:t>1. TỔNG QUAN ĐỀ TÀI</a:t>
          </a:r>
        </a:p>
      </dsp:txBody>
      <dsp:txXfrm>
        <a:off x="0" y="686"/>
        <a:ext cx="5660923" cy="1123736"/>
      </dsp:txXfrm>
    </dsp:sp>
    <dsp:sp modelId="{ADBE483E-8AFB-49AD-9F20-2EC23FFE5FEA}">
      <dsp:nvSpPr>
        <dsp:cNvPr id="0" name=""/>
        <dsp:cNvSpPr/>
      </dsp:nvSpPr>
      <dsp:spPr>
        <a:xfrm>
          <a:off x="0" y="1124423"/>
          <a:ext cx="5660923"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B321178-E32D-4CD6-8055-1C620EB9F456}">
      <dsp:nvSpPr>
        <dsp:cNvPr id="0" name=""/>
        <dsp:cNvSpPr/>
      </dsp:nvSpPr>
      <dsp:spPr>
        <a:xfrm>
          <a:off x="0" y="1124423"/>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2. MỤC TIÊU WEBSITE</a:t>
          </a:r>
          <a:endParaRPr lang="en-US" sz="2700" b="1" kern="1200"/>
        </a:p>
      </dsp:txBody>
      <dsp:txXfrm>
        <a:off x="0" y="1124423"/>
        <a:ext cx="5660923" cy="1123736"/>
      </dsp:txXfrm>
    </dsp:sp>
    <dsp:sp modelId="{38C05771-0978-467A-B2B9-AFBC0765F85B}">
      <dsp:nvSpPr>
        <dsp:cNvPr id="0" name=""/>
        <dsp:cNvSpPr/>
      </dsp:nvSpPr>
      <dsp:spPr>
        <a:xfrm>
          <a:off x="0" y="2248160"/>
          <a:ext cx="5660923"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93FCE8E-7CF5-4640-8CAC-8FE6A2D27320}">
      <dsp:nvSpPr>
        <dsp:cNvPr id="0" name=""/>
        <dsp:cNvSpPr/>
      </dsp:nvSpPr>
      <dsp:spPr>
        <a:xfrm>
          <a:off x="0" y="2248160"/>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3. PHÂN TÍCH HỆ THỐNG</a:t>
          </a:r>
          <a:endParaRPr lang="en-US" sz="2700" b="1" kern="1200"/>
        </a:p>
      </dsp:txBody>
      <dsp:txXfrm>
        <a:off x="0" y="2248160"/>
        <a:ext cx="5660923" cy="1123736"/>
      </dsp:txXfrm>
    </dsp:sp>
    <dsp:sp modelId="{FC0BF5F9-953E-4275-98D7-128F4D35BA6F}">
      <dsp:nvSpPr>
        <dsp:cNvPr id="0" name=""/>
        <dsp:cNvSpPr/>
      </dsp:nvSpPr>
      <dsp:spPr>
        <a:xfrm>
          <a:off x="0" y="3371896"/>
          <a:ext cx="5660923" cy="0"/>
        </a:xfrm>
        <a:prstGeom prst="lin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455531F-D7B8-4B4A-8AD0-005CBB44538F}">
      <dsp:nvSpPr>
        <dsp:cNvPr id="0" name=""/>
        <dsp:cNvSpPr/>
      </dsp:nvSpPr>
      <dsp:spPr>
        <a:xfrm>
          <a:off x="0" y="3371896"/>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4. DEMO SẢN PHẨM</a:t>
          </a:r>
          <a:endParaRPr lang="en-US" sz="2700" b="1" kern="1200"/>
        </a:p>
      </dsp:txBody>
      <dsp:txXfrm>
        <a:off x="0" y="3371896"/>
        <a:ext cx="5660923" cy="1123736"/>
      </dsp:txXfrm>
    </dsp:sp>
    <dsp:sp modelId="{ED91413D-4351-4AC9-97A1-B7FD70B5A9D3}">
      <dsp:nvSpPr>
        <dsp:cNvPr id="0" name=""/>
        <dsp:cNvSpPr/>
      </dsp:nvSpPr>
      <dsp:spPr>
        <a:xfrm>
          <a:off x="0" y="4495633"/>
          <a:ext cx="5660923"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812F590-0F54-4E95-ACCB-01B33A3D3096}">
      <dsp:nvSpPr>
        <dsp:cNvPr id="0" name=""/>
        <dsp:cNvSpPr/>
      </dsp:nvSpPr>
      <dsp:spPr>
        <a:xfrm>
          <a:off x="0" y="4495633"/>
          <a:ext cx="5660923" cy="11237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02870" tIns="102870" rIns="102870" bIns="102870" numCol="1" spcCol="1270" anchor="t" anchorCtr="0">
          <a:noAutofit/>
        </a:bodyPr>
        <a:lstStyle/>
        <a:p>
          <a:pPr marL="0" lvl="0" indent="0" algn="l" defTabSz="1200150">
            <a:lnSpc>
              <a:spcPct val="90000"/>
            </a:lnSpc>
            <a:spcBef>
              <a:spcPct val="0"/>
            </a:spcBef>
            <a:spcAft>
              <a:spcPct val="35000"/>
            </a:spcAft>
            <a:buNone/>
          </a:pPr>
          <a:r>
            <a:rPr lang="en-US" sz="2700" kern="1200"/>
            <a:t>5. KẾT LUẬN VÀ HƯỚNG PHÁT TRIỂN</a:t>
          </a:r>
          <a:endParaRPr lang="en-US" sz="2700" b="1" kern="1200"/>
        </a:p>
      </dsp:txBody>
      <dsp:txXfrm>
        <a:off x="0" y="4495633"/>
        <a:ext cx="5660923" cy="11237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8535BA-0F82-4EA9-96C6-17B43DC6D997}">
      <dsp:nvSpPr>
        <dsp:cNvPr id="0" name=""/>
        <dsp:cNvSpPr/>
      </dsp:nvSpPr>
      <dsp:spPr>
        <a:xfrm>
          <a:off x="877673" y="2772"/>
          <a:ext cx="4055780" cy="1031395"/>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a:t>Mặc dù hệ thống đã vận hành ổn định với 121 tệp tin mã nguồn, vẫn còn một số điểm cần cải thiện</a:t>
          </a:r>
        </a:p>
      </dsp:txBody>
      <dsp:txXfrm>
        <a:off x="907882" y="32981"/>
        <a:ext cx="3995362" cy="970977"/>
      </dsp:txXfrm>
    </dsp:sp>
    <dsp:sp modelId="{F6D6058B-9509-4C75-BC2E-799373D2A94B}">
      <dsp:nvSpPr>
        <dsp:cNvPr id="0" name=""/>
        <dsp:cNvSpPr/>
      </dsp:nvSpPr>
      <dsp:spPr>
        <a:xfrm rot="5400000">
          <a:off x="2712177" y="1059952"/>
          <a:ext cx="386773" cy="464127"/>
        </a:xfrm>
        <a:prstGeom prst="rightArrow">
          <a:avLst>
            <a:gd name="adj1" fmla="val 60000"/>
            <a:gd name="adj2" fmla="val 5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2766325" y="1098629"/>
        <a:ext cx="278477" cy="270741"/>
      </dsp:txXfrm>
    </dsp:sp>
    <dsp:sp modelId="{56782BD1-5E40-4E86-BF40-2AD06C414EBE}">
      <dsp:nvSpPr>
        <dsp:cNvPr id="0" name=""/>
        <dsp:cNvSpPr/>
      </dsp:nvSpPr>
      <dsp:spPr>
        <a:xfrm>
          <a:off x="877673" y="1549865"/>
          <a:ext cx="4055780" cy="1031395"/>
        </a:xfrm>
        <a:prstGeom prst="roundRect">
          <a:avLst>
            <a:gd name="adj" fmla="val 10000"/>
          </a:avLst>
        </a:prstGeom>
        <a:solidFill>
          <a:schemeClr val="accent5">
            <a:hueOff val="-4050717"/>
            <a:satOff val="-275"/>
            <a:lumOff val="65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vi-VN" sz="1400" b="1" kern="1200"/>
            <a:t>Về Chatbot:</a:t>
          </a:r>
          <a:r>
            <a:rPr lang="vi-VN" sz="1400" kern="1200"/>
            <a:t> Cơ chế phản hồi hiện tại dựa trên kỹ thuật so khớp từ khóa (Keyword Matching), chưa ứng dụng các mô hình ngôn ngữ lớn để hiểu sâu ngữ cảnh phức tạp của người dùng.</a:t>
          </a:r>
          <a:endParaRPr lang="en-US" sz="1400" kern="1200"/>
        </a:p>
      </dsp:txBody>
      <dsp:txXfrm>
        <a:off x="907882" y="1580074"/>
        <a:ext cx="3995362" cy="970977"/>
      </dsp:txXfrm>
    </dsp:sp>
    <dsp:sp modelId="{FDDCB54C-BBCB-47D7-8496-A22E1A491C33}">
      <dsp:nvSpPr>
        <dsp:cNvPr id="0" name=""/>
        <dsp:cNvSpPr/>
      </dsp:nvSpPr>
      <dsp:spPr>
        <a:xfrm rot="5400000">
          <a:off x="2712177" y="2607045"/>
          <a:ext cx="386773" cy="464127"/>
        </a:xfrm>
        <a:prstGeom prst="rightArrow">
          <a:avLst>
            <a:gd name="adj1" fmla="val 60000"/>
            <a:gd name="adj2" fmla="val 50000"/>
          </a:avLst>
        </a:prstGeom>
        <a:solidFill>
          <a:schemeClr val="accent5">
            <a:hueOff val="-6076075"/>
            <a:satOff val="-413"/>
            <a:lumOff val="98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2766325" y="2645722"/>
        <a:ext cx="278477" cy="270741"/>
      </dsp:txXfrm>
    </dsp:sp>
    <dsp:sp modelId="{3FF081B7-4719-401B-B4C5-200FE1FDCA3B}">
      <dsp:nvSpPr>
        <dsp:cNvPr id="0" name=""/>
        <dsp:cNvSpPr/>
      </dsp:nvSpPr>
      <dsp:spPr>
        <a:xfrm>
          <a:off x="877673" y="3096958"/>
          <a:ext cx="4055780" cy="1031395"/>
        </a:xfrm>
        <a:prstGeom prst="roundRect">
          <a:avLst>
            <a:gd name="adj" fmla="val 10000"/>
          </a:avLst>
        </a:prstGeom>
        <a:solidFill>
          <a:schemeClr val="accent5">
            <a:hueOff val="-8101434"/>
            <a:satOff val="-551"/>
            <a:lumOff val="13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vi-VN" sz="1400" b="1" kern="1200"/>
            <a:t>Về Dữ liệu giá:</a:t>
          </a:r>
          <a:r>
            <a:rPr lang="vi-VN" sz="1400" kern="1200"/>
            <a:t> Thông tin trong bảng price_tracking vẫn cần sự cập nhật thủ công từ phía Quản trị viên, chưa có cơ chế tự động thu thập dữ liệu (Crawl) từ các sàn giao dịch quốc tế.</a:t>
          </a:r>
          <a:endParaRPr lang="en-US" sz="1400" kern="1200"/>
        </a:p>
      </dsp:txBody>
      <dsp:txXfrm>
        <a:off x="907882" y="3127167"/>
        <a:ext cx="3995362" cy="970977"/>
      </dsp:txXfrm>
    </dsp:sp>
    <dsp:sp modelId="{3AA9A7B8-CA82-4CD8-8266-B9627E64CCA2}">
      <dsp:nvSpPr>
        <dsp:cNvPr id="0" name=""/>
        <dsp:cNvSpPr/>
      </dsp:nvSpPr>
      <dsp:spPr>
        <a:xfrm rot="5400000">
          <a:off x="2712177" y="4154138"/>
          <a:ext cx="386773" cy="464127"/>
        </a:xfrm>
        <a:prstGeom prst="rightArrow">
          <a:avLst>
            <a:gd name="adj1" fmla="val 60000"/>
            <a:gd name="adj2" fmla="val 50000"/>
          </a:avLst>
        </a:prstGeom>
        <a:solidFill>
          <a:schemeClr val="accent5">
            <a:hueOff val="-12152150"/>
            <a:satOff val="-826"/>
            <a:lumOff val="1961"/>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US" sz="1100" kern="1200"/>
        </a:p>
      </dsp:txBody>
      <dsp:txXfrm rot="-5400000">
        <a:off x="2766325" y="4192815"/>
        <a:ext cx="278477" cy="270741"/>
      </dsp:txXfrm>
    </dsp:sp>
    <dsp:sp modelId="{21ED6A9E-51DD-46E0-A6C8-F1F77DC0AAF2}">
      <dsp:nvSpPr>
        <dsp:cNvPr id="0" name=""/>
        <dsp:cNvSpPr/>
      </dsp:nvSpPr>
      <dsp:spPr>
        <a:xfrm>
          <a:off x="877673" y="4644051"/>
          <a:ext cx="4055780" cy="1031395"/>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vi-VN" sz="1400" b="1" kern="1200"/>
            <a:t>Về Hạ tầng:</a:t>
          </a:r>
          <a:r>
            <a:rPr lang="vi-VN" sz="1400" kern="1200"/>
            <a:t> Hệ thống hiện đang triển khai thực nghiệm trên môi trường Localhost (XAMPP), cần được triển khai lên Hosting thực tế để đánh giá hiệu năng dưới tải lượng người dùng lớn.</a:t>
          </a:r>
          <a:endParaRPr lang="en-US" sz="1400" kern="1200"/>
        </a:p>
      </dsp:txBody>
      <dsp:txXfrm>
        <a:off x="907882" y="4674260"/>
        <a:ext cx="3995362" cy="97097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58869B-C27A-46CD-9093-A7D7DB450468}">
      <dsp:nvSpPr>
        <dsp:cNvPr id="0" name=""/>
        <dsp:cNvSpPr/>
      </dsp:nvSpPr>
      <dsp:spPr>
        <a:xfrm>
          <a:off x="0" y="191263"/>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vi-VN" sz="1400" kern="1200"/>
            <a:t>Để website thực sự trở thành một "Hệ sinh thái số" toàn diện, đề tài định hướng phát triển các module sau:</a:t>
          </a:r>
          <a:endParaRPr lang="en-US" sz="1400" kern="1200"/>
        </a:p>
      </dsp:txBody>
      <dsp:txXfrm>
        <a:off x="46383" y="237646"/>
        <a:ext cx="5161988" cy="857401"/>
      </dsp:txXfrm>
    </dsp:sp>
    <dsp:sp modelId="{BE2097EC-FB09-4107-B55B-948D9CAB2903}">
      <dsp:nvSpPr>
        <dsp:cNvPr id="0" name=""/>
        <dsp:cNvSpPr/>
      </dsp:nvSpPr>
      <dsp:spPr>
        <a:xfrm>
          <a:off x="0" y="1181751"/>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vi-VN" sz="1400" b="1" kern="1200"/>
            <a:t>Tích hợp hệ thống giám sát IoT (Internet of Things):</a:t>
          </a:r>
          <a:r>
            <a:rPr lang="vi-VN" sz="1400" kern="1200"/>
            <a:t> Kết nối website với các cảm biến tại ao nuôi để thu thập và hiển thị dữ liệu về độ pH, Oxy hòa tan, nhiệt độ nước theo thời gian thực .</a:t>
          </a:r>
          <a:endParaRPr lang="en-US" sz="1400" kern="1200"/>
        </a:p>
      </dsp:txBody>
      <dsp:txXfrm>
        <a:off x="46383" y="1228134"/>
        <a:ext cx="5161988" cy="857401"/>
      </dsp:txXfrm>
    </dsp:sp>
    <dsp:sp modelId="{36332828-A75B-4703-9C80-E527786569B3}">
      <dsp:nvSpPr>
        <dsp:cNvPr id="0" name=""/>
        <dsp:cNvSpPr/>
      </dsp:nvSpPr>
      <dsp:spPr>
        <a:xfrm>
          <a:off x="0" y="2172239"/>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vi-VN" sz="1400" b="1" kern="1200"/>
            <a:t>Nâng cấp Trí tuệ nhân tạo (AI Deep Learning):</a:t>
          </a:r>
          <a:r>
            <a:rPr lang="vi-VN" sz="1400" kern="1200"/>
            <a:t> Tích hợp công nghệ nhận diện hình ảnh, cho phép nông dân chụp ảnh dấu hiệu trên tôm/cá để hệ thống tự động chẩn đoán bệnh chính xác hơn.</a:t>
          </a:r>
          <a:endParaRPr lang="en-US" sz="1400" kern="1200"/>
        </a:p>
      </dsp:txBody>
      <dsp:txXfrm>
        <a:off x="46383" y="2218622"/>
        <a:ext cx="5161988" cy="857401"/>
      </dsp:txXfrm>
    </dsp:sp>
    <dsp:sp modelId="{55F384CF-8C82-442F-9F92-B024D803375A}">
      <dsp:nvSpPr>
        <dsp:cNvPr id="0" name=""/>
        <dsp:cNvSpPr/>
      </dsp:nvSpPr>
      <dsp:spPr>
        <a:xfrm>
          <a:off x="0" y="3162727"/>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Phát triển Mobile App bản địa:</a:t>
          </a:r>
          <a:r>
            <a:rPr lang="en-US" sz="1400" kern="1200"/>
            <a:t> Chuyển đổi hệ thống sang nền tảng Android/iOS để hỗ trợ tính năng thông báo đẩy (Push Notification) về cảnh báo dịch bệnh khẩn cấp.</a:t>
          </a:r>
        </a:p>
      </dsp:txBody>
      <dsp:txXfrm>
        <a:off x="46383" y="3209110"/>
        <a:ext cx="5161988" cy="857401"/>
      </dsp:txXfrm>
    </dsp:sp>
    <dsp:sp modelId="{4CD06187-1996-4526-871F-FEEB7BED5D4B}">
      <dsp:nvSpPr>
        <dsp:cNvPr id="0" name=""/>
        <dsp:cNvSpPr/>
      </dsp:nvSpPr>
      <dsp:spPr>
        <a:xfrm>
          <a:off x="0" y="4153215"/>
          <a:ext cx="5254754" cy="950167"/>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vi-VN" sz="1400" b="1" kern="1200"/>
            <a:t>Mở rộng Sàn giao dịch thương mại điện tử:</a:t>
          </a:r>
          <a:r>
            <a:rPr lang="vi-VN" sz="1400" kern="1200"/>
            <a:t> Xây dựng tính năng kết nối trực tiếp giữa người nuôi và các doanh nghiệp thu mua, giúp giảm thiểu khâu trung gian và tối ưu giá trị nông sản.</a:t>
          </a:r>
          <a:endParaRPr lang="en-US" sz="1400" kern="1200"/>
        </a:p>
      </dsp:txBody>
      <dsp:txXfrm>
        <a:off x="46383" y="4199598"/>
        <a:ext cx="5161988" cy="857401"/>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1T04:37:28.567"/>
    </inkml:context>
    <inkml:brush xml:id="br0">
      <inkml:brushProperty name="width" value="0.1" units="cm"/>
      <inkml:brushProperty name="height" value="0.1" units="cm"/>
      <inkml:brushProperty name="color" value="#004F8B"/>
    </inkml:brush>
  </inkml:definitions>
  <inkml:trace contextRef="#ctx0" brushRef="#br0">1 0 8192,'0'0'0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1T04:40:13.035"/>
    </inkml:context>
    <inkml:brush xml:id="br0">
      <inkml:brushProperty name="width" value="0.1" units="cm"/>
      <inkml:brushProperty name="height" value="0.1" units="cm"/>
      <inkml:brushProperty name="color" value="#004F8B"/>
    </inkml:brush>
  </inkml:definitions>
  <inkml:trace contextRef="#ctx0" brushRef="#br0">1 0 8192,'4'0'0,"7"0"3356,1 0-3356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1-01T05:11:20.280"/>
    </inkml:context>
    <inkml:brush xml:id="br0">
      <inkml:brushProperty name="width" value="0.1" units="cm"/>
      <inkml:brushProperty name="height" value="0.1" units="cm"/>
      <inkml:brushProperty name="color" value="#004F8B"/>
    </inkml:brush>
  </inkml:definitions>
  <inkml:trace contextRef="#ctx0" brushRef="#br0">1 0 8192,'4'0'0,"7"0"3356,1 0-3356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07F88-FF05-4319-A290-FB3CE3E6C20F}" type="datetimeFigureOut">
              <a:rPr lang="en-US" smtClean="0"/>
              <a:t>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D019C4E-0E40-431A-B2BD-BD523C50A262}" type="slidenum">
              <a:rPr lang="en-US" smtClean="0"/>
              <a:t>‹#›</a:t>
            </a:fld>
            <a:endParaRPr lang="en-US"/>
          </a:p>
        </p:txBody>
      </p:sp>
    </p:spTree>
    <p:extLst>
      <p:ext uri="{BB962C8B-B14F-4D97-AF65-F5344CB8AC3E}">
        <p14:creationId xmlns:p14="http://schemas.microsoft.com/office/powerpoint/2010/main" val="3591823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21DE5A9-D254-4DFA-BA73-0F8ECFE63CBE}"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726064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1DE5A9-D254-4DFA-BA73-0F8ECFE63CBE}"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405158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21DE5A9-D254-4DFA-BA73-0F8ECFE63CBE}"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5418351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1DE5A9-D254-4DFA-BA73-0F8ECFE63CBE}"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167507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1DE5A9-D254-4DFA-BA73-0F8ECFE63CBE}" type="datetimeFigureOut">
              <a:rPr lang="en-US" smtClean="0"/>
              <a:t>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42338198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1DE5A9-D254-4DFA-BA73-0F8ECFE63CBE}" type="datetimeFigureOut">
              <a:rPr lang="en-US" smtClean="0"/>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1185204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1DE5A9-D254-4DFA-BA73-0F8ECFE63CBE}" type="datetimeFigureOut">
              <a:rPr lang="en-US" smtClean="0"/>
              <a:t>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40691825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1DE5A9-D254-4DFA-BA73-0F8ECFE63CBE}"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8556626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21DE5A9-D254-4DFA-BA73-0F8ECFE63CBE}"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3406009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1DE5A9-D254-4DFA-BA73-0F8ECFE63CBE}"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7828167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1DE5A9-D254-4DFA-BA73-0F8ECFE63CBE}"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1BFD89B-6A14-4738-9D66-E759862162E6}" type="slidenum">
              <a:rPr lang="en-US" smtClean="0"/>
              <a:t>‹#›</a:t>
            </a:fld>
            <a:endParaRPr lang="en-US"/>
          </a:p>
        </p:txBody>
      </p:sp>
    </p:spTree>
    <p:extLst>
      <p:ext uri="{BB962C8B-B14F-4D97-AF65-F5344CB8AC3E}">
        <p14:creationId xmlns:p14="http://schemas.microsoft.com/office/powerpoint/2010/main" val="16640631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21DE5A9-D254-4DFA-BA73-0F8ECFE63CBE}" type="datetimeFigureOut">
              <a:rPr lang="en-US" smtClean="0"/>
              <a:t>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BFD89B-6A14-4738-9D66-E759862162E6}" type="slidenum">
              <a:rPr lang="en-US" smtClean="0"/>
              <a:t>‹#›</a:t>
            </a:fld>
            <a:endParaRPr lang="en-US"/>
          </a:p>
        </p:txBody>
      </p:sp>
    </p:spTree>
    <p:extLst>
      <p:ext uri="{BB962C8B-B14F-4D97-AF65-F5344CB8AC3E}">
        <p14:creationId xmlns:p14="http://schemas.microsoft.com/office/powerpoint/2010/main" val="290600775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customXml" Target="../ink/ink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svg"/><Relationship Id="rId7" Type="http://schemas.openxmlformats.org/officeDocument/2006/relationships/image" Target="../media/image19.sv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sv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7" Type="http://schemas.openxmlformats.org/officeDocument/2006/relationships/image" Target="../media/image25.svg"/><Relationship Id="rId2" Type="http://schemas.openxmlformats.org/officeDocument/2006/relationships/image" Target="../media/image20.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svg"/><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slides/_rels/slide1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EB96C8E-AA6F-ECCD-85BA-907AA380D07E}"/>
              </a:ext>
            </a:extLst>
          </p:cNvPr>
          <p:cNvSpPr txBox="1"/>
          <p:nvPr/>
        </p:nvSpPr>
        <p:spPr>
          <a:xfrm>
            <a:off x="6096000" y="4187113"/>
            <a:ext cx="2408902" cy="400110"/>
          </a:xfrm>
          <a:prstGeom prst="rect">
            <a:avLst/>
          </a:prstGeom>
          <a:noFill/>
        </p:spPr>
        <p:txBody>
          <a:bodyPr wrap="square">
            <a:spAutoFit/>
          </a:bodyPr>
          <a:lstStyle/>
          <a:p>
            <a:pPr algn="just"/>
            <a:r>
              <a:rPr lang="en-US" sz="2000">
                <a:latin typeface="+mj-lt"/>
              </a:rPr>
              <a:t>MSSV : 110123203</a:t>
            </a:r>
          </a:p>
        </p:txBody>
      </p:sp>
      <p:sp>
        <p:nvSpPr>
          <p:cNvPr id="8" name="TextBox 7">
            <a:extLst>
              <a:ext uri="{FF2B5EF4-FFF2-40B4-BE49-F238E27FC236}">
                <a16:creationId xmlns:a16="http://schemas.microsoft.com/office/drawing/2014/main" id="{52E8952E-D3C9-1410-0BC1-F79135836728}"/>
              </a:ext>
            </a:extLst>
          </p:cNvPr>
          <p:cNvSpPr txBox="1"/>
          <p:nvPr/>
        </p:nvSpPr>
        <p:spPr>
          <a:xfrm>
            <a:off x="6084007" y="5082234"/>
            <a:ext cx="3136491" cy="400110"/>
          </a:xfrm>
          <a:prstGeom prst="rect">
            <a:avLst/>
          </a:prstGeom>
          <a:noFill/>
        </p:spPr>
        <p:txBody>
          <a:bodyPr wrap="square">
            <a:spAutoFit/>
          </a:bodyPr>
          <a:lstStyle/>
          <a:p>
            <a:pPr algn="just"/>
            <a:r>
              <a:rPr lang="en-US" sz="2000">
                <a:latin typeface="+mj-lt"/>
              </a:rPr>
              <a:t>GVHD : Ths. Võ Thành C</a:t>
            </a:r>
          </a:p>
        </p:txBody>
      </p:sp>
      <p:sp>
        <p:nvSpPr>
          <p:cNvPr id="10" name="TextBox 9">
            <a:extLst>
              <a:ext uri="{FF2B5EF4-FFF2-40B4-BE49-F238E27FC236}">
                <a16:creationId xmlns:a16="http://schemas.microsoft.com/office/drawing/2014/main" id="{05AF0B17-2156-F258-20AF-D74FCD63E875}"/>
              </a:ext>
            </a:extLst>
          </p:cNvPr>
          <p:cNvSpPr txBox="1"/>
          <p:nvPr/>
        </p:nvSpPr>
        <p:spPr>
          <a:xfrm>
            <a:off x="6096000" y="3727771"/>
            <a:ext cx="4139380" cy="400110"/>
          </a:xfrm>
          <a:prstGeom prst="rect">
            <a:avLst/>
          </a:prstGeom>
          <a:noFill/>
        </p:spPr>
        <p:txBody>
          <a:bodyPr wrap="square">
            <a:spAutoFit/>
          </a:bodyPr>
          <a:lstStyle/>
          <a:p>
            <a:pPr algn="just"/>
            <a:r>
              <a:rPr lang="en-US" sz="2000"/>
              <a:t>Sinh </a:t>
            </a:r>
            <a:r>
              <a:rPr lang="en-US" sz="2000" err="1"/>
              <a:t>viên</a:t>
            </a:r>
            <a:r>
              <a:rPr lang="en-US" sz="2000"/>
              <a:t> </a:t>
            </a:r>
            <a:r>
              <a:rPr lang="en-US" sz="2000" err="1"/>
              <a:t>thực</a:t>
            </a:r>
            <a:r>
              <a:rPr lang="en-US" sz="2000"/>
              <a:t> </a:t>
            </a:r>
            <a:r>
              <a:rPr lang="en-US" sz="2000" err="1"/>
              <a:t>hiện</a:t>
            </a:r>
            <a:r>
              <a:rPr lang="en-US" sz="2000"/>
              <a:t> : </a:t>
            </a:r>
            <a:r>
              <a:rPr lang="en-US" sz="2000" err="1"/>
              <a:t>Tạ</a:t>
            </a:r>
            <a:r>
              <a:rPr lang="en-US" sz="2000"/>
              <a:t> Hằng Vũ</a:t>
            </a:r>
          </a:p>
        </p:txBody>
      </p:sp>
      <mc:AlternateContent xmlns:mc="http://schemas.openxmlformats.org/markup-compatibility/2006" xmlns:p14="http://schemas.microsoft.com/office/powerpoint/2010/main">
        <mc:Choice Requires="p14">
          <p:contentPart p14:bwMode="auto" r:id="rId2">
            <p14:nvContentPartPr>
              <p14:cNvPr id="12" name="Ink 11">
                <a:extLst>
                  <a:ext uri="{FF2B5EF4-FFF2-40B4-BE49-F238E27FC236}">
                    <a16:creationId xmlns:a16="http://schemas.microsoft.com/office/drawing/2014/main" id="{6AC877EC-F06A-20F3-9BB2-7790C440518A}"/>
                  </a:ext>
                </a:extLst>
              </p14:cNvPr>
              <p14:cNvContentPartPr/>
              <p14:nvPr/>
            </p14:nvContentPartPr>
            <p14:xfrm>
              <a:off x="4326097" y="5692908"/>
              <a:ext cx="360" cy="360"/>
            </p14:xfrm>
          </p:contentPart>
        </mc:Choice>
        <mc:Fallback xmlns="">
          <p:pic>
            <p:nvPicPr>
              <p:cNvPr id="12" name="Ink 11">
                <a:extLst>
                  <a:ext uri="{FF2B5EF4-FFF2-40B4-BE49-F238E27FC236}">
                    <a16:creationId xmlns:a16="http://schemas.microsoft.com/office/drawing/2014/main" id="{6AC877EC-F06A-20F3-9BB2-7790C440518A}"/>
                  </a:ext>
                </a:extLst>
              </p:cNvPr>
              <p:cNvPicPr/>
              <p:nvPr/>
            </p:nvPicPr>
            <p:blipFill>
              <a:blip r:embed="rId3"/>
              <a:stretch>
                <a:fillRect/>
              </a:stretch>
            </p:blipFill>
            <p:spPr>
              <a:xfrm>
                <a:off x="4308457" y="5674908"/>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3" name="Ink 12">
                <a:extLst>
                  <a:ext uri="{FF2B5EF4-FFF2-40B4-BE49-F238E27FC236}">
                    <a16:creationId xmlns:a16="http://schemas.microsoft.com/office/drawing/2014/main" id="{2FA67C48-FC3E-A9D4-DF6A-0019C5F0CE53}"/>
                  </a:ext>
                </a:extLst>
              </p14:cNvPr>
              <p14:cNvContentPartPr/>
              <p14:nvPr/>
            </p14:nvContentPartPr>
            <p14:xfrm>
              <a:off x="7708297" y="2251308"/>
              <a:ext cx="10080" cy="360"/>
            </p14:xfrm>
          </p:contentPart>
        </mc:Choice>
        <mc:Fallback xmlns="">
          <p:pic>
            <p:nvPicPr>
              <p:cNvPr id="13" name="Ink 12">
                <a:extLst>
                  <a:ext uri="{FF2B5EF4-FFF2-40B4-BE49-F238E27FC236}">
                    <a16:creationId xmlns:a16="http://schemas.microsoft.com/office/drawing/2014/main" id="{2FA67C48-FC3E-A9D4-DF6A-0019C5F0CE53}"/>
                  </a:ext>
                </a:extLst>
              </p:cNvPr>
              <p:cNvPicPr/>
              <p:nvPr/>
            </p:nvPicPr>
            <p:blipFill>
              <a:blip r:embed="rId5"/>
              <a:stretch>
                <a:fillRect/>
              </a:stretch>
            </p:blipFill>
            <p:spPr>
              <a:xfrm>
                <a:off x="7690657" y="2233308"/>
                <a:ext cx="45720" cy="36000"/>
              </a:xfrm>
              <a:prstGeom prst="rect">
                <a:avLst/>
              </a:prstGeom>
            </p:spPr>
          </p:pic>
        </mc:Fallback>
      </mc:AlternateContent>
      <p:sp>
        <p:nvSpPr>
          <p:cNvPr id="18" name="TextBox 17">
            <a:extLst>
              <a:ext uri="{FF2B5EF4-FFF2-40B4-BE49-F238E27FC236}">
                <a16:creationId xmlns:a16="http://schemas.microsoft.com/office/drawing/2014/main" id="{7CB01067-BF6C-283F-6CA1-257DB78B3743}"/>
              </a:ext>
            </a:extLst>
          </p:cNvPr>
          <p:cNvSpPr txBox="1"/>
          <p:nvPr/>
        </p:nvSpPr>
        <p:spPr>
          <a:xfrm>
            <a:off x="6093840" y="6265922"/>
            <a:ext cx="6096000" cy="400110"/>
          </a:xfrm>
          <a:prstGeom prst="rect">
            <a:avLst/>
          </a:prstGeom>
          <a:noFill/>
        </p:spPr>
        <p:txBody>
          <a:bodyPr wrap="square">
            <a:spAutoFit/>
          </a:bodyPr>
          <a:lstStyle/>
          <a:p>
            <a:r>
              <a:rPr lang="en-US" sz="2000" i="1" err="1">
                <a:latin typeface="+mj-lt"/>
              </a:rPr>
              <a:t>Vĩnh</a:t>
            </a:r>
            <a:r>
              <a:rPr lang="en-US" sz="2000" i="1">
                <a:latin typeface="+mj-lt"/>
              </a:rPr>
              <a:t> Long, </a:t>
            </a:r>
            <a:r>
              <a:rPr lang="en-US" sz="2000" i="1" err="1">
                <a:latin typeface="+mj-lt"/>
              </a:rPr>
              <a:t>Ngày</a:t>
            </a:r>
            <a:r>
              <a:rPr lang="en-US" sz="2000" i="1">
                <a:latin typeface="+mj-lt"/>
              </a:rPr>
              <a:t> 6Tháng 1  </a:t>
            </a:r>
            <a:r>
              <a:rPr lang="en-US" sz="2000" i="1" err="1">
                <a:latin typeface="+mj-lt"/>
              </a:rPr>
              <a:t>Năm</a:t>
            </a:r>
            <a:r>
              <a:rPr lang="en-US" sz="2000" i="1">
                <a:latin typeface="+mj-lt"/>
              </a:rPr>
              <a:t> 2026</a:t>
            </a:r>
          </a:p>
        </p:txBody>
      </p:sp>
      <p:sp>
        <p:nvSpPr>
          <p:cNvPr id="23" name="Title 22">
            <a:extLst>
              <a:ext uri="{FF2B5EF4-FFF2-40B4-BE49-F238E27FC236}">
                <a16:creationId xmlns:a16="http://schemas.microsoft.com/office/drawing/2014/main" id="{A70D4D25-C11D-1B1F-6531-7F17C2BF2B65}"/>
              </a:ext>
            </a:extLst>
          </p:cNvPr>
          <p:cNvSpPr>
            <a:spLocks noGrp="1"/>
          </p:cNvSpPr>
          <p:nvPr>
            <p:ph type="ctrTitle"/>
          </p:nvPr>
        </p:nvSpPr>
        <p:spPr>
          <a:xfrm>
            <a:off x="1515293" y="2599054"/>
            <a:ext cx="9635253" cy="745249"/>
          </a:xfrm>
        </p:spPr>
        <p:txBody>
          <a:bodyPr>
            <a:normAutofit/>
          </a:bodyPr>
          <a:lstStyle/>
          <a:p>
            <a:r>
              <a:rPr lang="en-US" sz="4500" b="1">
                <a:solidFill>
                  <a:srgbClr val="FF0000"/>
                </a:solidFill>
              </a:rPr>
              <a:t>ĐỒ ÁN THỰC TẬP CƠ SỞ NGÀNH</a:t>
            </a:r>
          </a:p>
        </p:txBody>
      </p:sp>
      <p:pic>
        <p:nvPicPr>
          <p:cNvPr id="1034" name="Picture 10" descr="Trường Đại học Trà Vinh – Wikipedia tiếng Việt">
            <a:extLst>
              <a:ext uri="{FF2B5EF4-FFF2-40B4-BE49-F238E27FC236}">
                <a16:creationId xmlns:a16="http://schemas.microsoft.com/office/drawing/2014/main" id="{99BA11A1-39AB-11DD-BD96-0A5FC79ECFA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4489" y="640646"/>
            <a:ext cx="961607" cy="961607"/>
          </a:xfrm>
          <a:prstGeom prst="rect">
            <a:avLst/>
          </a:prstGeom>
          <a:noFill/>
          <a:extLst>
            <a:ext uri="{909E8E84-426E-40DD-AFC4-6F175D3DCCD1}">
              <a14:hiddenFill xmlns:a14="http://schemas.microsoft.com/office/drawing/2010/main">
                <a:solidFill>
                  <a:srgbClr val="FFFFFF"/>
                </a:solidFill>
              </a14:hiddenFill>
            </a:ext>
          </a:extLst>
        </p:spPr>
      </p:pic>
      <p:sp>
        <p:nvSpPr>
          <p:cNvPr id="27" name="TextBox 26">
            <a:extLst>
              <a:ext uri="{FF2B5EF4-FFF2-40B4-BE49-F238E27FC236}">
                <a16:creationId xmlns:a16="http://schemas.microsoft.com/office/drawing/2014/main" id="{12FE3DB7-CA67-688D-386E-DEC229CA501A}"/>
              </a:ext>
            </a:extLst>
          </p:cNvPr>
          <p:cNvSpPr txBox="1"/>
          <p:nvPr/>
        </p:nvSpPr>
        <p:spPr>
          <a:xfrm>
            <a:off x="1982938" y="604703"/>
            <a:ext cx="8431158" cy="1246495"/>
          </a:xfrm>
          <a:prstGeom prst="rect">
            <a:avLst/>
          </a:prstGeom>
          <a:noFill/>
        </p:spPr>
        <p:txBody>
          <a:bodyPr wrap="square">
            <a:spAutoFit/>
          </a:bodyPr>
          <a:lstStyle/>
          <a:p>
            <a:pPr algn="ctr"/>
            <a:r>
              <a:rPr lang="en-US" sz="5000" b="1">
                <a:solidFill>
                  <a:schemeClr val="tx2">
                    <a:lumMod val="90000"/>
                    <a:lumOff val="10000"/>
                  </a:schemeClr>
                </a:solidFill>
              </a:rPr>
              <a:t>TRƯỜNG ĐẠI HỌC TRÀ VINH</a:t>
            </a:r>
          </a:p>
          <a:p>
            <a:pPr algn="ctr"/>
            <a:r>
              <a:rPr lang="en-US" sz="2500" b="1"/>
              <a:t>TRƯỜNG KỸ THUẬT &amp; CÔNG NGHỆ</a:t>
            </a:r>
          </a:p>
        </p:txBody>
      </p:sp>
      <p:sp>
        <p:nvSpPr>
          <p:cNvPr id="31" name="Rectangle 30">
            <a:extLst>
              <a:ext uri="{FF2B5EF4-FFF2-40B4-BE49-F238E27FC236}">
                <a16:creationId xmlns:a16="http://schemas.microsoft.com/office/drawing/2014/main" id="{70ADAF5E-14DA-623B-DD27-38A3B5895741}"/>
              </a:ext>
            </a:extLst>
          </p:cNvPr>
          <p:cNvSpPr/>
          <p:nvPr/>
        </p:nvSpPr>
        <p:spPr>
          <a:xfrm>
            <a:off x="0" y="6725264"/>
            <a:ext cx="12189840" cy="131295"/>
          </a:xfrm>
          <a:prstGeom prst="rect">
            <a:avLst/>
          </a:prstGeom>
          <a:solidFill>
            <a:schemeClr val="tx2">
              <a:lumMod val="90000"/>
              <a:lumOff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93D9A89-3414-0EA2-ED30-B82B332726DC}"/>
              </a:ext>
            </a:extLst>
          </p:cNvPr>
          <p:cNvSpPr txBox="1"/>
          <p:nvPr/>
        </p:nvSpPr>
        <p:spPr>
          <a:xfrm>
            <a:off x="6093840" y="4653670"/>
            <a:ext cx="3433618" cy="400110"/>
          </a:xfrm>
          <a:prstGeom prst="rect">
            <a:avLst/>
          </a:prstGeom>
          <a:noFill/>
        </p:spPr>
        <p:txBody>
          <a:bodyPr wrap="square">
            <a:spAutoFit/>
          </a:bodyPr>
          <a:lstStyle/>
          <a:p>
            <a:pPr algn="just"/>
            <a:r>
              <a:rPr lang="en-US" sz="2000">
                <a:latin typeface="+mj-lt"/>
              </a:rPr>
              <a:t>LỚP : DA23TTD</a:t>
            </a:r>
          </a:p>
        </p:txBody>
      </p:sp>
    </p:spTree>
    <p:extLst>
      <p:ext uri="{BB962C8B-B14F-4D97-AF65-F5344CB8AC3E}">
        <p14:creationId xmlns:p14="http://schemas.microsoft.com/office/powerpoint/2010/main" val="40975559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FFFB9-4994-34EF-C9D4-354DE7EB88D7}"/>
              </a:ext>
            </a:extLst>
          </p:cNvPr>
          <p:cNvSpPr>
            <a:spLocks noGrp="1"/>
          </p:cNvSpPr>
          <p:nvPr>
            <p:ph type="title"/>
          </p:nvPr>
        </p:nvSpPr>
        <p:spPr>
          <a:xfrm>
            <a:off x="300516" y="2968676"/>
            <a:ext cx="11796002" cy="1325563"/>
          </a:xfrm>
        </p:spPr>
        <p:txBody>
          <a:bodyPr>
            <a:normAutofit/>
          </a:bodyPr>
          <a:lstStyle/>
          <a:p>
            <a:pPr algn="ctr"/>
            <a:r>
              <a:rPr lang="en-US" sz="4200" b="1">
                <a:solidFill>
                  <a:srgbClr val="FF0000"/>
                </a:solidFill>
              </a:rPr>
              <a:t>ĐỀ TÀI: XÂY DỰNG WEBSITE CUNG CẤP THÔNG TIN KỸ THUẬT NUÔI TRỒNG THỦY SẢN</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8F20031-99E1-D59D-6E30-F2BC4DB8CB2C}"/>
                  </a:ext>
                </a:extLst>
              </p14:cNvPr>
              <p14:cNvContentPartPr/>
              <p14:nvPr/>
            </p14:nvContentPartPr>
            <p14:xfrm>
              <a:off x="7708297" y="2251308"/>
              <a:ext cx="10080" cy="360"/>
            </p14:xfrm>
          </p:contentPart>
        </mc:Choice>
        <mc:Fallback xmlns="">
          <p:pic>
            <p:nvPicPr>
              <p:cNvPr id="4" name="Ink 3">
                <a:extLst>
                  <a:ext uri="{FF2B5EF4-FFF2-40B4-BE49-F238E27FC236}">
                    <a16:creationId xmlns:a16="http://schemas.microsoft.com/office/drawing/2014/main" id="{28F20031-99E1-D59D-6E30-F2BC4DB8CB2C}"/>
                  </a:ext>
                </a:extLst>
              </p:cNvPr>
              <p:cNvPicPr/>
              <p:nvPr/>
            </p:nvPicPr>
            <p:blipFill>
              <a:blip r:embed="rId3"/>
              <a:stretch>
                <a:fillRect/>
              </a:stretch>
            </p:blipFill>
            <p:spPr>
              <a:xfrm>
                <a:off x="7690657" y="2233308"/>
                <a:ext cx="45720" cy="36000"/>
              </a:xfrm>
              <a:prstGeom prst="rect">
                <a:avLst/>
              </a:prstGeom>
            </p:spPr>
          </p:pic>
        </mc:Fallback>
      </mc:AlternateContent>
      <p:pic>
        <p:nvPicPr>
          <p:cNvPr id="5" name="Picture 10" descr="Trường Đại học Trà Vinh – Wikipedia tiếng Việt">
            <a:extLst>
              <a:ext uri="{FF2B5EF4-FFF2-40B4-BE49-F238E27FC236}">
                <a16:creationId xmlns:a16="http://schemas.microsoft.com/office/drawing/2014/main" id="{12EB8F7A-820D-2900-5924-640A38C8B4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4489" y="640646"/>
            <a:ext cx="961607" cy="961607"/>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5576CA7C-EC34-843F-DD7A-0815C3B82DFC}"/>
              </a:ext>
            </a:extLst>
          </p:cNvPr>
          <p:cNvSpPr txBox="1"/>
          <p:nvPr/>
        </p:nvSpPr>
        <p:spPr>
          <a:xfrm>
            <a:off x="1982938" y="604703"/>
            <a:ext cx="8431158" cy="1246495"/>
          </a:xfrm>
          <a:prstGeom prst="rect">
            <a:avLst/>
          </a:prstGeom>
          <a:noFill/>
        </p:spPr>
        <p:txBody>
          <a:bodyPr wrap="square">
            <a:spAutoFit/>
          </a:bodyPr>
          <a:lstStyle/>
          <a:p>
            <a:pPr algn="ctr"/>
            <a:r>
              <a:rPr lang="en-US" sz="5000" b="1">
                <a:solidFill>
                  <a:schemeClr val="tx2">
                    <a:lumMod val="90000"/>
                    <a:lumOff val="10000"/>
                  </a:schemeClr>
                </a:solidFill>
              </a:rPr>
              <a:t>TRƯỜNG ĐẠI HỌC TRÀ VINH</a:t>
            </a:r>
          </a:p>
          <a:p>
            <a:pPr algn="ctr"/>
            <a:r>
              <a:rPr lang="en-US" sz="2500" b="1"/>
              <a:t>TRƯỜNG KỸ THUẬT &amp; CÔNG NGHỆ</a:t>
            </a:r>
          </a:p>
        </p:txBody>
      </p:sp>
    </p:spTree>
    <p:extLst>
      <p:ext uri="{BB962C8B-B14F-4D97-AF65-F5344CB8AC3E}">
        <p14:creationId xmlns:p14="http://schemas.microsoft.com/office/powerpoint/2010/main" val="14851334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872E436-E408-C40D-7CA8-42105F13B1B6}"/>
              </a:ext>
            </a:extLst>
          </p:cNvPr>
          <p:cNvSpPr>
            <a:spLocks noGrp="1"/>
          </p:cNvSpPr>
          <p:nvPr>
            <p:ph type="title"/>
          </p:nvPr>
        </p:nvSpPr>
        <p:spPr>
          <a:xfrm>
            <a:off x="838200" y="673770"/>
            <a:ext cx="3220329" cy="2027227"/>
          </a:xfrm>
        </p:spPr>
        <p:txBody>
          <a:bodyPr anchor="t">
            <a:normAutofit/>
          </a:bodyPr>
          <a:lstStyle/>
          <a:p>
            <a:r>
              <a:rPr lang="en-US" sz="5000">
                <a:solidFill>
                  <a:srgbClr val="FFFFFF"/>
                </a:solidFill>
              </a:rPr>
              <a:t>NỘI DUNG CHÍNH</a:t>
            </a:r>
          </a:p>
        </p:txBody>
      </p:sp>
      <p:graphicFrame>
        <p:nvGraphicFramePr>
          <p:cNvPr id="5" name="Content Placeholder 2">
            <a:extLst>
              <a:ext uri="{FF2B5EF4-FFF2-40B4-BE49-F238E27FC236}">
                <a16:creationId xmlns:a16="http://schemas.microsoft.com/office/drawing/2014/main" id="{6EEC00CE-B6FB-5768-6057-3D8872A69602}"/>
              </a:ext>
            </a:extLst>
          </p:cNvPr>
          <p:cNvGraphicFramePr>
            <a:graphicFrameLocks noGrp="1"/>
          </p:cNvGraphicFramePr>
          <p:nvPr>
            <p:ph idx="1"/>
            <p:extLst>
              <p:ext uri="{D42A27DB-BD31-4B8C-83A1-F6EECF244321}">
                <p14:modId xmlns:p14="http://schemas.microsoft.com/office/powerpoint/2010/main" val="3724860129"/>
              </p:ext>
            </p:extLst>
          </p:nvPr>
        </p:nvGraphicFramePr>
        <p:xfrm>
          <a:off x="5692876" y="599768"/>
          <a:ext cx="5660923" cy="56200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030094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1CE4C6-2E93-68D7-C6F8-18ADB3555521}"/>
              </a:ext>
            </a:extLst>
          </p:cNvPr>
          <p:cNvSpPr>
            <a:spLocks noGrp="1"/>
          </p:cNvSpPr>
          <p:nvPr>
            <p:ph type="title"/>
          </p:nvPr>
        </p:nvSpPr>
        <p:spPr>
          <a:xfrm>
            <a:off x="640080" y="320040"/>
            <a:ext cx="6692827" cy="3892669"/>
          </a:xfrm>
        </p:spPr>
        <p:txBody>
          <a:bodyPr vert="horz" lIns="91440" tIns="45720" rIns="91440" bIns="45720" rtlCol="0" anchor="b">
            <a:normAutofit/>
          </a:bodyPr>
          <a:lstStyle/>
          <a:p>
            <a:r>
              <a:rPr lang="en-US" sz="6600" kern="1200">
                <a:solidFill>
                  <a:srgbClr val="FF0000"/>
                </a:solidFill>
                <a:latin typeface="+mj-lt"/>
                <a:ea typeface="+mj-ea"/>
                <a:cs typeface="+mj-cs"/>
              </a:rPr>
              <a:t>PHẦN 1: </a:t>
            </a:r>
            <a:r>
              <a:rPr lang="en-US" sz="6600" kern="1200">
                <a:solidFill>
                  <a:schemeClr val="tx1"/>
                </a:solidFill>
                <a:latin typeface="+mj-lt"/>
                <a:ea typeface="+mj-ea"/>
                <a:cs typeface="+mj-cs"/>
              </a:rPr>
              <a:t>TỔNG QUAN VỀ ĐỀ TÀI</a:t>
            </a:r>
            <a:br>
              <a:rPr lang="en-US" sz="6600" kern="1200">
                <a:solidFill>
                  <a:schemeClr val="tx1"/>
                </a:solidFill>
                <a:latin typeface="+mj-lt"/>
                <a:ea typeface="+mj-ea"/>
                <a:cs typeface="+mj-cs"/>
              </a:rPr>
            </a:br>
            <a:r>
              <a:rPr lang="en-US" sz="6600" kern="1200">
                <a:solidFill>
                  <a:schemeClr val="tx1"/>
                </a:solidFill>
                <a:latin typeface="+mj-lt"/>
                <a:ea typeface="+mj-ea"/>
                <a:cs typeface="+mj-cs"/>
              </a:rPr>
              <a:t> </a:t>
            </a:r>
          </a:p>
        </p:txBody>
      </p:sp>
      <p:sp>
        <p:nvSpPr>
          <p:cNvPr id="3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Rocket">
            <a:extLst>
              <a:ext uri="{FF2B5EF4-FFF2-40B4-BE49-F238E27FC236}">
                <a16:creationId xmlns:a16="http://schemas.microsoft.com/office/drawing/2014/main" id="{A4F99B37-4B05-77F9-BAFD-0969FD24B61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81544" y="1267079"/>
            <a:ext cx="4087368" cy="4087368"/>
          </a:xfrm>
          <a:prstGeom prst="rect">
            <a:avLst/>
          </a:prstGeom>
        </p:spPr>
      </p:pic>
    </p:spTree>
    <p:extLst>
      <p:ext uri="{BB962C8B-B14F-4D97-AF65-F5344CB8AC3E}">
        <p14:creationId xmlns:p14="http://schemas.microsoft.com/office/powerpoint/2010/main" val="2600454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B18A35-36CA-AD02-CC4B-4C6100668070}"/>
              </a:ext>
            </a:extLst>
          </p:cNvPr>
          <p:cNvSpPr>
            <a:spLocks noGrp="1"/>
          </p:cNvSpPr>
          <p:nvPr>
            <p:ph type="title"/>
          </p:nvPr>
        </p:nvSpPr>
        <p:spPr>
          <a:xfrm>
            <a:off x="793662" y="386930"/>
            <a:ext cx="10066122" cy="1298448"/>
          </a:xfrm>
        </p:spPr>
        <p:txBody>
          <a:bodyPr anchor="b">
            <a:normAutofit/>
          </a:bodyPr>
          <a:lstStyle/>
          <a:p>
            <a:r>
              <a:rPr lang="en-US" sz="4800">
                <a:solidFill>
                  <a:srgbClr val="FF0000"/>
                </a:solidFill>
              </a:rPr>
              <a:t>1. TỔNG QUAN ĐỀ TÀI</a:t>
            </a:r>
          </a:p>
        </p:txBody>
      </p:sp>
      <p:sp>
        <p:nvSpPr>
          <p:cNvPr id="37" name="Rectangle 36">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E0F73B2-5204-C2E6-0F02-D000DE47E729}"/>
              </a:ext>
            </a:extLst>
          </p:cNvPr>
          <p:cNvSpPr>
            <a:spLocks noGrp="1"/>
          </p:cNvSpPr>
          <p:nvPr>
            <p:ph idx="1"/>
          </p:nvPr>
        </p:nvSpPr>
        <p:spPr>
          <a:xfrm>
            <a:off x="168964" y="2599509"/>
            <a:ext cx="5742567" cy="3639450"/>
          </a:xfrm>
        </p:spPr>
        <p:txBody>
          <a:bodyPr anchor="ctr">
            <a:normAutofit/>
          </a:bodyPr>
          <a:lstStyle/>
          <a:p>
            <a:pPr marL="0" indent="0">
              <a:buNone/>
            </a:pPr>
            <a:r>
              <a:rPr lang="en-US" sz="2000"/>
              <a:t>Nhận thấy, so với việc tìm kiếm thông tin tài liệu về thủy sản truyền thống thì việc tìm kiếm thông tin trên một trang Web chuyên về Thủy Sản , có một nơi để cộng đồng chăn nuôi thủy sản có thể cùng nhau chia sẻ kiến thức ,nhận cảnh báo phòng chóng dịch bệnh sớm nhất đạt hiệu quả cao hơn với lợi thế của công nghệ internet nên việc truyền tải thông tin về thủy sản nhann chóng , an toàn và tiện lợi cho người nuôi.</a:t>
            </a:r>
          </a:p>
        </p:txBody>
      </p:sp>
      <p:pic>
        <p:nvPicPr>
          <p:cNvPr id="5" name="Picture 4" descr="A screenshot of a website&#10;&#10;AI-generated content may be incorrect.">
            <a:extLst>
              <a:ext uri="{FF2B5EF4-FFF2-40B4-BE49-F238E27FC236}">
                <a16:creationId xmlns:a16="http://schemas.microsoft.com/office/drawing/2014/main" id="{0D83EB7C-2F25-8495-1BA3-C29E6FACC4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5999" y="3094011"/>
            <a:ext cx="5150277" cy="2459257"/>
          </a:xfrm>
          <a:prstGeom prst="rect">
            <a:avLst/>
          </a:prstGeom>
        </p:spPr>
      </p:pic>
      <p:sp>
        <p:nvSpPr>
          <p:cNvPr id="41" name="Rectangle 40">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67849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8" name="Arc 17">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2CE73C3-D4CC-998E-621B-34A02BA56D21}"/>
              </a:ext>
            </a:extLst>
          </p:cNvPr>
          <p:cNvSpPr>
            <a:spLocks noGrp="1"/>
          </p:cNvSpPr>
          <p:nvPr>
            <p:ph type="title"/>
          </p:nvPr>
        </p:nvSpPr>
        <p:spPr>
          <a:xfrm>
            <a:off x="637162" y="271558"/>
            <a:ext cx="5458838" cy="1325563"/>
          </a:xfrm>
        </p:spPr>
        <p:txBody>
          <a:bodyPr vert="horz" lIns="91440" tIns="45720" rIns="91440" bIns="45720" rtlCol="0" anchor="ctr">
            <a:normAutofit/>
          </a:bodyPr>
          <a:lstStyle/>
          <a:p>
            <a:r>
              <a:rPr lang="en-US" kern="1200">
                <a:solidFill>
                  <a:srgbClr val="FF0000"/>
                </a:solidFill>
                <a:latin typeface="+mj-lt"/>
                <a:ea typeface="+mj-ea"/>
                <a:cs typeface="+mj-cs"/>
              </a:rPr>
              <a:t>LÝ DO CHỌN ĐỀ TÀI</a:t>
            </a:r>
          </a:p>
        </p:txBody>
      </p:sp>
      <p:sp>
        <p:nvSpPr>
          <p:cNvPr id="20" name="Freeform: Shape 19">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TextBox 8">
            <a:extLst>
              <a:ext uri="{FF2B5EF4-FFF2-40B4-BE49-F238E27FC236}">
                <a16:creationId xmlns:a16="http://schemas.microsoft.com/office/drawing/2014/main" id="{5F3989D9-CC76-92F2-201C-34CF53753FD0}"/>
              </a:ext>
            </a:extLst>
          </p:cNvPr>
          <p:cNvSpPr txBox="1"/>
          <p:nvPr/>
        </p:nvSpPr>
        <p:spPr>
          <a:xfrm>
            <a:off x="1799302" y="4631202"/>
            <a:ext cx="9914444" cy="980859"/>
          </a:xfrm>
          <a:prstGeom prst="rect">
            <a:avLst/>
          </a:prstGeom>
        </p:spPr>
        <p:txBody>
          <a:bodyPr vert="horz" lIns="91440" tIns="45720" rIns="91440" bIns="45720" rtlCol="0">
            <a:normAutofit/>
          </a:bodyPr>
          <a:lstStyle/>
          <a:p>
            <a:pPr defTabSz="914400">
              <a:lnSpc>
                <a:spcPct val="90000"/>
              </a:lnSpc>
              <a:spcAft>
                <a:spcPts val="600"/>
              </a:spcAft>
            </a:pPr>
            <a:r>
              <a:rPr lang="en-US"/>
              <a:t>“Xây dựng Website cung cấp kỹ thuật thông tin nuôi trồng thủy sản” là việc cần thiết để tạo điều kiện thuận lợi cho người nuôi trồng thủy sản, cập nhật thông tin liên tục  mọi lúc mọi nơi một cách nhanh chóng.</a:t>
            </a:r>
          </a:p>
        </p:txBody>
      </p:sp>
      <p:graphicFrame>
        <p:nvGraphicFramePr>
          <p:cNvPr id="14" name="Table 13">
            <a:extLst>
              <a:ext uri="{FF2B5EF4-FFF2-40B4-BE49-F238E27FC236}">
                <a16:creationId xmlns:a16="http://schemas.microsoft.com/office/drawing/2014/main" id="{657BA05B-BAA8-5FE9-26DE-703E2AF5CDF6}"/>
              </a:ext>
            </a:extLst>
          </p:cNvPr>
          <p:cNvGraphicFramePr>
            <a:graphicFrameLocks noGrp="1"/>
          </p:cNvGraphicFramePr>
          <p:nvPr>
            <p:extLst>
              <p:ext uri="{D42A27DB-BD31-4B8C-83A1-F6EECF244321}">
                <p14:modId xmlns:p14="http://schemas.microsoft.com/office/powerpoint/2010/main" val="2630933866"/>
              </p:ext>
            </p:extLst>
          </p:nvPr>
        </p:nvGraphicFramePr>
        <p:xfrm>
          <a:off x="1799302" y="2064141"/>
          <a:ext cx="8977608" cy="1996440"/>
        </p:xfrm>
        <a:graphic>
          <a:graphicData uri="http://schemas.openxmlformats.org/drawingml/2006/table">
            <a:tbl>
              <a:tblPr firstRow="1" bandRow="1">
                <a:tableStyleId>{5940675A-B579-460E-94D1-54222C63F5DA}</a:tableStyleId>
              </a:tblPr>
              <a:tblGrid>
                <a:gridCol w="4488804">
                  <a:extLst>
                    <a:ext uri="{9D8B030D-6E8A-4147-A177-3AD203B41FA5}">
                      <a16:colId xmlns:a16="http://schemas.microsoft.com/office/drawing/2014/main" val="1812352238"/>
                    </a:ext>
                  </a:extLst>
                </a:gridCol>
                <a:gridCol w="4488804">
                  <a:extLst>
                    <a:ext uri="{9D8B030D-6E8A-4147-A177-3AD203B41FA5}">
                      <a16:colId xmlns:a16="http://schemas.microsoft.com/office/drawing/2014/main" val="433852188"/>
                    </a:ext>
                  </a:extLst>
                </a:gridCol>
              </a:tblGrid>
              <a:tr h="132556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500" cap="none" spc="0">
                          <a:solidFill>
                            <a:schemeClr val="tx1"/>
                          </a:solidFill>
                        </a:rPr>
                        <a:t>Mong muốn đưa thông tin kỹ thuật chăn nuôi tốt nhất đến người nuôi thông qua website.</a:t>
                      </a:r>
                    </a:p>
                    <a:p>
                      <a:endParaRPr lang="en-US"/>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500" cap="none" spc="0">
                          <a:solidFill>
                            <a:schemeClr val="tx1"/>
                          </a:solidFill>
                        </a:rPr>
                        <a:t>Giúp tối ưu hóa chi phí, nâng cao hiệu quả năng suất sản lượng. Dễ dàng tiếp cận tìm kiếm thông tin về Thủy Sản.</a:t>
                      </a:r>
                    </a:p>
                    <a:p>
                      <a:endParaRPr lang="en-US" sz="2500"/>
                    </a:p>
                  </a:txBody>
                  <a:tcPr/>
                </a:tc>
                <a:extLst>
                  <a:ext uri="{0D108BD9-81ED-4DB2-BD59-A6C34878D82A}">
                    <a16:rowId xmlns:a16="http://schemas.microsoft.com/office/drawing/2014/main" val="1066193880"/>
                  </a:ext>
                </a:extLst>
              </a:tr>
            </a:tbl>
          </a:graphicData>
        </a:graphic>
      </p:graphicFrame>
      <p:pic>
        <p:nvPicPr>
          <p:cNvPr id="17" name="Graphic 16" descr="Arrow Right with solid fill">
            <a:extLst>
              <a:ext uri="{FF2B5EF4-FFF2-40B4-BE49-F238E27FC236}">
                <a16:creationId xmlns:a16="http://schemas.microsoft.com/office/drawing/2014/main" id="{371CD610-43A4-4793-0B97-FD46DB5CA45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8574" y="4710069"/>
            <a:ext cx="624948" cy="624948"/>
          </a:xfrm>
          <a:prstGeom prst="rect">
            <a:avLst/>
          </a:prstGeom>
        </p:spPr>
      </p:pic>
    </p:spTree>
    <p:extLst>
      <p:ext uri="{BB962C8B-B14F-4D97-AF65-F5344CB8AC3E}">
        <p14:creationId xmlns:p14="http://schemas.microsoft.com/office/powerpoint/2010/main" val="2159727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grpId="0" nodeType="clickEffect">
                                  <p:stCondLst>
                                    <p:cond delay="0"/>
                                  </p:stCondLst>
                                  <p:childTnLst>
                                    <p:set>
                                      <p:cBhvr>
                                        <p:cTn id="13" dur="1" fill="hold">
                                          <p:stCondLst>
                                            <p:cond delay="0"/>
                                          </p:stCondLst>
                                        </p:cTn>
                                        <p:tgtEl>
                                          <p:spTgt spid="9">
                                            <p:txEl>
                                              <p:pRg st="0" end="0"/>
                                            </p:txEl>
                                          </p:spTgt>
                                        </p:tgtEl>
                                        <p:attrNameLst>
                                          <p:attrName>style.visibility</p:attrName>
                                        </p:attrNameLst>
                                      </p:cBhvr>
                                      <p:to>
                                        <p:strVal val="visible"/>
                                      </p:to>
                                    </p:set>
                                    <p:animEffect transition="in" filter="fade">
                                      <p:cBhvr>
                                        <p:cTn id="14"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allAtOnce"/>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2ADFB-3272-E29D-DEAD-C3D21CD567BD}"/>
              </a:ext>
            </a:extLst>
          </p:cNvPr>
          <p:cNvSpPr>
            <a:spLocks noGrp="1"/>
          </p:cNvSpPr>
          <p:nvPr>
            <p:ph type="title"/>
          </p:nvPr>
        </p:nvSpPr>
        <p:spPr/>
        <p:txBody>
          <a:bodyPr/>
          <a:lstStyle/>
          <a:p>
            <a:r>
              <a:rPr lang="en-US">
                <a:solidFill>
                  <a:srgbClr val="FF0000"/>
                </a:solidFill>
              </a:rPr>
              <a:t>GIỚI THIỆU NGÔN NGỮ - FRAMEWORK</a:t>
            </a:r>
          </a:p>
        </p:txBody>
      </p:sp>
      <p:pic>
        <p:nvPicPr>
          <p:cNvPr id="4" name="Picture 3" descr="Lập trình Web nên học ngôn ngữ nào là phù hợp?">
            <a:extLst>
              <a:ext uri="{FF2B5EF4-FFF2-40B4-BE49-F238E27FC236}">
                <a16:creationId xmlns:a16="http://schemas.microsoft.com/office/drawing/2014/main" id="{A9B77572-4BD7-78B0-605C-94BB5C45B7B0}"/>
              </a:ext>
            </a:extLst>
          </p:cNvPr>
          <p:cNvPicPr>
            <a:picLocks noChangeAspect="1"/>
          </p:cNvPicPr>
          <p:nvPr/>
        </p:nvPicPr>
        <p:blipFill>
          <a:blip r:embed="rId2"/>
          <a:srcRect r="64508"/>
          <a:stretch>
            <a:fillRect/>
          </a:stretch>
        </p:blipFill>
        <p:spPr>
          <a:xfrm>
            <a:off x="838200" y="3429000"/>
            <a:ext cx="1495479" cy="1978332"/>
          </a:xfrm>
          <a:prstGeom prst="rect">
            <a:avLst/>
          </a:prstGeom>
        </p:spPr>
      </p:pic>
      <p:pic>
        <p:nvPicPr>
          <p:cNvPr id="5" name="Picture 4" descr="HomeNest">
            <a:extLst>
              <a:ext uri="{FF2B5EF4-FFF2-40B4-BE49-F238E27FC236}">
                <a16:creationId xmlns:a16="http://schemas.microsoft.com/office/drawing/2014/main" id="{079E3564-4B0A-0851-6E51-1DBF6A789DED}"/>
              </a:ext>
            </a:extLst>
          </p:cNvPr>
          <p:cNvPicPr>
            <a:picLocks noChangeAspect="1"/>
          </p:cNvPicPr>
          <p:nvPr/>
        </p:nvPicPr>
        <p:blipFill>
          <a:blip r:embed="rId3"/>
          <a:stretch>
            <a:fillRect/>
          </a:stretch>
        </p:blipFill>
        <p:spPr>
          <a:xfrm>
            <a:off x="1276729" y="5391150"/>
            <a:ext cx="2828033" cy="1466850"/>
          </a:xfrm>
          <a:prstGeom prst="rect">
            <a:avLst/>
          </a:prstGeom>
        </p:spPr>
      </p:pic>
      <p:pic>
        <p:nvPicPr>
          <p:cNvPr id="6" name="Picture 5" descr="PHP MYSQL | Chương trình Học viện công nghệ BKACAD">
            <a:extLst>
              <a:ext uri="{FF2B5EF4-FFF2-40B4-BE49-F238E27FC236}">
                <a16:creationId xmlns:a16="http://schemas.microsoft.com/office/drawing/2014/main" id="{A130DC9D-B336-EF38-6F94-CF9E8AA1FDAF}"/>
              </a:ext>
            </a:extLst>
          </p:cNvPr>
          <p:cNvPicPr>
            <a:picLocks noChangeAspect="1"/>
          </p:cNvPicPr>
          <p:nvPr/>
        </p:nvPicPr>
        <p:blipFill>
          <a:blip r:embed="rId4"/>
          <a:stretch>
            <a:fillRect/>
          </a:stretch>
        </p:blipFill>
        <p:spPr>
          <a:xfrm>
            <a:off x="7258357" y="3670412"/>
            <a:ext cx="2914650" cy="1571625"/>
          </a:xfrm>
          <a:prstGeom prst="rect">
            <a:avLst/>
          </a:prstGeom>
        </p:spPr>
      </p:pic>
      <p:pic>
        <p:nvPicPr>
          <p:cNvPr id="7" name="Content Placeholder 6" descr="Lập trình Web nên học ngôn ngữ nào là phù hợp?">
            <a:extLst>
              <a:ext uri="{FF2B5EF4-FFF2-40B4-BE49-F238E27FC236}">
                <a16:creationId xmlns:a16="http://schemas.microsoft.com/office/drawing/2014/main" id="{D864216F-3C39-511A-4C6D-AE827C8D57B7}"/>
              </a:ext>
            </a:extLst>
          </p:cNvPr>
          <p:cNvPicPr>
            <a:picLocks noGrp="1" noChangeAspect="1"/>
          </p:cNvPicPr>
          <p:nvPr>
            <p:ph idx="1"/>
          </p:nvPr>
        </p:nvPicPr>
        <p:blipFill>
          <a:blip r:embed="rId2"/>
          <a:srcRect l="66755"/>
          <a:stretch>
            <a:fillRect/>
          </a:stretch>
        </p:blipFill>
        <p:spPr>
          <a:xfrm>
            <a:off x="3116131" y="3392351"/>
            <a:ext cx="1426757" cy="2014981"/>
          </a:xfrm>
          <a:prstGeom prst="rect">
            <a:avLst/>
          </a:prstGeom>
        </p:spPr>
      </p:pic>
      <p:sp>
        <p:nvSpPr>
          <p:cNvPr id="8" name="TextBox 7">
            <a:extLst>
              <a:ext uri="{FF2B5EF4-FFF2-40B4-BE49-F238E27FC236}">
                <a16:creationId xmlns:a16="http://schemas.microsoft.com/office/drawing/2014/main" id="{2E96FDD3-3DD2-B5B7-98C7-1C993EC49B32}"/>
              </a:ext>
            </a:extLst>
          </p:cNvPr>
          <p:cNvSpPr txBox="1"/>
          <p:nvPr/>
        </p:nvSpPr>
        <p:spPr>
          <a:xfrm>
            <a:off x="1190060" y="2294013"/>
            <a:ext cx="3470788" cy="707886"/>
          </a:xfrm>
          <a:prstGeom prst="rect">
            <a:avLst/>
          </a:prstGeom>
          <a:noFill/>
        </p:spPr>
        <p:txBody>
          <a:bodyPr wrap="square" rtlCol="0">
            <a:spAutoFit/>
          </a:bodyPr>
          <a:lstStyle/>
          <a:p>
            <a:r>
              <a:rPr lang="en-US" sz="4000"/>
              <a:t>FRONT END</a:t>
            </a:r>
          </a:p>
        </p:txBody>
      </p:sp>
      <p:sp>
        <p:nvSpPr>
          <p:cNvPr id="12" name="TextBox 11">
            <a:extLst>
              <a:ext uri="{FF2B5EF4-FFF2-40B4-BE49-F238E27FC236}">
                <a16:creationId xmlns:a16="http://schemas.microsoft.com/office/drawing/2014/main" id="{9299A899-246A-03E3-922D-B994E6FB7D41}"/>
              </a:ext>
            </a:extLst>
          </p:cNvPr>
          <p:cNvSpPr txBox="1"/>
          <p:nvPr/>
        </p:nvSpPr>
        <p:spPr>
          <a:xfrm>
            <a:off x="7258357" y="2326607"/>
            <a:ext cx="3470788" cy="707886"/>
          </a:xfrm>
          <a:prstGeom prst="rect">
            <a:avLst/>
          </a:prstGeom>
          <a:noFill/>
        </p:spPr>
        <p:txBody>
          <a:bodyPr wrap="square">
            <a:spAutoFit/>
          </a:bodyPr>
          <a:lstStyle/>
          <a:p>
            <a:r>
              <a:rPr lang="en-US" sz="3000"/>
              <a:t> </a:t>
            </a:r>
            <a:r>
              <a:rPr lang="en-US" sz="4000"/>
              <a:t>BACK END</a:t>
            </a:r>
          </a:p>
        </p:txBody>
      </p:sp>
    </p:spTree>
    <p:extLst>
      <p:ext uri="{BB962C8B-B14F-4D97-AF65-F5344CB8AC3E}">
        <p14:creationId xmlns:p14="http://schemas.microsoft.com/office/powerpoint/2010/main" val="4128028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AE229-4C90-3902-C6CF-57579CD9C905}"/>
              </a:ext>
            </a:extLst>
          </p:cNvPr>
          <p:cNvSpPr>
            <a:spLocks noGrp="1"/>
          </p:cNvSpPr>
          <p:nvPr>
            <p:ph type="title"/>
          </p:nvPr>
        </p:nvSpPr>
        <p:spPr>
          <a:xfrm>
            <a:off x="429343" y="141584"/>
            <a:ext cx="3861619" cy="598436"/>
          </a:xfrm>
        </p:spPr>
        <p:txBody>
          <a:bodyPr>
            <a:normAutofit fontScale="90000"/>
          </a:bodyPr>
          <a:lstStyle/>
          <a:p>
            <a:r>
              <a:rPr lang="en-US">
                <a:solidFill>
                  <a:srgbClr val="FF0000"/>
                </a:solidFill>
              </a:rPr>
              <a:t>CHỨC NĂNG</a:t>
            </a:r>
          </a:p>
        </p:txBody>
      </p:sp>
      <p:sp>
        <p:nvSpPr>
          <p:cNvPr id="3" name="Content Placeholder 2">
            <a:extLst>
              <a:ext uri="{FF2B5EF4-FFF2-40B4-BE49-F238E27FC236}">
                <a16:creationId xmlns:a16="http://schemas.microsoft.com/office/drawing/2014/main" id="{DC7A8522-0C18-C800-92D6-EF6D5A156B32}"/>
              </a:ext>
            </a:extLst>
          </p:cNvPr>
          <p:cNvSpPr>
            <a:spLocks noGrp="1"/>
          </p:cNvSpPr>
          <p:nvPr>
            <p:ph idx="1"/>
          </p:nvPr>
        </p:nvSpPr>
        <p:spPr>
          <a:xfrm>
            <a:off x="1166941" y="2976879"/>
            <a:ext cx="2601914" cy="343203"/>
          </a:xfrm>
        </p:spPr>
        <p:txBody>
          <a:bodyPr>
            <a:normAutofit/>
          </a:bodyPr>
          <a:lstStyle/>
          <a:p>
            <a:pPr marL="0" indent="0">
              <a:buNone/>
            </a:pPr>
            <a:r>
              <a:rPr lang="en-US" sz="1600"/>
              <a:t>ĐĂNG KÝ, ĐĂNG NHẬP   </a:t>
            </a:r>
          </a:p>
          <a:p>
            <a:endParaRPr lang="en-US"/>
          </a:p>
        </p:txBody>
      </p:sp>
      <p:sp>
        <p:nvSpPr>
          <p:cNvPr id="9" name="TextBox 8">
            <a:extLst>
              <a:ext uri="{FF2B5EF4-FFF2-40B4-BE49-F238E27FC236}">
                <a16:creationId xmlns:a16="http://schemas.microsoft.com/office/drawing/2014/main" id="{1F5C41BD-8534-8449-D36C-E6209C467E9F}"/>
              </a:ext>
            </a:extLst>
          </p:cNvPr>
          <p:cNvSpPr txBox="1"/>
          <p:nvPr/>
        </p:nvSpPr>
        <p:spPr>
          <a:xfrm>
            <a:off x="5626539" y="1610427"/>
            <a:ext cx="740697" cy="369332"/>
          </a:xfrm>
          <a:prstGeom prst="rect">
            <a:avLst/>
          </a:prstGeom>
          <a:noFill/>
        </p:spPr>
        <p:txBody>
          <a:bodyPr wrap="square">
            <a:spAutoFit/>
          </a:bodyPr>
          <a:lstStyle/>
          <a:p>
            <a:r>
              <a:rPr lang="en-US">
                <a:solidFill>
                  <a:srgbClr val="FF0000"/>
                </a:solidFill>
              </a:rPr>
              <a:t>USER</a:t>
            </a:r>
            <a:r>
              <a:rPr lang="en-US"/>
              <a:t>  </a:t>
            </a:r>
          </a:p>
        </p:txBody>
      </p:sp>
      <p:sp>
        <p:nvSpPr>
          <p:cNvPr id="20" name="TextBox 19">
            <a:extLst>
              <a:ext uri="{FF2B5EF4-FFF2-40B4-BE49-F238E27FC236}">
                <a16:creationId xmlns:a16="http://schemas.microsoft.com/office/drawing/2014/main" id="{C52FFA67-E87A-D3CC-BD70-219A34145104}"/>
              </a:ext>
            </a:extLst>
          </p:cNvPr>
          <p:cNvSpPr txBox="1"/>
          <p:nvPr/>
        </p:nvSpPr>
        <p:spPr>
          <a:xfrm>
            <a:off x="8849250" y="2981528"/>
            <a:ext cx="1402734" cy="338554"/>
          </a:xfrm>
          <a:prstGeom prst="rect">
            <a:avLst/>
          </a:prstGeom>
          <a:noFill/>
        </p:spPr>
        <p:txBody>
          <a:bodyPr wrap="square">
            <a:spAutoFit/>
          </a:bodyPr>
          <a:lstStyle/>
          <a:p>
            <a:pPr marL="0" indent="0">
              <a:buNone/>
            </a:pPr>
            <a:r>
              <a:rPr lang="en-US" sz="1600"/>
              <a:t>ĐĂNG BÀI   </a:t>
            </a:r>
          </a:p>
        </p:txBody>
      </p:sp>
      <p:sp>
        <p:nvSpPr>
          <p:cNvPr id="22" name="TextBox 21">
            <a:extLst>
              <a:ext uri="{FF2B5EF4-FFF2-40B4-BE49-F238E27FC236}">
                <a16:creationId xmlns:a16="http://schemas.microsoft.com/office/drawing/2014/main" id="{ABACCE0F-BD11-3751-5F83-658AA8CAF7CB}"/>
              </a:ext>
            </a:extLst>
          </p:cNvPr>
          <p:cNvSpPr txBox="1"/>
          <p:nvPr/>
        </p:nvSpPr>
        <p:spPr>
          <a:xfrm>
            <a:off x="5908317" y="4746524"/>
            <a:ext cx="2435122" cy="369332"/>
          </a:xfrm>
          <a:prstGeom prst="rect">
            <a:avLst/>
          </a:prstGeom>
          <a:noFill/>
        </p:spPr>
        <p:txBody>
          <a:bodyPr wrap="square">
            <a:spAutoFit/>
          </a:bodyPr>
          <a:lstStyle/>
          <a:p>
            <a:pPr marL="0" indent="0">
              <a:buNone/>
            </a:pPr>
            <a:r>
              <a:rPr lang="en-US"/>
              <a:t>TÌM KIẾM THÔNG TIN</a:t>
            </a:r>
            <a:r>
              <a:rPr lang="en-US" sz="1800"/>
              <a:t>   </a:t>
            </a:r>
          </a:p>
        </p:txBody>
      </p:sp>
      <p:sp>
        <p:nvSpPr>
          <p:cNvPr id="24" name="TextBox 23">
            <a:extLst>
              <a:ext uri="{FF2B5EF4-FFF2-40B4-BE49-F238E27FC236}">
                <a16:creationId xmlns:a16="http://schemas.microsoft.com/office/drawing/2014/main" id="{6A21B816-2C51-68E5-6EE4-E97941C77F34}"/>
              </a:ext>
            </a:extLst>
          </p:cNvPr>
          <p:cNvSpPr txBox="1"/>
          <p:nvPr/>
        </p:nvSpPr>
        <p:spPr>
          <a:xfrm>
            <a:off x="429343" y="4592636"/>
            <a:ext cx="2143432" cy="338554"/>
          </a:xfrm>
          <a:prstGeom prst="rect">
            <a:avLst/>
          </a:prstGeom>
          <a:noFill/>
        </p:spPr>
        <p:txBody>
          <a:bodyPr wrap="square">
            <a:spAutoFit/>
          </a:bodyPr>
          <a:lstStyle/>
          <a:p>
            <a:pPr marL="0" indent="0">
              <a:buNone/>
            </a:pPr>
            <a:r>
              <a:rPr lang="en-US" sz="1600"/>
              <a:t>QUẢN LÝ PROFILE</a:t>
            </a:r>
          </a:p>
        </p:txBody>
      </p:sp>
      <p:sp>
        <p:nvSpPr>
          <p:cNvPr id="26" name="TextBox 25">
            <a:extLst>
              <a:ext uri="{FF2B5EF4-FFF2-40B4-BE49-F238E27FC236}">
                <a16:creationId xmlns:a16="http://schemas.microsoft.com/office/drawing/2014/main" id="{7AC7E529-CD09-A482-0D65-A9362CADE1BD}"/>
              </a:ext>
            </a:extLst>
          </p:cNvPr>
          <p:cNvSpPr txBox="1"/>
          <p:nvPr/>
        </p:nvSpPr>
        <p:spPr>
          <a:xfrm>
            <a:off x="3005978" y="4683319"/>
            <a:ext cx="2435122" cy="338554"/>
          </a:xfrm>
          <a:prstGeom prst="rect">
            <a:avLst/>
          </a:prstGeom>
          <a:noFill/>
        </p:spPr>
        <p:txBody>
          <a:bodyPr wrap="square">
            <a:spAutoFit/>
          </a:bodyPr>
          <a:lstStyle/>
          <a:p>
            <a:pPr marL="0" indent="0">
              <a:buNone/>
            </a:pPr>
            <a:r>
              <a:rPr lang="en-US" sz="1600"/>
              <a:t>THAY ĐỔI THÔNG TIN</a:t>
            </a:r>
          </a:p>
        </p:txBody>
      </p:sp>
      <p:sp>
        <p:nvSpPr>
          <p:cNvPr id="28" name="TextBox 27">
            <a:extLst>
              <a:ext uri="{FF2B5EF4-FFF2-40B4-BE49-F238E27FC236}">
                <a16:creationId xmlns:a16="http://schemas.microsoft.com/office/drawing/2014/main" id="{29B5F134-1CBA-3837-C268-998603AC17AF}"/>
              </a:ext>
            </a:extLst>
          </p:cNvPr>
          <p:cNvSpPr txBox="1"/>
          <p:nvPr/>
        </p:nvSpPr>
        <p:spPr>
          <a:xfrm>
            <a:off x="9027015" y="4746524"/>
            <a:ext cx="657301" cy="369332"/>
          </a:xfrm>
          <a:prstGeom prst="rect">
            <a:avLst/>
          </a:prstGeom>
          <a:noFill/>
        </p:spPr>
        <p:txBody>
          <a:bodyPr wrap="square">
            <a:spAutoFit/>
          </a:bodyPr>
          <a:lstStyle/>
          <a:p>
            <a:pPr marL="0" indent="0">
              <a:buNone/>
            </a:pPr>
            <a:r>
              <a:rPr lang="en-US" sz="1800"/>
              <a:t>XÓA     </a:t>
            </a:r>
          </a:p>
        </p:txBody>
      </p:sp>
      <p:sp>
        <p:nvSpPr>
          <p:cNvPr id="30" name="TextBox 29">
            <a:extLst>
              <a:ext uri="{FF2B5EF4-FFF2-40B4-BE49-F238E27FC236}">
                <a16:creationId xmlns:a16="http://schemas.microsoft.com/office/drawing/2014/main" id="{7E9B5F83-5207-37F2-B87D-BEF3F5B2264F}"/>
              </a:ext>
            </a:extLst>
          </p:cNvPr>
          <p:cNvSpPr txBox="1"/>
          <p:nvPr/>
        </p:nvSpPr>
        <p:spPr>
          <a:xfrm>
            <a:off x="10359102" y="4775059"/>
            <a:ext cx="1403555" cy="369332"/>
          </a:xfrm>
          <a:prstGeom prst="rect">
            <a:avLst/>
          </a:prstGeom>
          <a:noFill/>
        </p:spPr>
        <p:txBody>
          <a:bodyPr wrap="square">
            <a:spAutoFit/>
          </a:bodyPr>
          <a:lstStyle/>
          <a:p>
            <a:r>
              <a:rPr lang="en-US" sz="1800"/>
              <a:t>ĐÁNH GIÁ </a:t>
            </a:r>
            <a:endParaRPr lang="en-US"/>
          </a:p>
        </p:txBody>
      </p:sp>
      <p:graphicFrame>
        <p:nvGraphicFramePr>
          <p:cNvPr id="32" name="Table 31">
            <a:extLst>
              <a:ext uri="{FF2B5EF4-FFF2-40B4-BE49-F238E27FC236}">
                <a16:creationId xmlns:a16="http://schemas.microsoft.com/office/drawing/2014/main" id="{5FA09803-A2DE-5154-BCF6-4B83BA65A557}"/>
              </a:ext>
            </a:extLst>
          </p:cNvPr>
          <p:cNvGraphicFramePr>
            <a:graphicFrameLocks noGrp="1"/>
          </p:cNvGraphicFramePr>
          <p:nvPr>
            <p:extLst>
              <p:ext uri="{D42A27DB-BD31-4B8C-83A1-F6EECF244321}">
                <p14:modId xmlns:p14="http://schemas.microsoft.com/office/powerpoint/2010/main" val="2716750641"/>
              </p:ext>
            </p:extLst>
          </p:nvPr>
        </p:nvGraphicFramePr>
        <p:xfrm>
          <a:off x="5231346" y="1229033"/>
          <a:ext cx="1592242" cy="1081548"/>
        </p:xfrm>
        <a:graphic>
          <a:graphicData uri="http://schemas.openxmlformats.org/drawingml/2006/table">
            <a:tbl>
              <a:tblPr firstRow="1" bandRow="1">
                <a:tableStyleId>{5940675A-B579-460E-94D1-54222C63F5DA}</a:tableStyleId>
              </a:tblPr>
              <a:tblGrid>
                <a:gridCol w="1592242">
                  <a:extLst>
                    <a:ext uri="{9D8B030D-6E8A-4147-A177-3AD203B41FA5}">
                      <a16:colId xmlns:a16="http://schemas.microsoft.com/office/drawing/2014/main" val="2318645389"/>
                    </a:ext>
                  </a:extLst>
                </a:gridCol>
              </a:tblGrid>
              <a:tr h="1081548">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3" name="Table 32">
            <a:extLst>
              <a:ext uri="{FF2B5EF4-FFF2-40B4-BE49-F238E27FC236}">
                <a16:creationId xmlns:a16="http://schemas.microsoft.com/office/drawing/2014/main" id="{5189A14A-871F-DFCB-80B1-6FD86492BEF0}"/>
              </a:ext>
            </a:extLst>
          </p:cNvPr>
          <p:cNvGraphicFramePr>
            <a:graphicFrameLocks noGrp="1"/>
          </p:cNvGraphicFramePr>
          <p:nvPr>
            <p:extLst>
              <p:ext uri="{D42A27DB-BD31-4B8C-83A1-F6EECF244321}">
                <p14:modId xmlns:p14="http://schemas.microsoft.com/office/powerpoint/2010/main" val="2416316339"/>
              </p:ext>
            </p:extLst>
          </p:nvPr>
        </p:nvGraphicFramePr>
        <p:xfrm>
          <a:off x="1032386" y="2405539"/>
          <a:ext cx="2389239" cy="1281558"/>
        </p:xfrm>
        <a:graphic>
          <a:graphicData uri="http://schemas.openxmlformats.org/drawingml/2006/table">
            <a:tbl>
              <a:tblPr firstRow="1" bandRow="1">
                <a:tableStyleId>{5940675A-B579-460E-94D1-54222C63F5DA}</a:tableStyleId>
              </a:tblPr>
              <a:tblGrid>
                <a:gridCol w="2389239">
                  <a:extLst>
                    <a:ext uri="{9D8B030D-6E8A-4147-A177-3AD203B41FA5}">
                      <a16:colId xmlns:a16="http://schemas.microsoft.com/office/drawing/2014/main" val="2318645389"/>
                    </a:ext>
                  </a:extLst>
                </a:gridCol>
              </a:tblGrid>
              <a:tr h="1281558">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4" name="Table 33">
            <a:extLst>
              <a:ext uri="{FF2B5EF4-FFF2-40B4-BE49-F238E27FC236}">
                <a16:creationId xmlns:a16="http://schemas.microsoft.com/office/drawing/2014/main" id="{53B9A558-0C6E-F45A-B8FE-755D7DCBCC73}"/>
              </a:ext>
            </a:extLst>
          </p:cNvPr>
          <p:cNvGraphicFramePr>
            <a:graphicFrameLocks noGrp="1"/>
          </p:cNvGraphicFramePr>
          <p:nvPr>
            <p:extLst>
              <p:ext uri="{D42A27DB-BD31-4B8C-83A1-F6EECF244321}">
                <p14:modId xmlns:p14="http://schemas.microsoft.com/office/powerpoint/2010/main" val="3320122422"/>
              </p:ext>
            </p:extLst>
          </p:nvPr>
        </p:nvGraphicFramePr>
        <p:xfrm>
          <a:off x="282316" y="4415811"/>
          <a:ext cx="2225367" cy="984075"/>
        </p:xfrm>
        <a:graphic>
          <a:graphicData uri="http://schemas.openxmlformats.org/drawingml/2006/table">
            <a:tbl>
              <a:tblPr firstRow="1" bandRow="1">
                <a:tableStyleId>{5940675A-B579-460E-94D1-54222C63F5DA}</a:tableStyleId>
              </a:tblPr>
              <a:tblGrid>
                <a:gridCol w="2225367">
                  <a:extLst>
                    <a:ext uri="{9D8B030D-6E8A-4147-A177-3AD203B41FA5}">
                      <a16:colId xmlns:a16="http://schemas.microsoft.com/office/drawing/2014/main" val="2318645389"/>
                    </a:ext>
                  </a:extLst>
                </a:gridCol>
              </a:tblGrid>
              <a:tr h="984075">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5" name="Table 34">
            <a:extLst>
              <a:ext uri="{FF2B5EF4-FFF2-40B4-BE49-F238E27FC236}">
                <a16:creationId xmlns:a16="http://schemas.microsoft.com/office/drawing/2014/main" id="{0D1AC586-8CD7-00F7-C9DC-CFC350B1DC14}"/>
              </a:ext>
            </a:extLst>
          </p:cNvPr>
          <p:cNvGraphicFramePr>
            <a:graphicFrameLocks noGrp="1"/>
          </p:cNvGraphicFramePr>
          <p:nvPr>
            <p:extLst>
              <p:ext uri="{D42A27DB-BD31-4B8C-83A1-F6EECF244321}">
                <p14:modId xmlns:p14="http://schemas.microsoft.com/office/powerpoint/2010/main" val="3319049048"/>
              </p:ext>
            </p:extLst>
          </p:nvPr>
        </p:nvGraphicFramePr>
        <p:xfrm>
          <a:off x="2987220" y="4452462"/>
          <a:ext cx="2244125" cy="947424"/>
        </p:xfrm>
        <a:graphic>
          <a:graphicData uri="http://schemas.openxmlformats.org/drawingml/2006/table">
            <a:tbl>
              <a:tblPr firstRow="1" bandRow="1">
                <a:tableStyleId>{5940675A-B579-460E-94D1-54222C63F5DA}</a:tableStyleId>
              </a:tblPr>
              <a:tblGrid>
                <a:gridCol w="2244125">
                  <a:extLst>
                    <a:ext uri="{9D8B030D-6E8A-4147-A177-3AD203B41FA5}">
                      <a16:colId xmlns:a16="http://schemas.microsoft.com/office/drawing/2014/main" val="2318645389"/>
                    </a:ext>
                  </a:extLst>
                </a:gridCol>
              </a:tblGrid>
              <a:tr h="947424">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6" name="Table 35">
            <a:extLst>
              <a:ext uri="{FF2B5EF4-FFF2-40B4-BE49-F238E27FC236}">
                <a16:creationId xmlns:a16="http://schemas.microsoft.com/office/drawing/2014/main" id="{09D0E097-A7D7-E4C5-EB66-1571F4C8F485}"/>
              </a:ext>
            </a:extLst>
          </p:cNvPr>
          <p:cNvGraphicFramePr>
            <a:graphicFrameLocks noGrp="1"/>
          </p:cNvGraphicFramePr>
          <p:nvPr>
            <p:extLst>
              <p:ext uri="{D42A27DB-BD31-4B8C-83A1-F6EECF244321}">
                <p14:modId xmlns:p14="http://schemas.microsoft.com/office/powerpoint/2010/main" val="2278792747"/>
              </p:ext>
            </p:extLst>
          </p:nvPr>
        </p:nvGraphicFramePr>
        <p:xfrm>
          <a:off x="8159901" y="2405539"/>
          <a:ext cx="2601914" cy="1281558"/>
        </p:xfrm>
        <a:graphic>
          <a:graphicData uri="http://schemas.openxmlformats.org/drawingml/2006/table">
            <a:tbl>
              <a:tblPr firstRow="1" bandRow="1">
                <a:tableStyleId>{5940675A-B579-460E-94D1-54222C63F5DA}</a:tableStyleId>
              </a:tblPr>
              <a:tblGrid>
                <a:gridCol w="2601914">
                  <a:extLst>
                    <a:ext uri="{9D8B030D-6E8A-4147-A177-3AD203B41FA5}">
                      <a16:colId xmlns:a16="http://schemas.microsoft.com/office/drawing/2014/main" val="2318645389"/>
                    </a:ext>
                  </a:extLst>
                </a:gridCol>
              </a:tblGrid>
              <a:tr h="1281558">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7" name="Table 36">
            <a:extLst>
              <a:ext uri="{FF2B5EF4-FFF2-40B4-BE49-F238E27FC236}">
                <a16:creationId xmlns:a16="http://schemas.microsoft.com/office/drawing/2014/main" id="{77E15D99-6089-0376-340F-032273A0EFEA}"/>
              </a:ext>
            </a:extLst>
          </p:cNvPr>
          <p:cNvGraphicFramePr>
            <a:graphicFrameLocks noGrp="1"/>
          </p:cNvGraphicFramePr>
          <p:nvPr>
            <p:extLst>
              <p:ext uri="{D42A27DB-BD31-4B8C-83A1-F6EECF244321}">
                <p14:modId xmlns:p14="http://schemas.microsoft.com/office/powerpoint/2010/main" val="2142542097"/>
              </p:ext>
            </p:extLst>
          </p:nvPr>
        </p:nvGraphicFramePr>
        <p:xfrm>
          <a:off x="5802290" y="4467707"/>
          <a:ext cx="2384651" cy="895527"/>
        </p:xfrm>
        <a:graphic>
          <a:graphicData uri="http://schemas.openxmlformats.org/drawingml/2006/table">
            <a:tbl>
              <a:tblPr firstRow="1" bandRow="1">
                <a:tableStyleId>{5940675A-B579-460E-94D1-54222C63F5DA}</a:tableStyleId>
              </a:tblPr>
              <a:tblGrid>
                <a:gridCol w="2384651">
                  <a:extLst>
                    <a:ext uri="{9D8B030D-6E8A-4147-A177-3AD203B41FA5}">
                      <a16:colId xmlns:a16="http://schemas.microsoft.com/office/drawing/2014/main" val="2318645389"/>
                    </a:ext>
                  </a:extLst>
                </a:gridCol>
              </a:tblGrid>
              <a:tr h="895527">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8" name="Table 37">
            <a:extLst>
              <a:ext uri="{FF2B5EF4-FFF2-40B4-BE49-F238E27FC236}">
                <a16:creationId xmlns:a16="http://schemas.microsoft.com/office/drawing/2014/main" id="{C4A802B7-600D-DF84-68D9-218746FE20E5}"/>
              </a:ext>
            </a:extLst>
          </p:cNvPr>
          <p:cNvGraphicFramePr>
            <a:graphicFrameLocks noGrp="1"/>
          </p:cNvGraphicFramePr>
          <p:nvPr>
            <p:extLst>
              <p:ext uri="{D42A27DB-BD31-4B8C-83A1-F6EECF244321}">
                <p14:modId xmlns:p14="http://schemas.microsoft.com/office/powerpoint/2010/main" val="4273662618"/>
              </p:ext>
            </p:extLst>
          </p:nvPr>
        </p:nvGraphicFramePr>
        <p:xfrm>
          <a:off x="8757885" y="4452461"/>
          <a:ext cx="1054709" cy="910773"/>
        </p:xfrm>
        <a:graphic>
          <a:graphicData uri="http://schemas.openxmlformats.org/drawingml/2006/table">
            <a:tbl>
              <a:tblPr firstRow="1" bandRow="1">
                <a:tableStyleId>{5940675A-B579-460E-94D1-54222C63F5DA}</a:tableStyleId>
              </a:tblPr>
              <a:tblGrid>
                <a:gridCol w="1054709">
                  <a:extLst>
                    <a:ext uri="{9D8B030D-6E8A-4147-A177-3AD203B41FA5}">
                      <a16:colId xmlns:a16="http://schemas.microsoft.com/office/drawing/2014/main" val="2318645389"/>
                    </a:ext>
                  </a:extLst>
                </a:gridCol>
              </a:tblGrid>
              <a:tr h="910773">
                <a:tc>
                  <a:txBody>
                    <a:bodyPr/>
                    <a:lstStyle/>
                    <a:p>
                      <a:endParaRPr lang="en-US"/>
                    </a:p>
                  </a:txBody>
                  <a:tcPr/>
                </a:tc>
                <a:extLst>
                  <a:ext uri="{0D108BD9-81ED-4DB2-BD59-A6C34878D82A}">
                    <a16:rowId xmlns:a16="http://schemas.microsoft.com/office/drawing/2014/main" val="623786183"/>
                  </a:ext>
                </a:extLst>
              </a:tr>
            </a:tbl>
          </a:graphicData>
        </a:graphic>
      </p:graphicFrame>
      <p:graphicFrame>
        <p:nvGraphicFramePr>
          <p:cNvPr id="39" name="Table 38">
            <a:extLst>
              <a:ext uri="{FF2B5EF4-FFF2-40B4-BE49-F238E27FC236}">
                <a16:creationId xmlns:a16="http://schemas.microsoft.com/office/drawing/2014/main" id="{D8EE7B02-5C81-4CB2-0FAF-C24A52C809DB}"/>
              </a:ext>
            </a:extLst>
          </p:cNvPr>
          <p:cNvGraphicFramePr>
            <a:graphicFrameLocks noGrp="1"/>
          </p:cNvGraphicFramePr>
          <p:nvPr>
            <p:extLst>
              <p:ext uri="{D42A27DB-BD31-4B8C-83A1-F6EECF244321}">
                <p14:modId xmlns:p14="http://schemas.microsoft.com/office/powerpoint/2010/main" val="210864779"/>
              </p:ext>
            </p:extLst>
          </p:nvPr>
        </p:nvGraphicFramePr>
        <p:xfrm>
          <a:off x="10181531" y="4467708"/>
          <a:ext cx="1573523" cy="905862"/>
        </p:xfrm>
        <a:graphic>
          <a:graphicData uri="http://schemas.openxmlformats.org/drawingml/2006/table">
            <a:tbl>
              <a:tblPr firstRow="1" bandRow="1">
                <a:tableStyleId>{5940675A-B579-460E-94D1-54222C63F5DA}</a:tableStyleId>
              </a:tblPr>
              <a:tblGrid>
                <a:gridCol w="1573523">
                  <a:extLst>
                    <a:ext uri="{9D8B030D-6E8A-4147-A177-3AD203B41FA5}">
                      <a16:colId xmlns:a16="http://schemas.microsoft.com/office/drawing/2014/main" val="2318645389"/>
                    </a:ext>
                  </a:extLst>
                </a:gridCol>
              </a:tblGrid>
              <a:tr h="905862">
                <a:tc>
                  <a:txBody>
                    <a:bodyPr/>
                    <a:lstStyle/>
                    <a:p>
                      <a:endParaRPr lang="en-US"/>
                    </a:p>
                  </a:txBody>
                  <a:tcPr/>
                </a:tc>
                <a:extLst>
                  <a:ext uri="{0D108BD9-81ED-4DB2-BD59-A6C34878D82A}">
                    <a16:rowId xmlns:a16="http://schemas.microsoft.com/office/drawing/2014/main" val="623786183"/>
                  </a:ext>
                </a:extLst>
              </a:tr>
            </a:tbl>
          </a:graphicData>
        </a:graphic>
      </p:graphicFrame>
      <p:pic>
        <p:nvPicPr>
          <p:cNvPr id="43" name="Graphic 42" descr="Business Growth with solid fill">
            <a:extLst>
              <a:ext uri="{FF2B5EF4-FFF2-40B4-BE49-F238E27FC236}">
                <a16:creationId xmlns:a16="http://schemas.microsoft.com/office/drawing/2014/main" id="{E575D9BE-D234-0A8B-093C-3B31DF0C4A0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1346" y="1109586"/>
            <a:ext cx="570944" cy="570944"/>
          </a:xfrm>
          <a:prstGeom prst="rect">
            <a:avLst/>
          </a:prstGeom>
        </p:spPr>
      </p:pic>
      <p:cxnSp>
        <p:nvCxnSpPr>
          <p:cNvPr id="45" name="Straight Connector 44">
            <a:extLst>
              <a:ext uri="{FF2B5EF4-FFF2-40B4-BE49-F238E27FC236}">
                <a16:creationId xmlns:a16="http://schemas.microsoft.com/office/drawing/2014/main" id="{C14065F3-9CA3-B13E-C7D5-53BDF13A3CDC}"/>
              </a:ext>
            </a:extLst>
          </p:cNvPr>
          <p:cNvCxnSpPr/>
          <p:nvPr/>
        </p:nvCxnSpPr>
        <p:spPr>
          <a:xfrm flipH="1">
            <a:off x="2360152" y="1610427"/>
            <a:ext cx="287119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Straight Connector 46">
            <a:extLst>
              <a:ext uri="{FF2B5EF4-FFF2-40B4-BE49-F238E27FC236}">
                <a16:creationId xmlns:a16="http://schemas.microsoft.com/office/drawing/2014/main" id="{BE4D7297-8944-C834-20B1-FD03D681B853}"/>
              </a:ext>
            </a:extLst>
          </p:cNvPr>
          <p:cNvCxnSpPr/>
          <p:nvPr/>
        </p:nvCxnSpPr>
        <p:spPr>
          <a:xfrm>
            <a:off x="2360152" y="1610427"/>
            <a:ext cx="0" cy="795112"/>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Straight Connector 48">
            <a:extLst>
              <a:ext uri="{FF2B5EF4-FFF2-40B4-BE49-F238E27FC236}">
                <a16:creationId xmlns:a16="http://schemas.microsoft.com/office/drawing/2014/main" id="{AEC1EE31-12AD-B5A3-DA74-5F862690349C}"/>
              </a:ext>
            </a:extLst>
          </p:cNvPr>
          <p:cNvCxnSpPr/>
          <p:nvPr/>
        </p:nvCxnSpPr>
        <p:spPr>
          <a:xfrm>
            <a:off x="1501059" y="3687097"/>
            <a:ext cx="0" cy="728714"/>
          </a:xfrm>
          <a:prstGeom prst="line">
            <a:avLst/>
          </a:prstGeom>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0D7E44A5-C8A3-F5BE-0679-795365337018}"/>
              </a:ext>
            </a:extLst>
          </p:cNvPr>
          <p:cNvCxnSpPr>
            <a:cxnSpLocks/>
          </p:cNvCxnSpPr>
          <p:nvPr/>
        </p:nvCxnSpPr>
        <p:spPr>
          <a:xfrm>
            <a:off x="3293806" y="3687097"/>
            <a:ext cx="81547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Straight Connector 55">
            <a:extLst>
              <a:ext uri="{FF2B5EF4-FFF2-40B4-BE49-F238E27FC236}">
                <a16:creationId xmlns:a16="http://schemas.microsoft.com/office/drawing/2014/main" id="{58D053F2-A4D5-BBE3-5C11-8E9186855173}"/>
              </a:ext>
            </a:extLst>
          </p:cNvPr>
          <p:cNvCxnSpPr>
            <a:endCxn id="35" idx="0"/>
          </p:cNvCxnSpPr>
          <p:nvPr/>
        </p:nvCxnSpPr>
        <p:spPr>
          <a:xfrm>
            <a:off x="4109282" y="3687097"/>
            <a:ext cx="0" cy="765365"/>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Straight Connector 57">
            <a:extLst>
              <a:ext uri="{FF2B5EF4-FFF2-40B4-BE49-F238E27FC236}">
                <a16:creationId xmlns:a16="http://schemas.microsoft.com/office/drawing/2014/main" id="{13E94E35-41CC-C4E8-2C47-FF607586E70C}"/>
              </a:ext>
            </a:extLst>
          </p:cNvPr>
          <p:cNvCxnSpPr/>
          <p:nvPr/>
        </p:nvCxnSpPr>
        <p:spPr>
          <a:xfrm>
            <a:off x="6823588" y="1680530"/>
            <a:ext cx="234990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Straight Connector 59">
            <a:extLst>
              <a:ext uri="{FF2B5EF4-FFF2-40B4-BE49-F238E27FC236}">
                <a16:creationId xmlns:a16="http://schemas.microsoft.com/office/drawing/2014/main" id="{ADFB34F4-6F24-1F1E-D615-602C2ABE232F}"/>
              </a:ext>
            </a:extLst>
          </p:cNvPr>
          <p:cNvCxnSpPr/>
          <p:nvPr/>
        </p:nvCxnSpPr>
        <p:spPr>
          <a:xfrm>
            <a:off x="9163665" y="1680530"/>
            <a:ext cx="0" cy="725009"/>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Straight Connector 61">
            <a:extLst>
              <a:ext uri="{FF2B5EF4-FFF2-40B4-BE49-F238E27FC236}">
                <a16:creationId xmlns:a16="http://schemas.microsoft.com/office/drawing/2014/main" id="{DA482702-E399-17DB-5733-888D90E29994}"/>
              </a:ext>
            </a:extLst>
          </p:cNvPr>
          <p:cNvCxnSpPr/>
          <p:nvPr/>
        </p:nvCxnSpPr>
        <p:spPr>
          <a:xfrm flipH="1">
            <a:off x="6823588" y="3046318"/>
            <a:ext cx="1336313"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6D176A76-AC40-95F3-EF6C-4BD8EF1492A3}"/>
              </a:ext>
            </a:extLst>
          </p:cNvPr>
          <p:cNvCxnSpPr/>
          <p:nvPr/>
        </p:nvCxnSpPr>
        <p:spPr>
          <a:xfrm>
            <a:off x="6823588" y="3046318"/>
            <a:ext cx="0" cy="1421389"/>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Straight Connector 65">
            <a:extLst>
              <a:ext uri="{FF2B5EF4-FFF2-40B4-BE49-F238E27FC236}">
                <a16:creationId xmlns:a16="http://schemas.microsoft.com/office/drawing/2014/main" id="{7AEA583B-C925-18E7-E4D7-78E892BF8D45}"/>
              </a:ext>
            </a:extLst>
          </p:cNvPr>
          <p:cNvCxnSpPr>
            <a:endCxn id="38" idx="0"/>
          </p:cNvCxnSpPr>
          <p:nvPr/>
        </p:nvCxnSpPr>
        <p:spPr>
          <a:xfrm>
            <a:off x="9285239" y="3687097"/>
            <a:ext cx="0" cy="765364"/>
          </a:xfrm>
          <a:prstGeom prst="line">
            <a:avLst/>
          </a:prstGeom>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id="{44F68E44-1BAD-2BB5-4205-7AE7D5796F12}"/>
              </a:ext>
            </a:extLst>
          </p:cNvPr>
          <p:cNvCxnSpPr/>
          <p:nvPr/>
        </p:nvCxnSpPr>
        <p:spPr>
          <a:xfrm>
            <a:off x="10761815" y="3046318"/>
            <a:ext cx="555114"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70" name="Straight Connector 69">
            <a:extLst>
              <a:ext uri="{FF2B5EF4-FFF2-40B4-BE49-F238E27FC236}">
                <a16:creationId xmlns:a16="http://schemas.microsoft.com/office/drawing/2014/main" id="{889536FE-DF7F-F700-2D0B-D51810B14769}"/>
              </a:ext>
            </a:extLst>
          </p:cNvPr>
          <p:cNvCxnSpPr/>
          <p:nvPr/>
        </p:nvCxnSpPr>
        <p:spPr>
          <a:xfrm>
            <a:off x="11316929" y="3046318"/>
            <a:ext cx="0" cy="1421389"/>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25627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00B81-20D3-3A64-8791-BE1072AF929C}"/>
              </a:ext>
            </a:extLst>
          </p:cNvPr>
          <p:cNvSpPr>
            <a:spLocks noGrp="1"/>
          </p:cNvSpPr>
          <p:nvPr>
            <p:ph type="title"/>
          </p:nvPr>
        </p:nvSpPr>
        <p:spPr>
          <a:xfrm>
            <a:off x="415413" y="138984"/>
            <a:ext cx="3615813" cy="903236"/>
          </a:xfrm>
        </p:spPr>
        <p:txBody>
          <a:bodyPr/>
          <a:lstStyle/>
          <a:p>
            <a:r>
              <a:rPr lang="en-US">
                <a:solidFill>
                  <a:srgbClr val="FF0000"/>
                </a:solidFill>
              </a:rPr>
              <a:t>CHỨC NĂNG</a:t>
            </a:r>
            <a:endParaRPr lang="en-US"/>
          </a:p>
        </p:txBody>
      </p:sp>
      <p:sp>
        <p:nvSpPr>
          <p:cNvPr id="4" name="TextBox 3">
            <a:extLst>
              <a:ext uri="{FF2B5EF4-FFF2-40B4-BE49-F238E27FC236}">
                <a16:creationId xmlns:a16="http://schemas.microsoft.com/office/drawing/2014/main" id="{8AC02956-0C5E-226A-A688-4C730976D7CC}"/>
              </a:ext>
            </a:extLst>
          </p:cNvPr>
          <p:cNvSpPr txBox="1"/>
          <p:nvPr/>
        </p:nvSpPr>
        <p:spPr>
          <a:xfrm>
            <a:off x="5555226" y="1388264"/>
            <a:ext cx="1081548" cy="369332"/>
          </a:xfrm>
          <a:prstGeom prst="rect">
            <a:avLst/>
          </a:prstGeom>
          <a:noFill/>
        </p:spPr>
        <p:txBody>
          <a:bodyPr wrap="square">
            <a:spAutoFit/>
          </a:bodyPr>
          <a:lstStyle/>
          <a:p>
            <a:r>
              <a:rPr lang="en-US">
                <a:solidFill>
                  <a:srgbClr val="FF0000"/>
                </a:solidFill>
              </a:rPr>
              <a:t>ADMIN</a:t>
            </a:r>
            <a:r>
              <a:rPr lang="en-US"/>
              <a:t>  </a:t>
            </a:r>
          </a:p>
        </p:txBody>
      </p:sp>
      <p:graphicFrame>
        <p:nvGraphicFramePr>
          <p:cNvPr id="5" name="Table 4">
            <a:extLst>
              <a:ext uri="{FF2B5EF4-FFF2-40B4-BE49-F238E27FC236}">
                <a16:creationId xmlns:a16="http://schemas.microsoft.com/office/drawing/2014/main" id="{1F336711-8EE3-82B2-16BF-3C6DE33B9552}"/>
              </a:ext>
            </a:extLst>
          </p:cNvPr>
          <p:cNvGraphicFramePr>
            <a:graphicFrameLocks noGrp="1"/>
          </p:cNvGraphicFramePr>
          <p:nvPr>
            <p:extLst>
              <p:ext uri="{D42A27DB-BD31-4B8C-83A1-F6EECF244321}">
                <p14:modId xmlns:p14="http://schemas.microsoft.com/office/powerpoint/2010/main" val="764879261"/>
              </p:ext>
            </p:extLst>
          </p:nvPr>
        </p:nvGraphicFramePr>
        <p:xfrm>
          <a:off x="4906297" y="1167351"/>
          <a:ext cx="2180711" cy="806706"/>
        </p:xfrm>
        <a:graphic>
          <a:graphicData uri="http://schemas.openxmlformats.org/drawingml/2006/table">
            <a:tbl>
              <a:tblPr firstRow="1" bandRow="1">
                <a:tableStyleId>{5940675A-B579-460E-94D1-54222C63F5DA}</a:tableStyleId>
              </a:tblPr>
              <a:tblGrid>
                <a:gridCol w="2180711">
                  <a:extLst>
                    <a:ext uri="{9D8B030D-6E8A-4147-A177-3AD203B41FA5}">
                      <a16:colId xmlns:a16="http://schemas.microsoft.com/office/drawing/2014/main" val="2774198329"/>
                    </a:ext>
                  </a:extLst>
                </a:gridCol>
              </a:tblGrid>
              <a:tr h="806706">
                <a:tc>
                  <a:txBody>
                    <a:bodyPr/>
                    <a:lstStyle/>
                    <a:p>
                      <a:endParaRPr lang="en-US"/>
                    </a:p>
                  </a:txBody>
                  <a:tcPr/>
                </a:tc>
                <a:extLst>
                  <a:ext uri="{0D108BD9-81ED-4DB2-BD59-A6C34878D82A}">
                    <a16:rowId xmlns:a16="http://schemas.microsoft.com/office/drawing/2014/main" val="2475706333"/>
                  </a:ext>
                </a:extLst>
              </a:tr>
            </a:tbl>
          </a:graphicData>
        </a:graphic>
      </p:graphicFrame>
      <p:graphicFrame>
        <p:nvGraphicFramePr>
          <p:cNvPr id="7" name="Table 6">
            <a:extLst>
              <a:ext uri="{FF2B5EF4-FFF2-40B4-BE49-F238E27FC236}">
                <a16:creationId xmlns:a16="http://schemas.microsoft.com/office/drawing/2014/main" id="{F29BF0C7-851B-B67A-5C83-500D2A248E02}"/>
              </a:ext>
            </a:extLst>
          </p:cNvPr>
          <p:cNvGraphicFramePr>
            <a:graphicFrameLocks noGrp="1"/>
          </p:cNvGraphicFramePr>
          <p:nvPr>
            <p:extLst>
              <p:ext uri="{D42A27DB-BD31-4B8C-83A1-F6EECF244321}">
                <p14:modId xmlns:p14="http://schemas.microsoft.com/office/powerpoint/2010/main" val="3459698779"/>
              </p:ext>
            </p:extLst>
          </p:nvPr>
        </p:nvGraphicFramePr>
        <p:xfrm>
          <a:off x="943897" y="3706761"/>
          <a:ext cx="3539613" cy="2084439"/>
        </p:xfrm>
        <a:graphic>
          <a:graphicData uri="http://schemas.openxmlformats.org/drawingml/2006/table">
            <a:tbl>
              <a:tblPr firstRow="1" bandRow="1">
                <a:tableStyleId>{5940675A-B579-460E-94D1-54222C63F5DA}</a:tableStyleId>
              </a:tblPr>
              <a:tblGrid>
                <a:gridCol w="3539613">
                  <a:extLst>
                    <a:ext uri="{9D8B030D-6E8A-4147-A177-3AD203B41FA5}">
                      <a16:colId xmlns:a16="http://schemas.microsoft.com/office/drawing/2014/main" val="2774198329"/>
                    </a:ext>
                  </a:extLst>
                </a:gridCol>
              </a:tblGrid>
              <a:tr h="2084439">
                <a:tc>
                  <a:txBody>
                    <a:bodyPr/>
                    <a:lstStyle/>
                    <a:p>
                      <a:endParaRPr lang="en-US"/>
                    </a:p>
                  </a:txBody>
                  <a:tcPr/>
                </a:tc>
                <a:extLst>
                  <a:ext uri="{0D108BD9-81ED-4DB2-BD59-A6C34878D82A}">
                    <a16:rowId xmlns:a16="http://schemas.microsoft.com/office/drawing/2014/main" val="2475706333"/>
                  </a:ext>
                </a:extLst>
              </a:tr>
            </a:tbl>
          </a:graphicData>
        </a:graphic>
      </p:graphicFrame>
      <p:graphicFrame>
        <p:nvGraphicFramePr>
          <p:cNvPr id="9" name="Table 8">
            <a:extLst>
              <a:ext uri="{FF2B5EF4-FFF2-40B4-BE49-F238E27FC236}">
                <a16:creationId xmlns:a16="http://schemas.microsoft.com/office/drawing/2014/main" id="{D9464835-20EA-C690-986D-70D6D624BEDF}"/>
              </a:ext>
            </a:extLst>
          </p:cNvPr>
          <p:cNvGraphicFramePr>
            <a:graphicFrameLocks noGrp="1"/>
          </p:cNvGraphicFramePr>
          <p:nvPr>
            <p:extLst>
              <p:ext uri="{D42A27DB-BD31-4B8C-83A1-F6EECF244321}">
                <p14:modId xmlns:p14="http://schemas.microsoft.com/office/powerpoint/2010/main" val="2532060736"/>
              </p:ext>
            </p:extLst>
          </p:nvPr>
        </p:nvGraphicFramePr>
        <p:xfrm>
          <a:off x="7943439" y="3706761"/>
          <a:ext cx="3441290" cy="2084439"/>
        </p:xfrm>
        <a:graphic>
          <a:graphicData uri="http://schemas.openxmlformats.org/drawingml/2006/table">
            <a:tbl>
              <a:tblPr firstRow="1" bandRow="1">
                <a:tableStyleId>{5940675A-B579-460E-94D1-54222C63F5DA}</a:tableStyleId>
              </a:tblPr>
              <a:tblGrid>
                <a:gridCol w="3441290">
                  <a:extLst>
                    <a:ext uri="{9D8B030D-6E8A-4147-A177-3AD203B41FA5}">
                      <a16:colId xmlns:a16="http://schemas.microsoft.com/office/drawing/2014/main" val="2774198329"/>
                    </a:ext>
                  </a:extLst>
                </a:gridCol>
              </a:tblGrid>
              <a:tr h="2084439">
                <a:tc>
                  <a:txBody>
                    <a:bodyPr/>
                    <a:lstStyle/>
                    <a:p>
                      <a:endParaRPr lang="en-US"/>
                    </a:p>
                  </a:txBody>
                  <a:tcPr/>
                </a:tc>
                <a:extLst>
                  <a:ext uri="{0D108BD9-81ED-4DB2-BD59-A6C34878D82A}">
                    <a16:rowId xmlns:a16="http://schemas.microsoft.com/office/drawing/2014/main" val="2475706333"/>
                  </a:ext>
                </a:extLst>
              </a:tr>
            </a:tbl>
          </a:graphicData>
        </a:graphic>
      </p:graphicFrame>
      <p:sp>
        <p:nvSpPr>
          <p:cNvPr id="11" name="TextBox 10">
            <a:extLst>
              <a:ext uri="{FF2B5EF4-FFF2-40B4-BE49-F238E27FC236}">
                <a16:creationId xmlns:a16="http://schemas.microsoft.com/office/drawing/2014/main" id="{CD3707ED-B6FA-F251-8CCA-B49C2EEF2BF2}"/>
              </a:ext>
            </a:extLst>
          </p:cNvPr>
          <p:cNvSpPr txBox="1"/>
          <p:nvPr/>
        </p:nvSpPr>
        <p:spPr>
          <a:xfrm>
            <a:off x="1315066" y="4509614"/>
            <a:ext cx="2949677" cy="369332"/>
          </a:xfrm>
          <a:prstGeom prst="rect">
            <a:avLst/>
          </a:prstGeom>
          <a:noFill/>
        </p:spPr>
        <p:txBody>
          <a:bodyPr wrap="square">
            <a:spAutoFit/>
          </a:bodyPr>
          <a:lstStyle/>
          <a:p>
            <a:r>
              <a:rPr lang="en-US"/>
              <a:t>QUẢN LÝ NGƯỜI DÙNG  </a:t>
            </a:r>
          </a:p>
        </p:txBody>
      </p:sp>
      <p:sp>
        <p:nvSpPr>
          <p:cNvPr id="13" name="TextBox 12">
            <a:extLst>
              <a:ext uri="{FF2B5EF4-FFF2-40B4-BE49-F238E27FC236}">
                <a16:creationId xmlns:a16="http://schemas.microsoft.com/office/drawing/2014/main" id="{1DC88527-68F2-79AD-AB36-AEEA68E3E33C}"/>
              </a:ext>
            </a:extLst>
          </p:cNvPr>
          <p:cNvSpPr txBox="1"/>
          <p:nvPr/>
        </p:nvSpPr>
        <p:spPr>
          <a:xfrm>
            <a:off x="8288594" y="4416520"/>
            <a:ext cx="3441290" cy="369331"/>
          </a:xfrm>
          <a:prstGeom prst="rect">
            <a:avLst/>
          </a:prstGeom>
          <a:noFill/>
        </p:spPr>
        <p:txBody>
          <a:bodyPr wrap="square">
            <a:spAutoFit/>
          </a:bodyPr>
          <a:lstStyle/>
          <a:p>
            <a:r>
              <a:rPr lang="en-US"/>
              <a:t>THÊM, SỬA, XÓA, DUYỆT  </a:t>
            </a:r>
          </a:p>
        </p:txBody>
      </p:sp>
      <p:cxnSp>
        <p:nvCxnSpPr>
          <p:cNvPr id="15" name="Straight Connector 14">
            <a:extLst>
              <a:ext uri="{FF2B5EF4-FFF2-40B4-BE49-F238E27FC236}">
                <a16:creationId xmlns:a16="http://schemas.microsoft.com/office/drawing/2014/main" id="{35292E0C-B12A-935C-15B9-553CA41EBD45}"/>
              </a:ext>
            </a:extLst>
          </p:cNvPr>
          <p:cNvCxnSpPr>
            <a:cxnSpLocks/>
          </p:cNvCxnSpPr>
          <p:nvPr/>
        </p:nvCxnSpPr>
        <p:spPr>
          <a:xfrm flipH="1">
            <a:off x="2713703" y="1572930"/>
            <a:ext cx="2192594" cy="914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829307D8-5F20-BD3D-8217-9C013CFC4C8B}"/>
              </a:ext>
            </a:extLst>
          </p:cNvPr>
          <p:cNvCxnSpPr>
            <a:cxnSpLocks/>
          </p:cNvCxnSpPr>
          <p:nvPr/>
        </p:nvCxnSpPr>
        <p:spPr>
          <a:xfrm>
            <a:off x="7098891" y="1474492"/>
            <a:ext cx="2467896" cy="816424"/>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FAE3366D-DE23-D26C-7ACF-A9E80B4F668C}"/>
              </a:ext>
            </a:extLst>
          </p:cNvPr>
          <p:cNvCxnSpPr>
            <a:endCxn id="7" idx="0"/>
          </p:cNvCxnSpPr>
          <p:nvPr/>
        </p:nvCxnSpPr>
        <p:spPr>
          <a:xfrm>
            <a:off x="2713703" y="2487330"/>
            <a:ext cx="0" cy="1219431"/>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8ABC343D-FD33-27B1-A487-70885FAD1986}"/>
              </a:ext>
            </a:extLst>
          </p:cNvPr>
          <p:cNvCxnSpPr>
            <a:cxnSpLocks/>
          </p:cNvCxnSpPr>
          <p:nvPr/>
        </p:nvCxnSpPr>
        <p:spPr>
          <a:xfrm>
            <a:off x="9566787" y="2271252"/>
            <a:ext cx="0" cy="1435509"/>
          </a:xfrm>
          <a:prstGeom prst="line">
            <a:avLst/>
          </a:prstGeom>
        </p:spPr>
        <p:style>
          <a:lnRef idx="2">
            <a:schemeClr val="accent1"/>
          </a:lnRef>
          <a:fillRef idx="0">
            <a:schemeClr val="accent1"/>
          </a:fillRef>
          <a:effectRef idx="1">
            <a:schemeClr val="accent1"/>
          </a:effectRef>
          <a:fontRef idx="minor">
            <a:schemeClr val="tx1"/>
          </a:fontRef>
        </p:style>
      </p:cxnSp>
      <p:pic>
        <p:nvPicPr>
          <p:cNvPr id="23" name="Graphic 22" descr="Confused person with solid fill">
            <a:extLst>
              <a:ext uri="{FF2B5EF4-FFF2-40B4-BE49-F238E27FC236}">
                <a16:creationId xmlns:a16="http://schemas.microsoft.com/office/drawing/2014/main" id="{8FF864EC-F32B-7683-F258-1EFC794B1A0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4862051" y="1224117"/>
            <a:ext cx="693174" cy="693174"/>
          </a:xfrm>
          <a:prstGeom prst="rect">
            <a:avLst/>
          </a:prstGeom>
        </p:spPr>
      </p:pic>
      <p:pic>
        <p:nvPicPr>
          <p:cNvPr id="31" name="Graphic 30" descr="Clipboard with solid fill">
            <a:extLst>
              <a:ext uri="{FF2B5EF4-FFF2-40B4-BE49-F238E27FC236}">
                <a16:creationId xmlns:a16="http://schemas.microsoft.com/office/drawing/2014/main" id="{DCB0B690-DEAD-297B-23A6-E8574654651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43897" y="3678788"/>
            <a:ext cx="521108" cy="521108"/>
          </a:xfrm>
          <a:prstGeom prst="rect">
            <a:avLst/>
          </a:prstGeom>
        </p:spPr>
      </p:pic>
      <p:pic>
        <p:nvPicPr>
          <p:cNvPr id="33" name="Graphic 32" descr="Arrow circle with solid fill">
            <a:extLst>
              <a:ext uri="{FF2B5EF4-FFF2-40B4-BE49-F238E27FC236}">
                <a16:creationId xmlns:a16="http://schemas.microsoft.com/office/drawing/2014/main" id="{7FA5EFC3-B84E-0A71-0DA2-D70FB5F6471A}"/>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818351" y="3758787"/>
            <a:ext cx="566378" cy="566378"/>
          </a:xfrm>
          <a:prstGeom prst="rect">
            <a:avLst/>
          </a:prstGeom>
        </p:spPr>
      </p:pic>
    </p:spTree>
    <p:extLst>
      <p:ext uri="{BB962C8B-B14F-4D97-AF65-F5344CB8AC3E}">
        <p14:creationId xmlns:p14="http://schemas.microsoft.com/office/powerpoint/2010/main" val="23554602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E869A-BC21-B9DE-49DE-C96CDCF9A3B7}"/>
              </a:ext>
            </a:extLst>
          </p:cNvPr>
          <p:cNvSpPr>
            <a:spLocks noGrp="1"/>
          </p:cNvSpPr>
          <p:nvPr>
            <p:ph type="title"/>
          </p:nvPr>
        </p:nvSpPr>
        <p:spPr>
          <a:xfrm>
            <a:off x="138881" y="70158"/>
            <a:ext cx="6722806" cy="1031056"/>
          </a:xfrm>
        </p:spPr>
        <p:txBody>
          <a:bodyPr/>
          <a:lstStyle/>
          <a:p>
            <a:r>
              <a:rPr lang="en-US">
                <a:solidFill>
                  <a:srgbClr val="FF0000"/>
                </a:solidFill>
              </a:rPr>
              <a:t>QUY TRÌNH VẬN HÀNH</a:t>
            </a:r>
          </a:p>
        </p:txBody>
      </p:sp>
      <p:sp>
        <p:nvSpPr>
          <p:cNvPr id="3" name="Content Placeholder 2">
            <a:extLst>
              <a:ext uri="{FF2B5EF4-FFF2-40B4-BE49-F238E27FC236}">
                <a16:creationId xmlns:a16="http://schemas.microsoft.com/office/drawing/2014/main" id="{32AA71A2-2A4A-8CEE-2969-228BDF541B21}"/>
              </a:ext>
            </a:extLst>
          </p:cNvPr>
          <p:cNvSpPr>
            <a:spLocks noGrp="1"/>
          </p:cNvSpPr>
          <p:nvPr>
            <p:ph idx="1"/>
          </p:nvPr>
        </p:nvSpPr>
        <p:spPr>
          <a:xfrm>
            <a:off x="868311" y="2285040"/>
            <a:ext cx="3714136" cy="1031056"/>
          </a:xfrm>
        </p:spPr>
        <p:txBody>
          <a:bodyPr>
            <a:normAutofit fontScale="77500" lnSpcReduction="20000"/>
          </a:bodyPr>
          <a:lstStyle/>
          <a:p>
            <a:pPr marL="0" indent="0">
              <a:buNone/>
            </a:pPr>
            <a:r>
              <a:rPr lang="en-US"/>
              <a:t>                  </a:t>
            </a:r>
            <a:r>
              <a:rPr lang="en-US" sz="2200" b="1">
                <a:solidFill>
                  <a:srgbClr val="FF0000"/>
                </a:solidFill>
              </a:rPr>
              <a:t>NGƯỜI DÙNG </a:t>
            </a:r>
          </a:p>
          <a:p>
            <a:pPr marL="0" indent="0">
              <a:buNone/>
            </a:pPr>
            <a:r>
              <a:rPr lang="en-US" sz="2000">
                <a:solidFill>
                  <a:schemeClr val="tx1">
                    <a:lumMod val="85000"/>
                    <a:lumOff val="15000"/>
                  </a:schemeClr>
                </a:solidFill>
              </a:rPr>
              <a:t>Truy cập trang website,Xem các bài viết của người khác, tìm kiếm thông tin           </a:t>
            </a:r>
          </a:p>
        </p:txBody>
      </p:sp>
      <p:sp>
        <p:nvSpPr>
          <p:cNvPr id="7" name="TextBox 6">
            <a:extLst>
              <a:ext uri="{FF2B5EF4-FFF2-40B4-BE49-F238E27FC236}">
                <a16:creationId xmlns:a16="http://schemas.microsoft.com/office/drawing/2014/main" id="{02ACECAE-EFAC-D9FD-7CF9-B0924010552E}"/>
              </a:ext>
            </a:extLst>
          </p:cNvPr>
          <p:cNvSpPr txBox="1"/>
          <p:nvPr/>
        </p:nvSpPr>
        <p:spPr>
          <a:xfrm>
            <a:off x="4002345" y="4817388"/>
            <a:ext cx="3636707" cy="600164"/>
          </a:xfrm>
          <a:prstGeom prst="rect">
            <a:avLst/>
          </a:prstGeom>
          <a:noFill/>
        </p:spPr>
        <p:txBody>
          <a:bodyPr wrap="square">
            <a:spAutoFit/>
          </a:bodyPr>
          <a:lstStyle/>
          <a:p>
            <a:pPr marL="0" indent="0">
              <a:buNone/>
            </a:pPr>
            <a:r>
              <a:rPr lang="en-US" sz="1700">
                <a:solidFill>
                  <a:srgbClr val="FF0000"/>
                </a:solidFill>
              </a:rPr>
              <a:t>                         </a:t>
            </a:r>
            <a:r>
              <a:rPr lang="en-US" sz="1700" b="1">
                <a:solidFill>
                  <a:srgbClr val="FF0000"/>
                </a:solidFill>
              </a:rPr>
              <a:t>ĐĂNG BÀI</a:t>
            </a:r>
          </a:p>
          <a:p>
            <a:pPr marL="0" indent="0">
              <a:buNone/>
            </a:pPr>
            <a:r>
              <a:rPr lang="en-US" sz="1600">
                <a:solidFill>
                  <a:schemeClr val="bg2">
                    <a:lumMod val="25000"/>
                  </a:schemeClr>
                </a:solidFill>
              </a:rPr>
              <a:t>        Đăng bài viết lên trang , có ảnh</a:t>
            </a:r>
          </a:p>
        </p:txBody>
      </p:sp>
      <p:sp>
        <p:nvSpPr>
          <p:cNvPr id="9" name="TextBox 8">
            <a:extLst>
              <a:ext uri="{FF2B5EF4-FFF2-40B4-BE49-F238E27FC236}">
                <a16:creationId xmlns:a16="http://schemas.microsoft.com/office/drawing/2014/main" id="{D1884038-0DFE-AFB2-9F69-7F1EB9CFBE6D}"/>
              </a:ext>
            </a:extLst>
          </p:cNvPr>
          <p:cNvSpPr txBox="1"/>
          <p:nvPr/>
        </p:nvSpPr>
        <p:spPr>
          <a:xfrm>
            <a:off x="8125747" y="2387254"/>
            <a:ext cx="3197942" cy="584775"/>
          </a:xfrm>
          <a:prstGeom prst="rect">
            <a:avLst/>
          </a:prstGeom>
          <a:noFill/>
        </p:spPr>
        <p:txBody>
          <a:bodyPr wrap="square">
            <a:spAutoFit/>
          </a:bodyPr>
          <a:lstStyle/>
          <a:p>
            <a:pPr marL="0" indent="0" algn="ctr">
              <a:buNone/>
            </a:pPr>
            <a:r>
              <a:rPr lang="en-US" sz="1600" b="1">
                <a:solidFill>
                  <a:srgbClr val="FF0000"/>
                </a:solidFill>
              </a:rPr>
              <a:t>CHỜ DUYỆT</a:t>
            </a:r>
          </a:p>
          <a:p>
            <a:pPr marL="0" indent="0">
              <a:buNone/>
            </a:pPr>
            <a:r>
              <a:rPr lang="en-US" sz="1600" b="1">
                <a:solidFill>
                  <a:schemeClr val="bg2">
                    <a:lumMod val="50000"/>
                  </a:schemeClr>
                </a:solidFill>
              </a:rPr>
              <a:t>   Admin sẽ duyệt bài hoặc không</a:t>
            </a:r>
          </a:p>
        </p:txBody>
      </p:sp>
      <p:cxnSp>
        <p:nvCxnSpPr>
          <p:cNvPr id="11" name="Straight Connector 10">
            <a:extLst>
              <a:ext uri="{FF2B5EF4-FFF2-40B4-BE49-F238E27FC236}">
                <a16:creationId xmlns:a16="http://schemas.microsoft.com/office/drawing/2014/main" id="{73B42C90-2E69-166B-0666-51585256EF2A}"/>
              </a:ext>
            </a:extLst>
          </p:cNvPr>
          <p:cNvCxnSpPr/>
          <p:nvPr/>
        </p:nvCxnSpPr>
        <p:spPr>
          <a:xfrm>
            <a:off x="1179871" y="3972232"/>
            <a:ext cx="10068232" cy="0"/>
          </a:xfrm>
          <a:prstGeom prst="line">
            <a:avLst/>
          </a:prstGeom>
        </p:spPr>
        <p:style>
          <a:lnRef idx="2">
            <a:schemeClr val="accent1"/>
          </a:lnRef>
          <a:fillRef idx="0">
            <a:schemeClr val="accent1"/>
          </a:fillRef>
          <a:effectRef idx="1">
            <a:schemeClr val="accent1"/>
          </a:effectRef>
          <a:fontRef idx="minor">
            <a:schemeClr val="tx1"/>
          </a:fontRef>
        </p:style>
      </p:cxnSp>
      <p:sp>
        <p:nvSpPr>
          <p:cNvPr id="15" name="Flowchart: Connector 14">
            <a:extLst>
              <a:ext uri="{FF2B5EF4-FFF2-40B4-BE49-F238E27FC236}">
                <a16:creationId xmlns:a16="http://schemas.microsoft.com/office/drawing/2014/main" id="{C799157A-05FB-60FE-A46A-B77D87F5F880}"/>
              </a:ext>
            </a:extLst>
          </p:cNvPr>
          <p:cNvSpPr/>
          <p:nvPr/>
        </p:nvSpPr>
        <p:spPr>
          <a:xfrm>
            <a:off x="1474839" y="3785419"/>
            <a:ext cx="373626" cy="39328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1</a:t>
            </a:r>
          </a:p>
        </p:txBody>
      </p:sp>
      <p:sp>
        <p:nvSpPr>
          <p:cNvPr id="16" name="Flowchart: Connector 15">
            <a:extLst>
              <a:ext uri="{FF2B5EF4-FFF2-40B4-BE49-F238E27FC236}">
                <a16:creationId xmlns:a16="http://schemas.microsoft.com/office/drawing/2014/main" id="{EA7305BB-7226-0994-7B1D-B68AE667F0A6}"/>
              </a:ext>
            </a:extLst>
          </p:cNvPr>
          <p:cNvSpPr/>
          <p:nvPr/>
        </p:nvSpPr>
        <p:spPr>
          <a:xfrm>
            <a:off x="5633886" y="3741168"/>
            <a:ext cx="373626" cy="39328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2</a:t>
            </a:r>
          </a:p>
        </p:txBody>
      </p:sp>
      <p:sp>
        <p:nvSpPr>
          <p:cNvPr id="17" name="Flowchart: Connector 16">
            <a:extLst>
              <a:ext uri="{FF2B5EF4-FFF2-40B4-BE49-F238E27FC236}">
                <a16:creationId xmlns:a16="http://schemas.microsoft.com/office/drawing/2014/main" id="{C6107E9D-D95B-3D47-CC46-1E1A5FBF980D}"/>
              </a:ext>
            </a:extLst>
          </p:cNvPr>
          <p:cNvSpPr/>
          <p:nvPr/>
        </p:nvSpPr>
        <p:spPr>
          <a:xfrm>
            <a:off x="9635617" y="3800162"/>
            <a:ext cx="373626" cy="393281"/>
          </a:xfrm>
          <a:prstGeom prst="flowChartConnector">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3</a:t>
            </a:r>
          </a:p>
        </p:txBody>
      </p:sp>
      <p:cxnSp>
        <p:nvCxnSpPr>
          <p:cNvPr id="19" name="Straight Connector 18">
            <a:extLst>
              <a:ext uri="{FF2B5EF4-FFF2-40B4-BE49-F238E27FC236}">
                <a16:creationId xmlns:a16="http://schemas.microsoft.com/office/drawing/2014/main" id="{AE8CA0D1-96A7-2438-3CF6-D25BE2A133A8}"/>
              </a:ext>
            </a:extLst>
          </p:cNvPr>
          <p:cNvCxnSpPr>
            <a:cxnSpLocks/>
            <a:stCxn id="15" idx="4"/>
          </p:cNvCxnSpPr>
          <p:nvPr/>
        </p:nvCxnSpPr>
        <p:spPr>
          <a:xfrm>
            <a:off x="1661652" y="4178700"/>
            <a:ext cx="0" cy="1160216"/>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97F8E60D-5AB2-8644-01C2-5045EFB29810}"/>
              </a:ext>
            </a:extLst>
          </p:cNvPr>
          <p:cNvCxnSpPr>
            <a:cxnSpLocks/>
          </p:cNvCxnSpPr>
          <p:nvPr/>
        </p:nvCxnSpPr>
        <p:spPr>
          <a:xfrm flipV="1">
            <a:off x="5810870" y="2458065"/>
            <a:ext cx="0" cy="1283103"/>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7BDB5716-F0F1-EF5A-5FF6-0FD63C4CD847}"/>
              </a:ext>
            </a:extLst>
          </p:cNvPr>
          <p:cNvCxnSpPr>
            <a:stCxn id="17" idx="4"/>
          </p:cNvCxnSpPr>
          <p:nvPr/>
        </p:nvCxnSpPr>
        <p:spPr>
          <a:xfrm>
            <a:off x="9822430" y="4193443"/>
            <a:ext cx="0" cy="1145473"/>
          </a:xfrm>
          <a:prstGeom prst="line">
            <a:avLst/>
          </a:prstGeom>
        </p:spPr>
        <p:style>
          <a:lnRef idx="2">
            <a:schemeClr val="accent1"/>
          </a:lnRef>
          <a:fillRef idx="0">
            <a:schemeClr val="accent1"/>
          </a:fillRef>
          <a:effectRef idx="1">
            <a:schemeClr val="accent1"/>
          </a:effectRef>
          <a:fontRef idx="minor">
            <a:schemeClr val="tx1"/>
          </a:fontRef>
        </p:style>
      </p:cxnSp>
      <p:pic>
        <p:nvPicPr>
          <p:cNvPr id="26" name="Graphic 25" descr="Man with solid fill">
            <a:extLst>
              <a:ext uri="{FF2B5EF4-FFF2-40B4-BE49-F238E27FC236}">
                <a16:creationId xmlns:a16="http://schemas.microsoft.com/office/drawing/2014/main" id="{39B06D52-2F88-59ED-836F-3E1D051C84A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238866" y="5319251"/>
            <a:ext cx="845572" cy="845572"/>
          </a:xfrm>
          <a:prstGeom prst="rect">
            <a:avLst/>
          </a:prstGeom>
        </p:spPr>
      </p:pic>
      <p:pic>
        <p:nvPicPr>
          <p:cNvPr id="28" name="Graphic 27" descr="Remote learning math with solid fill">
            <a:extLst>
              <a:ext uri="{FF2B5EF4-FFF2-40B4-BE49-F238E27FC236}">
                <a16:creationId xmlns:a16="http://schemas.microsoft.com/office/drawing/2014/main" id="{B17EA15E-CE48-378A-6B4E-9DA7B5C06BE3}"/>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363498" y="1698524"/>
            <a:ext cx="914400" cy="914400"/>
          </a:xfrm>
          <a:prstGeom prst="rect">
            <a:avLst/>
          </a:prstGeom>
        </p:spPr>
      </p:pic>
      <p:pic>
        <p:nvPicPr>
          <p:cNvPr id="30" name="Graphic 29" descr="Tools with solid fill">
            <a:extLst>
              <a:ext uri="{FF2B5EF4-FFF2-40B4-BE49-F238E27FC236}">
                <a16:creationId xmlns:a16="http://schemas.microsoft.com/office/drawing/2014/main" id="{543D60C7-B7DD-463E-D8EC-EF22C8425C8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500424" y="5095546"/>
            <a:ext cx="644012" cy="644012"/>
          </a:xfrm>
          <a:prstGeom prst="rect">
            <a:avLst/>
          </a:prstGeom>
        </p:spPr>
      </p:pic>
    </p:spTree>
    <p:extLst>
      <p:ext uri="{BB962C8B-B14F-4D97-AF65-F5344CB8AC3E}">
        <p14:creationId xmlns:p14="http://schemas.microsoft.com/office/powerpoint/2010/main" val="35427009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DDB5E9-E4BD-45D1-7264-68642273AAB3}"/>
              </a:ext>
            </a:extLst>
          </p:cNvPr>
          <p:cNvSpPr>
            <a:spLocks noGrp="1"/>
          </p:cNvSpPr>
          <p:nvPr>
            <p:ph type="title"/>
          </p:nvPr>
        </p:nvSpPr>
        <p:spPr>
          <a:xfrm>
            <a:off x="6739128" y="638089"/>
            <a:ext cx="4818888" cy="1476801"/>
          </a:xfrm>
        </p:spPr>
        <p:txBody>
          <a:bodyPr vert="horz" lIns="91440" tIns="45720" rIns="91440" bIns="45720" rtlCol="0" anchor="b">
            <a:normAutofit/>
          </a:bodyPr>
          <a:lstStyle/>
          <a:p>
            <a:r>
              <a:rPr lang="en-US" sz="5400" kern="1200">
                <a:solidFill>
                  <a:srgbClr val="FF0000"/>
                </a:solidFill>
                <a:latin typeface="+mj-lt"/>
                <a:ea typeface="+mj-ea"/>
                <a:cs typeface="+mj-cs"/>
              </a:rPr>
              <a:t>PHẦN 02</a:t>
            </a:r>
          </a:p>
        </p:txBody>
      </p:sp>
      <p:pic>
        <p:nvPicPr>
          <p:cNvPr id="7" name="Graphic 6" descr="Rocket">
            <a:extLst>
              <a:ext uri="{FF2B5EF4-FFF2-40B4-BE49-F238E27FC236}">
                <a16:creationId xmlns:a16="http://schemas.microsoft.com/office/drawing/2014/main" id="{A9651269-4D90-A3A6-938A-B2A36C6CACC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0936" y="699516"/>
            <a:ext cx="5458968" cy="5458968"/>
          </a:xfrm>
          <a:prstGeom prst="rect">
            <a:avLst/>
          </a:prstGeom>
        </p:spPr>
      </p:pic>
      <p:sp>
        <p:nvSpPr>
          <p:cNvPr id="33" name="sketch line">
            <a:extLst>
              <a:ext uri="{FF2B5EF4-FFF2-40B4-BE49-F238E27FC236}">
                <a16:creationId xmlns:a16="http://schemas.microsoft.com/office/drawing/2014/main" id="{953EE71A-6488-4203-A7C4-77102FD0DC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39128" y="2372868"/>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BBEF39E-3396-A8AE-B00C-5CC0CF7A264A}"/>
              </a:ext>
            </a:extLst>
          </p:cNvPr>
          <p:cNvSpPr>
            <a:spLocks noGrp="1"/>
          </p:cNvSpPr>
          <p:nvPr>
            <p:ph idx="1"/>
          </p:nvPr>
        </p:nvSpPr>
        <p:spPr>
          <a:xfrm>
            <a:off x="6739128" y="2664886"/>
            <a:ext cx="4818888" cy="3550789"/>
          </a:xfrm>
        </p:spPr>
        <p:txBody>
          <a:bodyPr vert="horz" lIns="91440" tIns="45720" rIns="91440" bIns="45720" rtlCol="0" anchor="t">
            <a:normAutofit/>
          </a:bodyPr>
          <a:lstStyle/>
          <a:p>
            <a:pPr marL="0" indent="0">
              <a:buNone/>
            </a:pPr>
            <a:r>
              <a:rPr lang="en-US" sz="3000" kern="1200">
                <a:latin typeface="+mn-lt"/>
                <a:ea typeface="+mn-ea"/>
                <a:cs typeface="+mn-cs"/>
              </a:rPr>
              <a:t>MỤC TIÊU CỦA ĐỀ TÀI</a:t>
            </a:r>
          </a:p>
        </p:txBody>
      </p:sp>
    </p:spTree>
    <p:extLst>
      <p:ext uri="{BB962C8B-B14F-4D97-AF65-F5344CB8AC3E}">
        <p14:creationId xmlns:p14="http://schemas.microsoft.com/office/powerpoint/2010/main" val="16205430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59BE9-FB82-079A-6B4D-38FB2BF7F8FE}"/>
              </a:ext>
            </a:extLst>
          </p:cNvPr>
          <p:cNvSpPr>
            <a:spLocks noGrp="1"/>
          </p:cNvSpPr>
          <p:nvPr>
            <p:ph type="title"/>
          </p:nvPr>
        </p:nvSpPr>
        <p:spPr>
          <a:xfrm>
            <a:off x="980767" y="1206151"/>
            <a:ext cx="5021826" cy="880086"/>
          </a:xfrm>
        </p:spPr>
        <p:txBody>
          <a:bodyPr/>
          <a:lstStyle/>
          <a:p>
            <a:r>
              <a:rPr lang="en-US" b="1"/>
              <a:t> </a:t>
            </a:r>
            <a:r>
              <a:rPr lang="en-US" sz="4000" b="1">
                <a:solidFill>
                  <a:srgbClr val="FF0000"/>
                </a:solidFill>
              </a:rPr>
              <a:t>MỤC TIÊU ĐỀ TÀI</a:t>
            </a:r>
          </a:p>
        </p:txBody>
      </p:sp>
      <p:sp>
        <p:nvSpPr>
          <p:cNvPr id="3" name="Content Placeholder 2">
            <a:extLst>
              <a:ext uri="{FF2B5EF4-FFF2-40B4-BE49-F238E27FC236}">
                <a16:creationId xmlns:a16="http://schemas.microsoft.com/office/drawing/2014/main" id="{680BA119-1D04-0549-F48E-19F5087EF9EA}"/>
              </a:ext>
            </a:extLst>
          </p:cNvPr>
          <p:cNvSpPr>
            <a:spLocks noGrp="1"/>
          </p:cNvSpPr>
          <p:nvPr>
            <p:ph idx="1"/>
          </p:nvPr>
        </p:nvSpPr>
        <p:spPr>
          <a:xfrm>
            <a:off x="7300451" y="1245212"/>
            <a:ext cx="4746523" cy="1173213"/>
          </a:xfrm>
        </p:spPr>
        <p:txBody>
          <a:bodyPr/>
          <a:lstStyle/>
          <a:p>
            <a:pPr marL="0" indent="0">
              <a:buNone/>
            </a:pPr>
            <a:r>
              <a:rPr lang="en-US" sz="1800" b="1"/>
              <a:t>Sự tương tác với người dùng</a:t>
            </a:r>
          </a:p>
          <a:p>
            <a:pPr marL="0" indent="0">
              <a:buNone/>
            </a:pPr>
            <a:r>
              <a:rPr lang="en-US" sz="1800"/>
              <a:t>Tìm kiếm thông tin dễ dàng với tính năng tìm kiếm, lọc theo yêu cầu.</a:t>
            </a:r>
          </a:p>
        </p:txBody>
      </p:sp>
      <p:sp>
        <p:nvSpPr>
          <p:cNvPr id="5" name="TextBox 4">
            <a:extLst>
              <a:ext uri="{FF2B5EF4-FFF2-40B4-BE49-F238E27FC236}">
                <a16:creationId xmlns:a16="http://schemas.microsoft.com/office/drawing/2014/main" id="{BC0FFDD0-9978-D66C-AF4F-E791E9B19BEA}"/>
              </a:ext>
            </a:extLst>
          </p:cNvPr>
          <p:cNvSpPr txBox="1"/>
          <p:nvPr/>
        </p:nvSpPr>
        <p:spPr>
          <a:xfrm>
            <a:off x="7300450" y="2547240"/>
            <a:ext cx="4109883" cy="1200329"/>
          </a:xfrm>
          <a:prstGeom prst="rect">
            <a:avLst/>
          </a:prstGeom>
          <a:noFill/>
        </p:spPr>
        <p:txBody>
          <a:bodyPr wrap="square">
            <a:spAutoFit/>
          </a:bodyPr>
          <a:lstStyle/>
          <a:p>
            <a:pPr marL="0" indent="0">
              <a:buNone/>
            </a:pPr>
            <a:r>
              <a:rPr lang="en-US" b="1"/>
              <a:t>Đăng bài,quản lý, xem bài viết</a:t>
            </a:r>
          </a:p>
          <a:p>
            <a:pPr marL="0" indent="0">
              <a:buNone/>
            </a:pPr>
            <a:r>
              <a:rPr lang="en-US"/>
              <a:t>Hỗ trợ xem các bài viết thông tin không cần tài khoản và có tài khoản, quy trình đăng bài nhanh.</a:t>
            </a:r>
          </a:p>
        </p:txBody>
      </p:sp>
      <p:sp>
        <p:nvSpPr>
          <p:cNvPr id="7" name="TextBox 6">
            <a:extLst>
              <a:ext uri="{FF2B5EF4-FFF2-40B4-BE49-F238E27FC236}">
                <a16:creationId xmlns:a16="http://schemas.microsoft.com/office/drawing/2014/main" id="{2AB7D539-C5B2-8718-CE07-29C070AED779}"/>
              </a:ext>
            </a:extLst>
          </p:cNvPr>
          <p:cNvSpPr txBox="1"/>
          <p:nvPr/>
        </p:nvSpPr>
        <p:spPr>
          <a:xfrm>
            <a:off x="7300450" y="4068112"/>
            <a:ext cx="4395020" cy="923330"/>
          </a:xfrm>
          <a:prstGeom prst="rect">
            <a:avLst/>
          </a:prstGeom>
          <a:noFill/>
        </p:spPr>
        <p:txBody>
          <a:bodyPr wrap="square">
            <a:spAutoFit/>
          </a:bodyPr>
          <a:lstStyle/>
          <a:p>
            <a:pPr marL="0" indent="0">
              <a:buNone/>
            </a:pPr>
            <a:r>
              <a:rPr lang="en-US" b="1"/>
              <a:t>Quản lý website với người quản lý</a:t>
            </a:r>
          </a:p>
          <a:p>
            <a:pPr marL="0" indent="0">
              <a:buNone/>
            </a:pPr>
            <a:r>
              <a:rPr lang="en-US"/>
              <a:t>Các chức năng quản lý :Tin tức, Thông tin &amp; kỹ thuật nuôi trồng, Đăng tin..v…v</a:t>
            </a:r>
          </a:p>
        </p:txBody>
      </p:sp>
      <p:sp>
        <p:nvSpPr>
          <p:cNvPr id="9" name="TextBox 8">
            <a:extLst>
              <a:ext uri="{FF2B5EF4-FFF2-40B4-BE49-F238E27FC236}">
                <a16:creationId xmlns:a16="http://schemas.microsoft.com/office/drawing/2014/main" id="{860623EB-53E7-81CF-DA2A-47F1E528B9AA}"/>
              </a:ext>
            </a:extLst>
          </p:cNvPr>
          <p:cNvSpPr txBox="1"/>
          <p:nvPr/>
        </p:nvSpPr>
        <p:spPr>
          <a:xfrm>
            <a:off x="7300450" y="5311986"/>
            <a:ext cx="4746523" cy="923330"/>
          </a:xfrm>
          <a:prstGeom prst="rect">
            <a:avLst/>
          </a:prstGeom>
          <a:noFill/>
        </p:spPr>
        <p:txBody>
          <a:bodyPr wrap="square">
            <a:spAutoFit/>
          </a:bodyPr>
          <a:lstStyle/>
          <a:p>
            <a:pPr marL="0" indent="0">
              <a:buNone/>
            </a:pPr>
            <a:r>
              <a:rPr lang="en-US" b="1"/>
              <a:t>Phát triển thương hiệu của website</a:t>
            </a:r>
          </a:p>
          <a:p>
            <a:pPr marL="0" indent="0">
              <a:buNone/>
            </a:pPr>
            <a:r>
              <a:rPr lang="en-US"/>
              <a:t>Nâng cao chất lượng thông tin đến người dung.</a:t>
            </a:r>
          </a:p>
        </p:txBody>
      </p:sp>
      <p:pic>
        <p:nvPicPr>
          <p:cNvPr id="11" name="Picture 10" descr="A screenshot of a computer&#10;&#10;AI-generated content may be incorrect.">
            <a:extLst>
              <a:ext uri="{FF2B5EF4-FFF2-40B4-BE49-F238E27FC236}">
                <a16:creationId xmlns:a16="http://schemas.microsoft.com/office/drawing/2014/main" id="{2094542E-E656-17F3-FB4A-5ED8B9B659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3111" y="2383946"/>
            <a:ext cx="5782889" cy="2727246"/>
          </a:xfrm>
          <a:prstGeom prst="rect">
            <a:avLst/>
          </a:prstGeom>
        </p:spPr>
      </p:pic>
      <p:pic>
        <p:nvPicPr>
          <p:cNvPr id="13" name="Graphic 12" descr="Lights On with solid fill">
            <a:extLst>
              <a:ext uri="{FF2B5EF4-FFF2-40B4-BE49-F238E27FC236}">
                <a16:creationId xmlns:a16="http://schemas.microsoft.com/office/drawing/2014/main" id="{399DBAA2-8860-CCE7-EC59-F47D24999C5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04818" y="1495275"/>
            <a:ext cx="590962" cy="590962"/>
          </a:xfrm>
          <a:prstGeom prst="rect">
            <a:avLst/>
          </a:prstGeom>
        </p:spPr>
      </p:pic>
      <p:pic>
        <p:nvPicPr>
          <p:cNvPr id="15" name="Graphic 14" descr="Pen with solid fill">
            <a:extLst>
              <a:ext uri="{FF2B5EF4-FFF2-40B4-BE49-F238E27FC236}">
                <a16:creationId xmlns:a16="http://schemas.microsoft.com/office/drawing/2014/main" id="{4262AE55-D0F7-555C-C52C-73703ED7C0B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39478" y="2772698"/>
            <a:ext cx="590962" cy="590962"/>
          </a:xfrm>
          <a:prstGeom prst="rect">
            <a:avLst/>
          </a:prstGeom>
        </p:spPr>
      </p:pic>
      <p:pic>
        <p:nvPicPr>
          <p:cNvPr id="17" name="Graphic 16" descr="Single gear with solid fill">
            <a:extLst>
              <a:ext uri="{FF2B5EF4-FFF2-40B4-BE49-F238E27FC236}">
                <a16:creationId xmlns:a16="http://schemas.microsoft.com/office/drawing/2014/main" id="{D7560078-1058-4F6F-0547-6EF67BD28CA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32102" y="4161205"/>
            <a:ext cx="656304" cy="656304"/>
          </a:xfrm>
          <a:prstGeom prst="rect">
            <a:avLst/>
          </a:prstGeom>
        </p:spPr>
      </p:pic>
      <p:pic>
        <p:nvPicPr>
          <p:cNvPr id="19" name="Graphic 18" descr="Wallet outline">
            <a:extLst>
              <a:ext uri="{FF2B5EF4-FFF2-40B4-BE49-F238E27FC236}">
                <a16:creationId xmlns:a16="http://schemas.microsoft.com/office/drawing/2014/main" id="{D718D6E6-89FE-D21A-DB4D-2977B437CAA1}"/>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20591" y="5488365"/>
            <a:ext cx="575189" cy="575189"/>
          </a:xfrm>
          <a:prstGeom prst="rect">
            <a:avLst/>
          </a:prstGeom>
        </p:spPr>
      </p:pic>
    </p:spTree>
    <p:extLst>
      <p:ext uri="{BB962C8B-B14F-4D97-AF65-F5344CB8AC3E}">
        <p14:creationId xmlns:p14="http://schemas.microsoft.com/office/powerpoint/2010/main" val="36868693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A807A-3B62-6471-E2E9-5E4B2268CD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347FB-4A5C-288F-2C21-3FBCFFD8CD3B}"/>
              </a:ext>
            </a:extLst>
          </p:cNvPr>
          <p:cNvSpPr>
            <a:spLocks noGrp="1"/>
          </p:cNvSpPr>
          <p:nvPr>
            <p:ph type="title"/>
          </p:nvPr>
        </p:nvSpPr>
        <p:spPr>
          <a:xfrm>
            <a:off x="6739128" y="638089"/>
            <a:ext cx="4818888" cy="1476801"/>
          </a:xfrm>
        </p:spPr>
        <p:txBody>
          <a:bodyPr vert="horz" lIns="91440" tIns="45720" rIns="91440" bIns="45720" rtlCol="0" anchor="b">
            <a:normAutofit/>
          </a:bodyPr>
          <a:lstStyle/>
          <a:p>
            <a:r>
              <a:rPr lang="en-US" sz="5400" kern="1200">
                <a:solidFill>
                  <a:srgbClr val="FF0000"/>
                </a:solidFill>
                <a:latin typeface="+mj-lt"/>
                <a:ea typeface="+mj-ea"/>
                <a:cs typeface="+mj-cs"/>
              </a:rPr>
              <a:t>PHẦN </a:t>
            </a:r>
            <a:r>
              <a:rPr lang="en-US" sz="5400">
                <a:solidFill>
                  <a:srgbClr val="FF0000"/>
                </a:solidFill>
              </a:rPr>
              <a:t>03</a:t>
            </a:r>
            <a:endParaRPr lang="en-US" sz="5400" kern="1200">
              <a:solidFill>
                <a:srgbClr val="FF0000"/>
              </a:solidFill>
              <a:latin typeface="+mj-lt"/>
              <a:ea typeface="+mj-ea"/>
              <a:cs typeface="+mj-cs"/>
            </a:endParaRPr>
          </a:p>
        </p:txBody>
      </p:sp>
      <p:pic>
        <p:nvPicPr>
          <p:cNvPr id="7" name="Graphic 6" descr="Rocket">
            <a:extLst>
              <a:ext uri="{FF2B5EF4-FFF2-40B4-BE49-F238E27FC236}">
                <a16:creationId xmlns:a16="http://schemas.microsoft.com/office/drawing/2014/main" id="{DEDECB5E-A778-ED1D-98AE-28C9F71D03B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37032" y="699516"/>
            <a:ext cx="5458968" cy="5458968"/>
          </a:xfrm>
          <a:prstGeom prst="rect">
            <a:avLst/>
          </a:prstGeom>
        </p:spPr>
      </p:pic>
      <p:sp>
        <p:nvSpPr>
          <p:cNvPr id="3" name="Content Placeholder 2">
            <a:extLst>
              <a:ext uri="{FF2B5EF4-FFF2-40B4-BE49-F238E27FC236}">
                <a16:creationId xmlns:a16="http://schemas.microsoft.com/office/drawing/2014/main" id="{0CDC24A8-553F-E07B-795F-441F7EE43B6F}"/>
              </a:ext>
            </a:extLst>
          </p:cNvPr>
          <p:cNvSpPr>
            <a:spLocks noGrp="1"/>
          </p:cNvSpPr>
          <p:nvPr>
            <p:ph idx="1"/>
          </p:nvPr>
        </p:nvSpPr>
        <p:spPr>
          <a:xfrm>
            <a:off x="6739128" y="2379751"/>
            <a:ext cx="3083298" cy="3550789"/>
          </a:xfrm>
        </p:spPr>
        <p:txBody>
          <a:bodyPr vert="horz" lIns="91440" tIns="45720" rIns="91440" bIns="45720" rtlCol="0" anchor="t">
            <a:normAutofit/>
          </a:bodyPr>
          <a:lstStyle/>
          <a:p>
            <a:pPr marL="0" indent="0">
              <a:buNone/>
            </a:pPr>
            <a:r>
              <a:rPr lang="en-US" sz="4400"/>
              <a:t>PHÂN TÍCH    THIẾT KẾ HỆ THỐNG</a:t>
            </a:r>
            <a:endParaRPr lang="en-US" sz="4400" kern="1200">
              <a:latin typeface="+mn-lt"/>
              <a:ea typeface="+mn-ea"/>
              <a:cs typeface="+mn-cs"/>
            </a:endParaRPr>
          </a:p>
        </p:txBody>
      </p:sp>
    </p:spTree>
    <p:extLst>
      <p:ext uri="{BB962C8B-B14F-4D97-AF65-F5344CB8AC3E}">
        <p14:creationId xmlns:p14="http://schemas.microsoft.com/office/powerpoint/2010/main" val="22197549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DE2EB2-8ED4-74F3-3BD9-4A08F573AACF}"/>
              </a:ext>
            </a:extLst>
          </p:cNvPr>
          <p:cNvSpPr>
            <a:spLocks noGrp="1"/>
          </p:cNvSpPr>
          <p:nvPr>
            <p:ph type="title"/>
          </p:nvPr>
        </p:nvSpPr>
        <p:spPr>
          <a:xfrm>
            <a:off x="311355" y="35733"/>
            <a:ext cx="6427839" cy="745921"/>
          </a:xfrm>
        </p:spPr>
        <p:txBody>
          <a:bodyPr>
            <a:normAutofit/>
          </a:bodyPr>
          <a:lstStyle/>
          <a:p>
            <a:r>
              <a:rPr lang="en-US" sz="3000" b="1">
                <a:solidFill>
                  <a:srgbClr val="FF0000"/>
                </a:solidFill>
              </a:rPr>
              <a:t>SƠ ĐỒ CÁC ACTOR CỦA HỆ THỐNG</a:t>
            </a:r>
          </a:p>
        </p:txBody>
      </p:sp>
      <p:graphicFrame>
        <p:nvGraphicFramePr>
          <p:cNvPr id="11" name="Table 10">
            <a:extLst>
              <a:ext uri="{FF2B5EF4-FFF2-40B4-BE49-F238E27FC236}">
                <a16:creationId xmlns:a16="http://schemas.microsoft.com/office/drawing/2014/main" id="{BDA541E4-BE61-ECAE-54D4-76E63117B2EE}"/>
              </a:ext>
            </a:extLst>
          </p:cNvPr>
          <p:cNvGraphicFramePr>
            <a:graphicFrameLocks noGrp="1"/>
          </p:cNvGraphicFramePr>
          <p:nvPr>
            <p:extLst>
              <p:ext uri="{D42A27DB-BD31-4B8C-83A1-F6EECF244321}">
                <p14:modId xmlns:p14="http://schemas.microsoft.com/office/powerpoint/2010/main" val="736498927"/>
              </p:ext>
            </p:extLst>
          </p:nvPr>
        </p:nvGraphicFramePr>
        <p:xfrm>
          <a:off x="151581" y="757063"/>
          <a:ext cx="11888838" cy="6036314"/>
        </p:xfrm>
        <a:graphic>
          <a:graphicData uri="http://schemas.openxmlformats.org/drawingml/2006/table">
            <a:tbl>
              <a:tblPr firstRow="1" bandRow="1">
                <a:tableStyleId>{5C22544A-7EE6-4342-B048-85BDC9FD1C3A}</a:tableStyleId>
              </a:tblPr>
              <a:tblGrid>
                <a:gridCol w="1002889">
                  <a:extLst>
                    <a:ext uri="{9D8B030D-6E8A-4147-A177-3AD203B41FA5}">
                      <a16:colId xmlns:a16="http://schemas.microsoft.com/office/drawing/2014/main" val="847593157"/>
                    </a:ext>
                  </a:extLst>
                </a:gridCol>
                <a:gridCol w="10885949">
                  <a:extLst>
                    <a:ext uri="{9D8B030D-6E8A-4147-A177-3AD203B41FA5}">
                      <a16:colId xmlns:a16="http://schemas.microsoft.com/office/drawing/2014/main" val="2005246259"/>
                    </a:ext>
                  </a:extLst>
                </a:gridCol>
              </a:tblGrid>
              <a:tr h="450675">
                <a:tc>
                  <a:txBody>
                    <a:bodyPr/>
                    <a:lstStyle/>
                    <a:p>
                      <a:r>
                        <a:rPr lang="en-US"/>
                        <a:t>Tên Actor</a:t>
                      </a:r>
                    </a:p>
                  </a:txBody>
                  <a:tcPr/>
                </a:tc>
                <a:tc>
                  <a:txBody>
                    <a:bodyPr/>
                    <a:lstStyle/>
                    <a:p>
                      <a:r>
                        <a:rPr lang="en-US"/>
                        <a:t>Chức năng</a:t>
                      </a:r>
                    </a:p>
                  </a:txBody>
                  <a:tcPr/>
                </a:tc>
                <a:extLst>
                  <a:ext uri="{0D108BD9-81ED-4DB2-BD59-A6C34878D82A}">
                    <a16:rowId xmlns:a16="http://schemas.microsoft.com/office/drawing/2014/main" val="1368837144"/>
                  </a:ext>
                </a:extLst>
              </a:tr>
              <a:tr h="1555754">
                <a:tc>
                  <a:txBody>
                    <a:bodyPr/>
                    <a:lstStyle/>
                    <a:p>
                      <a:r>
                        <a:rPr lang="en-US" sz="1600" b="0"/>
                        <a:t>Khách (Guest)</a:t>
                      </a:r>
                    </a:p>
                  </a:txBody>
                  <a:tcPr/>
                </a:tc>
                <a:tc>
                  <a:txBody>
                    <a:bodyPr/>
                    <a:lstStyle/>
                    <a:p>
                      <a:r>
                        <a:rPr lang="vi-VN" sz="1600" b="0"/>
                        <a:t>Đây là nhóm người dùng chưa đăng nhập vào hệ thống, chủ yếu truy cập để tìm kiếm thông tin tức thời</a:t>
                      </a:r>
                      <a:r>
                        <a:rPr lang="en-US" sz="1600" b="0"/>
                        <a:t>.</a:t>
                      </a:r>
                    </a:p>
                    <a:p>
                      <a:r>
                        <a:rPr lang="en-US" sz="1600" b="0"/>
                        <a:t>Các chức năng chính (Use Cases):</a:t>
                      </a:r>
                    </a:p>
                    <a:p>
                      <a:r>
                        <a:rPr lang="en-US" sz="1600" b="0"/>
                        <a:t> - Xem tin tức và các bài viết kỹ thuật về nuôi tôm, cá</a:t>
                      </a:r>
                    </a:p>
                    <a:p>
                      <a:r>
                        <a:rPr lang="en-US" sz="1600" b="0"/>
                        <a:t> - Tra cứu bảng giá thủy sản cập nhật theo thời gian thực</a:t>
                      </a:r>
                    </a:p>
                    <a:p>
                      <a:r>
                        <a:rPr lang="en-US" sz="1600" b="0"/>
                        <a:t> - </a:t>
                      </a:r>
                      <a:r>
                        <a:rPr lang="vi-VN" sz="1600" b="0"/>
                        <a:t>Tương tác với Trợ lý ảo Chatbot AI để hỏi đáp các dấu hiệu bệnh học cơ bản.</a:t>
                      </a:r>
                      <a:endParaRPr lang="en-US" sz="1600" b="0"/>
                    </a:p>
                    <a:p>
                      <a:r>
                        <a:rPr lang="en-US" sz="1600" b="0"/>
                        <a:t> - Sử dụng thanh công cụ tìm kiếm bài viết theo từ khóa.</a:t>
                      </a:r>
                    </a:p>
                  </a:txBody>
                  <a:tcPr/>
                </a:tc>
                <a:extLst>
                  <a:ext uri="{0D108BD9-81ED-4DB2-BD59-A6C34878D82A}">
                    <a16:rowId xmlns:a16="http://schemas.microsoft.com/office/drawing/2014/main" val="401823307"/>
                  </a:ext>
                </a:extLst>
              </a:tr>
              <a:tr h="2037297">
                <a:tc>
                  <a:txBody>
                    <a:bodyPr/>
                    <a:lstStyle/>
                    <a:p>
                      <a:r>
                        <a:rPr lang="en-US" sz="1600" b="0"/>
                        <a:t>Thành viên (User)</a:t>
                      </a:r>
                    </a:p>
                  </a:txBody>
                  <a:tcPr/>
                </a:tc>
                <a:tc>
                  <a:txBody>
                    <a:bodyPr/>
                    <a:lstStyle/>
                    <a:p>
                      <a:r>
                        <a:rPr lang="vi-VN" sz="1600" b="0"/>
                        <a:t>Là nhóm người dùng đã đăng ký tài khoản, có khả năng tương tác sâu hơn với cộng đồng</a:t>
                      </a:r>
                      <a:r>
                        <a:rPr lang="en-US" sz="1600" b="0"/>
                        <a:t>.</a:t>
                      </a:r>
                    </a:p>
                    <a:p>
                      <a:r>
                        <a:rPr lang="en-US" sz="1600" b="0"/>
                        <a:t>Các chức năng chính (Use Cases):</a:t>
                      </a:r>
                    </a:p>
                    <a:p>
                      <a:r>
                        <a:rPr lang="en-US" sz="1600" b="0"/>
                        <a:t> - </a:t>
                      </a:r>
                      <a:r>
                        <a:rPr lang="vi-VN" sz="1600" b="0"/>
                        <a:t>Thừa hưởng tất cả quyền hạn của Khách.</a:t>
                      </a:r>
                      <a:endParaRPr lang="en-US" sz="1600" b="0"/>
                    </a:p>
                    <a:p>
                      <a:r>
                        <a:rPr lang="en-US" sz="1600" b="0"/>
                        <a:t> - </a:t>
                      </a:r>
                      <a:r>
                        <a:rPr lang="vi-VN" sz="1600" b="0"/>
                        <a:t>Quản lý hồ sơ cá nhân</a:t>
                      </a:r>
                      <a:r>
                        <a:rPr lang="en-US" sz="1600" b="0"/>
                        <a:t>.</a:t>
                      </a:r>
                    </a:p>
                    <a:p>
                      <a:r>
                        <a:rPr lang="en-US" sz="1600" b="0"/>
                        <a:t> - Đăng bài viết chia sẻ kinh nghiệm nuôi trồng hoặc đặt câu hỏi từ thực tế ao nuôi.</a:t>
                      </a:r>
                    </a:p>
                    <a:p>
                      <a:r>
                        <a:rPr lang="en-US" sz="1600" b="0"/>
                        <a:t> - Đánh giá (Rating) từ 1-5 sao cho các bài viết.</a:t>
                      </a:r>
                    </a:p>
                    <a:p>
                      <a:r>
                        <a:rPr lang="en-US" sz="1600" b="0"/>
                        <a:t> - </a:t>
                      </a:r>
                      <a:r>
                        <a:rPr lang="vi-VN" sz="1600" b="0"/>
                        <a:t>Lưu trữ (Bookmark) các bài viết kỹ thuật quan trọng vào kho dữ liệu cá nhân.</a:t>
                      </a:r>
                      <a:endParaRPr lang="en-US" sz="1600" b="0"/>
                    </a:p>
                    <a:p>
                      <a:endParaRPr lang="en-US" sz="1600" b="0"/>
                    </a:p>
                  </a:txBody>
                  <a:tcPr/>
                </a:tc>
                <a:extLst>
                  <a:ext uri="{0D108BD9-81ED-4DB2-BD59-A6C34878D82A}">
                    <a16:rowId xmlns:a16="http://schemas.microsoft.com/office/drawing/2014/main" val="1391601867"/>
                  </a:ext>
                </a:extLst>
              </a:tr>
              <a:tr h="1555754">
                <a:tc>
                  <a:txBody>
                    <a:bodyPr/>
                    <a:lstStyle/>
                    <a:p>
                      <a:r>
                        <a:rPr lang="en-US" sz="1600" b="0"/>
                        <a:t>Quản trị viên (Admin)</a:t>
                      </a:r>
                    </a:p>
                  </a:txBody>
                  <a:tcPr/>
                </a:tc>
                <a:tc>
                  <a:txBody>
                    <a:bodyPr/>
                    <a:lstStyle/>
                    <a:p>
                      <a:r>
                        <a:rPr lang="en-US" sz="1600" b="0"/>
                        <a:t>Cấp bậc cao nhất, chịu trách nhiệm điều phối dữ liệu tri thức và quản lý vận hành toàn bộ hệ thống.</a:t>
                      </a:r>
                    </a:p>
                    <a:p>
                      <a:r>
                        <a:rPr lang="en-US" sz="1600" b="0"/>
                        <a:t>Các chức năng chính (Use Cases):</a:t>
                      </a:r>
                    </a:p>
                    <a:p>
                      <a:r>
                        <a:rPr lang="en-US" sz="1600" b="0"/>
                        <a:t> - Kiểm duyệt nội dung: Phê duyệt hoặc từ chối các bài đăng từ Thành viên để đảm bảo tính chính thống.</a:t>
                      </a:r>
                    </a:p>
                    <a:p>
                      <a:r>
                        <a:rPr lang="en-US" sz="1600" b="0"/>
                        <a:t> - </a:t>
                      </a:r>
                      <a:r>
                        <a:rPr lang="vi-VN" sz="1600" b="0"/>
                        <a:t>Bổ sung Ghi chú Chuyên gia (Admin Note): Đính chính hoặc thêm lời khuyên chuyên môn trực tiếp vào bài viết của người dùng.</a:t>
                      </a:r>
                      <a:endParaRPr lang="en-US" sz="1600" b="0"/>
                    </a:p>
                    <a:p>
                      <a:r>
                        <a:rPr lang="en-US" sz="1600" b="0"/>
                        <a:t> - Quản lý dữ liệu giá: Cập nhật biến động giá cả hàng ngày vào bảng </a:t>
                      </a:r>
                      <a:r>
                        <a:rPr lang="en-US" sz="1600" b="0" kern="1200">
                          <a:solidFill>
                            <a:schemeClr val="dk1"/>
                          </a:solidFill>
                          <a:latin typeface="+mn-lt"/>
                          <a:ea typeface="+mn-ea"/>
                          <a:cs typeface="+mn-cs"/>
                        </a:rPr>
                        <a:t>price_tracking</a:t>
                      </a:r>
                      <a:r>
                        <a:rPr lang="en-US" sz="1600" b="0"/>
                        <a:t>.</a:t>
                      </a:r>
                    </a:p>
                    <a:p>
                      <a:r>
                        <a:rPr lang="en-US" sz="1600" b="0"/>
                        <a:t> - </a:t>
                      </a:r>
                      <a:r>
                        <a:rPr lang="vi-VN" sz="1600" b="0"/>
                        <a:t>Quản trị người dùng: Khóa hoặc kích hoạt tài khoản thành viên.</a:t>
                      </a:r>
                      <a:endParaRPr lang="en-US" sz="1600" b="0"/>
                    </a:p>
                  </a:txBody>
                  <a:tcPr/>
                </a:tc>
                <a:extLst>
                  <a:ext uri="{0D108BD9-81ED-4DB2-BD59-A6C34878D82A}">
                    <a16:rowId xmlns:a16="http://schemas.microsoft.com/office/drawing/2014/main" val="2130822340"/>
                  </a:ext>
                </a:extLst>
              </a:tr>
            </a:tbl>
          </a:graphicData>
        </a:graphic>
      </p:graphicFrame>
    </p:spTree>
    <p:extLst>
      <p:ext uri="{BB962C8B-B14F-4D97-AF65-F5344CB8AC3E}">
        <p14:creationId xmlns:p14="http://schemas.microsoft.com/office/powerpoint/2010/main" val="3695489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8004B-1652-3392-4B93-F9840E3AC1D0}"/>
              </a:ext>
            </a:extLst>
          </p:cNvPr>
          <p:cNvSpPr>
            <a:spLocks noGrp="1"/>
          </p:cNvSpPr>
          <p:nvPr>
            <p:ph type="title"/>
          </p:nvPr>
        </p:nvSpPr>
        <p:spPr>
          <a:xfrm>
            <a:off x="838200" y="365126"/>
            <a:ext cx="6703142" cy="1109714"/>
          </a:xfrm>
        </p:spPr>
        <p:txBody>
          <a:bodyPr>
            <a:normAutofit/>
          </a:bodyPr>
          <a:lstStyle/>
          <a:p>
            <a:r>
              <a:rPr lang="en-US" sz="3500">
                <a:solidFill>
                  <a:srgbClr val="FF0000"/>
                </a:solidFill>
              </a:rPr>
              <a:t>SƠ ĐỒ USE CASE TỔNG QUÁT</a:t>
            </a:r>
          </a:p>
        </p:txBody>
      </p:sp>
      <p:pic>
        <p:nvPicPr>
          <p:cNvPr id="9" name="Content Placeholder 8" descr="A screenshot of a computer screen&#10;&#10;AI-generated content may be incorrect.">
            <a:extLst>
              <a:ext uri="{FF2B5EF4-FFF2-40B4-BE49-F238E27FC236}">
                <a16:creationId xmlns:a16="http://schemas.microsoft.com/office/drawing/2014/main" id="{CD787DFD-2F0A-A04A-CA07-6B8592EB1D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38200" y="2384266"/>
            <a:ext cx="10515600" cy="3234055"/>
          </a:xfrm>
        </p:spPr>
      </p:pic>
    </p:spTree>
    <p:extLst>
      <p:ext uri="{BB962C8B-B14F-4D97-AF65-F5344CB8AC3E}">
        <p14:creationId xmlns:p14="http://schemas.microsoft.com/office/powerpoint/2010/main" val="14769677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107404-B28B-6567-DDAE-F6761F58A06D}"/>
              </a:ext>
            </a:extLst>
          </p:cNvPr>
          <p:cNvSpPr>
            <a:spLocks noGrp="1"/>
          </p:cNvSpPr>
          <p:nvPr>
            <p:ph type="title"/>
          </p:nvPr>
        </p:nvSpPr>
        <p:spPr>
          <a:xfrm>
            <a:off x="599609" y="679731"/>
            <a:ext cx="4171994" cy="3736540"/>
          </a:xfrm>
        </p:spPr>
        <p:txBody>
          <a:bodyPr vert="horz" lIns="91440" tIns="45720" rIns="91440" bIns="45720" rtlCol="0" anchor="b">
            <a:normAutofit/>
          </a:bodyPr>
          <a:lstStyle/>
          <a:p>
            <a:r>
              <a:rPr lang="en-US" sz="6000" kern="1200">
                <a:solidFill>
                  <a:schemeClr val="tx1"/>
                </a:solidFill>
                <a:latin typeface="+mj-lt"/>
                <a:ea typeface="+mj-ea"/>
                <a:cs typeface="+mj-cs"/>
              </a:rPr>
              <a:t>CƠ SỞ DỮ LIỆU</a:t>
            </a:r>
          </a:p>
        </p:txBody>
      </p:sp>
      <p:grpSp>
        <p:nvGrpSpPr>
          <p:cNvPr id="16" name="Group 15">
            <a:extLst>
              <a:ext uri="{FF2B5EF4-FFF2-40B4-BE49-F238E27FC236}">
                <a16:creationId xmlns:a16="http://schemas.microsoft.com/office/drawing/2014/main" id="{3AF6A671-C637-4547-85F4-51B6D188139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416432" y="1"/>
            <a:ext cx="2446384" cy="5777808"/>
            <a:chOff x="329184" y="1"/>
            <a:chExt cx="524256" cy="5777808"/>
          </a:xfrm>
        </p:grpSpPr>
        <p:cxnSp>
          <p:nvCxnSpPr>
            <p:cNvPr id="17" name="Straight Connector 16">
              <a:extLst>
                <a:ext uri="{FF2B5EF4-FFF2-40B4-BE49-F238E27FC236}">
                  <a16:creationId xmlns:a16="http://schemas.microsoft.com/office/drawing/2014/main" id="{C575CF26-3D3C-4C5A-A2B7-00432016EF62}"/>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flipH="1">
              <a:off x="329184" y="5777809"/>
              <a:ext cx="521208" cy="0"/>
            </a:xfrm>
            <a:prstGeom prst="line">
              <a:avLst/>
            </a:prstGeom>
            <a:ln w="152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9184" y="1"/>
              <a:ext cx="524256" cy="553211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Rectangle 19">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Content Placeholder 8" descr="A screenshot of a computer&#10;&#10;AI-generated content may be incorrect.">
            <a:extLst>
              <a:ext uri="{FF2B5EF4-FFF2-40B4-BE49-F238E27FC236}">
                <a16:creationId xmlns:a16="http://schemas.microsoft.com/office/drawing/2014/main" id="{425BBA69-1610-7735-6D1D-6B3752E6468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640572" y="1137191"/>
            <a:ext cx="5608830" cy="4473042"/>
          </a:xfrm>
          <a:prstGeom prst="rect">
            <a:avLst/>
          </a:prstGeom>
        </p:spPr>
      </p:pic>
    </p:spTree>
    <p:extLst>
      <p:ext uri="{BB962C8B-B14F-4D97-AF65-F5344CB8AC3E}">
        <p14:creationId xmlns:p14="http://schemas.microsoft.com/office/powerpoint/2010/main" val="25492983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5BCCE1-173D-98E2-D6F3-EE7E9A8F87C9}"/>
              </a:ext>
            </a:extLst>
          </p:cNvPr>
          <p:cNvSpPr>
            <a:spLocks noGrp="1"/>
          </p:cNvSpPr>
          <p:nvPr>
            <p:ph type="title"/>
          </p:nvPr>
        </p:nvSpPr>
        <p:spPr>
          <a:xfrm>
            <a:off x="640080" y="320040"/>
            <a:ext cx="6692827" cy="3892669"/>
          </a:xfrm>
        </p:spPr>
        <p:txBody>
          <a:bodyPr vert="horz" lIns="91440" tIns="45720" rIns="91440" bIns="45720" rtlCol="0" anchor="b">
            <a:normAutofit/>
          </a:bodyPr>
          <a:lstStyle/>
          <a:p>
            <a:r>
              <a:rPr lang="en-US" sz="6600" kern="1200">
                <a:solidFill>
                  <a:srgbClr val="FF0000"/>
                </a:solidFill>
                <a:latin typeface="+mj-lt"/>
                <a:ea typeface="+mj-ea"/>
                <a:cs typeface="+mj-cs"/>
              </a:rPr>
              <a:t>PHẦN 04 : </a:t>
            </a:r>
          </a:p>
        </p:txBody>
      </p:sp>
      <p:sp>
        <p:nvSpPr>
          <p:cNvPr id="3" name="Content Placeholder 2">
            <a:extLst>
              <a:ext uri="{FF2B5EF4-FFF2-40B4-BE49-F238E27FC236}">
                <a16:creationId xmlns:a16="http://schemas.microsoft.com/office/drawing/2014/main" id="{49C5ED65-6C78-4E95-1565-6739E4EAA9E9}"/>
              </a:ext>
            </a:extLst>
          </p:cNvPr>
          <p:cNvSpPr>
            <a:spLocks noGrp="1"/>
          </p:cNvSpPr>
          <p:nvPr>
            <p:ph idx="1"/>
          </p:nvPr>
        </p:nvSpPr>
        <p:spPr>
          <a:xfrm>
            <a:off x="640080" y="4631161"/>
            <a:ext cx="6692827" cy="1569486"/>
          </a:xfrm>
        </p:spPr>
        <p:txBody>
          <a:bodyPr vert="horz" lIns="91440" tIns="45720" rIns="91440" bIns="45720" rtlCol="0">
            <a:normAutofit/>
          </a:bodyPr>
          <a:lstStyle/>
          <a:p>
            <a:pPr marL="0" indent="0">
              <a:buNone/>
            </a:pPr>
            <a:r>
              <a:rPr lang="en-US" sz="4400" kern="1200">
                <a:solidFill>
                  <a:schemeClr val="tx1"/>
                </a:solidFill>
                <a:latin typeface="+mn-lt"/>
                <a:ea typeface="+mn-ea"/>
                <a:cs typeface="+mn-cs"/>
              </a:rPr>
              <a:t>DEMO SẢN PHẨM</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Monitor">
            <a:extLst>
              <a:ext uri="{FF2B5EF4-FFF2-40B4-BE49-F238E27FC236}">
                <a16:creationId xmlns:a16="http://schemas.microsoft.com/office/drawing/2014/main" id="{5AAF1D25-64F7-594B-09F3-4EA650213AE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81544" y="1267079"/>
            <a:ext cx="4087368" cy="4087368"/>
          </a:xfrm>
          <a:prstGeom prst="rect">
            <a:avLst/>
          </a:prstGeom>
        </p:spPr>
      </p:pic>
    </p:spTree>
    <p:extLst>
      <p:ext uri="{BB962C8B-B14F-4D97-AF65-F5344CB8AC3E}">
        <p14:creationId xmlns:p14="http://schemas.microsoft.com/office/powerpoint/2010/main" val="35633523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A94871E-96FC-4ADE-815B-41A636E34F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462816-4EF6-AB7F-AFC8-3181B37C04E0}"/>
              </a:ext>
            </a:extLst>
          </p:cNvPr>
          <p:cNvSpPr>
            <a:spLocks noGrp="1"/>
          </p:cNvSpPr>
          <p:nvPr>
            <p:ph type="title"/>
          </p:nvPr>
        </p:nvSpPr>
        <p:spPr>
          <a:xfrm>
            <a:off x="640080" y="320040"/>
            <a:ext cx="6692827" cy="3892669"/>
          </a:xfrm>
        </p:spPr>
        <p:txBody>
          <a:bodyPr vert="horz" lIns="91440" tIns="45720" rIns="91440" bIns="45720" rtlCol="0" anchor="b">
            <a:normAutofit/>
          </a:bodyPr>
          <a:lstStyle/>
          <a:p>
            <a:r>
              <a:rPr lang="en-US" sz="6600" kern="1200">
                <a:solidFill>
                  <a:srgbClr val="FF0000"/>
                </a:solidFill>
                <a:latin typeface="+mj-lt"/>
                <a:ea typeface="+mj-ea"/>
                <a:cs typeface="+mj-cs"/>
              </a:rPr>
              <a:t>PHẦN 05 : </a:t>
            </a:r>
          </a:p>
        </p:txBody>
      </p:sp>
      <p:sp>
        <p:nvSpPr>
          <p:cNvPr id="3" name="Content Placeholder 2">
            <a:extLst>
              <a:ext uri="{FF2B5EF4-FFF2-40B4-BE49-F238E27FC236}">
                <a16:creationId xmlns:a16="http://schemas.microsoft.com/office/drawing/2014/main" id="{6EC7B98A-7F3D-5BBF-096D-7604A471644C}"/>
              </a:ext>
            </a:extLst>
          </p:cNvPr>
          <p:cNvSpPr>
            <a:spLocks noGrp="1"/>
          </p:cNvSpPr>
          <p:nvPr>
            <p:ph idx="1"/>
          </p:nvPr>
        </p:nvSpPr>
        <p:spPr>
          <a:xfrm>
            <a:off x="640080" y="4631161"/>
            <a:ext cx="6692827" cy="1569486"/>
          </a:xfrm>
        </p:spPr>
        <p:txBody>
          <a:bodyPr vert="horz" lIns="91440" tIns="45720" rIns="91440" bIns="45720" rtlCol="0">
            <a:normAutofit/>
          </a:bodyPr>
          <a:lstStyle/>
          <a:p>
            <a:pPr marL="0" indent="0">
              <a:buNone/>
            </a:pPr>
            <a:r>
              <a:rPr lang="en-US" sz="3500" kern="1200">
                <a:solidFill>
                  <a:schemeClr val="tx1"/>
                </a:solidFill>
                <a:latin typeface="+mn-lt"/>
                <a:ea typeface="+mn-ea"/>
                <a:cs typeface="+mn-cs"/>
              </a:rPr>
              <a:t>HẠN CHẾ &amp; HƯỚNG PHÁT TRIỂN ĐỀ TÀI</a:t>
            </a:r>
          </a:p>
        </p:txBody>
      </p:sp>
      <p:sp>
        <p:nvSpPr>
          <p:cNvPr id="12"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4562" y="4409267"/>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descr="Checkmark">
            <a:extLst>
              <a:ext uri="{FF2B5EF4-FFF2-40B4-BE49-F238E27FC236}">
                <a16:creationId xmlns:a16="http://schemas.microsoft.com/office/drawing/2014/main" id="{0621EE17-A9DC-8DC1-7F2E-105176A619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81544" y="1267079"/>
            <a:ext cx="4087368" cy="4087368"/>
          </a:xfrm>
          <a:prstGeom prst="rect">
            <a:avLst/>
          </a:prstGeom>
        </p:spPr>
      </p:pic>
    </p:spTree>
    <p:extLst>
      <p:ext uri="{BB962C8B-B14F-4D97-AF65-F5344CB8AC3E}">
        <p14:creationId xmlns:p14="http://schemas.microsoft.com/office/powerpoint/2010/main" val="17968328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nodeType="withEffect">
                                  <p:stCondLst>
                                    <p:cond delay="500"/>
                                  </p:stCondLst>
                                  <p:iterate>
                                    <p:tmPct val="10000"/>
                                  </p:iterate>
                                  <p:childTnLst>
                                    <p:set>
                                      <p:cBhvr>
                                        <p:cTn id="9" dur="1" fill="hold">
                                          <p:stCondLst>
                                            <p:cond delay="0"/>
                                          </p:stCondLst>
                                        </p:cTn>
                                        <p:tgtEl>
                                          <p:spTgt spid="7"/>
                                        </p:tgtEl>
                                        <p:attrNameLst>
                                          <p:attrName>style.visibility</p:attrName>
                                        </p:attrNameLst>
                                      </p:cBhvr>
                                      <p:to>
                                        <p:strVal val="visible"/>
                                      </p:to>
                                    </p:set>
                                    <p:animEffect transition="in" filter="fade">
                                      <p:cBhvr>
                                        <p:cTn id="10" dur="7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B5B423A-57CC-4C58-AA26-8E2E862B03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5217023" cy="3994777"/>
          </a:xfrm>
          <a:custGeom>
            <a:avLst/>
            <a:gdLst>
              <a:gd name="connsiteX0" fmla="*/ 1945461 w 5217023"/>
              <a:gd name="connsiteY0" fmla="*/ 3787398 h 3994777"/>
              <a:gd name="connsiteX1" fmla="*/ 1942113 w 5217023"/>
              <a:gd name="connsiteY1" fmla="*/ 3790053 h 3994777"/>
              <a:gd name="connsiteX2" fmla="*/ 1946982 w 5217023"/>
              <a:gd name="connsiteY2" fmla="*/ 3787990 h 3994777"/>
              <a:gd name="connsiteX3" fmla="*/ 1945461 w 5217023"/>
              <a:gd name="connsiteY3" fmla="*/ 3787398 h 3994777"/>
              <a:gd name="connsiteX4" fmla="*/ 0 w 5217023"/>
              <a:gd name="connsiteY4" fmla="*/ 0 h 3994777"/>
              <a:gd name="connsiteX5" fmla="*/ 5030958 w 5217023"/>
              <a:gd name="connsiteY5" fmla="*/ 0 h 3994777"/>
              <a:gd name="connsiteX6" fmla="*/ 5046198 w 5217023"/>
              <a:gd name="connsiteY6" fmla="*/ 153449 h 3994777"/>
              <a:gd name="connsiteX7" fmla="*/ 5055729 w 5217023"/>
              <a:gd name="connsiteY7" fmla="*/ 415828 h 3994777"/>
              <a:gd name="connsiteX8" fmla="*/ 4735242 w 5217023"/>
              <a:gd name="connsiteY8" fmla="*/ 1867130 h 3994777"/>
              <a:gd name="connsiteX9" fmla="*/ 3907395 w 5217023"/>
              <a:gd name="connsiteY9" fmla="*/ 2938441 h 3994777"/>
              <a:gd name="connsiteX10" fmla="*/ 3946497 w 5217023"/>
              <a:gd name="connsiteY10" fmla="*/ 2908567 h 3994777"/>
              <a:gd name="connsiteX11" fmla="*/ 4585421 w 5217023"/>
              <a:gd name="connsiteY11" fmla="*/ 2188401 h 3994777"/>
              <a:gd name="connsiteX12" fmla="*/ 5142585 w 5217023"/>
              <a:gd name="connsiteY12" fmla="*/ 276891 h 3994777"/>
              <a:gd name="connsiteX13" fmla="*/ 5121833 w 5217023"/>
              <a:gd name="connsiteY13" fmla="*/ 30208 h 3994777"/>
              <a:gd name="connsiteX14" fmla="*/ 5116229 w 5217023"/>
              <a:gd name="connsiteY14" fmla="*/ 0 h 3994777"/>
              <a:gd name="connsiteX15" fmla="*/ 5184724 w 5217023"/>
              <a:gd name="connsiteY15" fmla="*/ 0 h 3994777"/>
              <a:gd name="connsiteX16" fmla="*/ 5196265 w 5217023"/>
              <a:gd name="connsiteY16" fmla="*/ 66113 h 3994777"/>
              <a:gd name="connsiteX17" fmla="*/ 5058603 w 5217023"/>
              <a:gd name="connsiteY17" fmla="*/ 1368242 h 3994777"/>
              <a:gd name="connsiteX18" fmla="*/ 4096624 w 5217023"/>
              <a:gd name="connsiteY18" fmla="*/ 2870829 h 3994777"/>
              <a:gd name="connsiteX19" fmla="*/ 3833203 w 5217023"/>
              <a:gd name="connsiteY19" fmla="*/ 3092190 h 3994777"/>
              <a:gd name="connsiteX20" fmla="*/ 3536509 w 5217023"/>
              <a:gd name="connsiteY20" fmla="*/ 3297128 h 3994777"/>
              <a:gd name="connsiteX21" fmla="*/ 3148966 w 5217023"/>
              <a:gd name="connsiteY21" fmla="*/ 3485478 h 3994777"/>
              <a:gd name="connsiteX22" fmla="*/ 1860557 w 5217023"/>
              <a:gd name="connsiteY22" fmla="*/ 3880910 h 3994777"/>
              <a:gd name="connsiteX23" fmla="*/ 573715 w 5217023"/>
              <a:gd name="connsiteY23" fmla="*/ 3983764 h 3994777"/>
              <a:gd name="connsiteX24" fmla="*/ 108410 w 5217023"/>
              <a:gd name="connsiteY24" fmla="*/ 3908816 h 3994777"/>
              <a:gd name="connsiteX25" fmla="*/ 0 w 5217023"/>
              <a:gd name="connsiteY25" fmla="*/ 3876793 h 3994777"/>
              <a:gd name="connsiteX26" fmla="*/ 0 w 5217023"/>
              <a:gd name="connsiteY26" fmla="*/ 3802912 h 3994777"/>
              <a:gd name="connsiteX27" fmla="*/ 36975 w 5217023"/>
              <a:gd name="connsiteY27" fmla="*/ 3815954 h 3994777"/>
              <a:gd name="connsiteX28" fmla="*/ 561628 w 5217023"/>
              <a:gd name="connsiteY28" fmla="*/ 3912655 h 3994777"/>
              <a:gd name="connsiteX29" fmla="*/ 1683086 w 5217023"/>
              <a:gd name="connsiteY29" fmla="*/ 3844334 h 3994777"/>
              <a:gd name="connsiteX30" fmla="*/ 1806023 w 5217023"/>
              <a:gd name="connsiteY30" fmla="*/ 3820992 h 3994777"/>
              <a:gd name="connsiteX31" fmla="*/ 1921817 w 5217023"/>
              <a:gd name="connsiteY31" fmla="*/ 3795747 h 3994777"/>
              <a:gd name="connsiteX32" fmla="*/ 1243689 w 5217023"/>
              <a:gd name="connsiteY32" fmla="*/ 3846539 h 3994777"/>
              <a:gd name="connsiteX33" fmla="*/ 62875 w 5217023"/>
              <a:gd name="connsiteY33" fmla="*/ 3668143 h 3994777"/>
              <a:gd name="connsiteX34" fmla="*/ 0 w 5217023"/>
              <a:gd name="connsiteY34" fmla="*/ 3644185 h 3994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5217023" h="3994777">
                <a:moveTo>
                  <a:pt x="1945461" y="3787398"/>
                </a:moveTo>
                <a:lnTo>
                  <a:pt x="1942113" y="3790053"/>
                </a:lnTo>
                <a:lnTo>
                  <a:pt x="1946982" y="3787990"/>
                </a:lnTo>
                <a:cubicBezTo>
                  <a:pt x="1946982" y="3787990"/>
                  <a:pt x="1946379" y="3787019"/>
                  <a:pt x="1945461" y="3787398"/>
                </a:cubicBezTo>
                <a:close/>
                <a:moveTo>
                  <a:pt x="0" y="0"/>
                </a:moveTo>
                <a:lnTo>
                  <a:pt x="5030958" y="0"/>
                </a:lnTo>
                <a:lnTo>
                  <a:pt x="5046198" y="153449"/>
                </a:lnTo>
                <a:cubicBezTo>
                  <a:pt x="5052189" y="240558"/>
                  <a:pt x="5055458" y="328007"/>
                  <a:pt x="5055729" y="415828"/>
                </a:cubicBezTo>
                <a:cubicBezTo>
                  <a:pt x="5057604" y="923672"/>
                  <a:pt x="4959210" y="1409054"/>
                  <a:pt x="4735242" y="1867130"/>
                </a:cubicBezTo>
                <a:cubicBezTo>
                  <a:pt x="4533284" y="2280198"/>
                  <a:pt x="4248921" y="2629330"/>
                  <a:pt x="3907395" y="2938441"/>
                </a:cubicBezTo>
                <a:cubicBezTo>
                  <a:pt x="3922498" y="2931535"/>
                  <a:pt x="3935859" y="2921330"/>
                  <a:pt x="3946497" y="2908567"/>
                </a:cubicBezTo>
                <a:cubicBezTo>
                  <a:pt x="4193494" y="2700987"/>
                  <a:pt x="4408756" y="2458364"/>
                  <a:pt x="4585421" y="2188401"/>
                </a:cubicBezTo>
                <a:cubicBezTo>
                  <a:pt x="4967641" y="1608533"/>
                  <a:pt x="5169304" y="975361"/>
                  <a:pt x="5142585" y="276891"/>
                </a:cubicBezTo>
                <a:cubicBezTo>
                  <a:pt x="5139764" y="194215"/>
                  <a:pt x="5132824" y="111888"/>
                  <a:pt x="5121833" y="30208"/>
                </a:cubicBezTo>
                <a:lnTo>
                  <a:pt x="5116229" y="0"/>
                </a:lnTo>
                <a:lnTo>
                  <a:pt x="5184724" y="0"/>
                </a:lnTo>
                <a:lnTo>
                  <a:pt x="5196265" y="66113"/>
                </a:lnTo>
                <a:cubicBezTo>
                  <a:pt x="5249921" y="496647"/>
                  <a:pt x="5197997" y="931171"/>
                  <a:pt x="5058603" y="1368242"/>
                </a:cubicBezTo>
                <a:cubicBezTo>
                  <a:pt x="4872414" y="1953929"/>
                  <a:pt x="4544298" y="2451351"/>
                  <a:pt x="4096624" y="2870829"/>
                </a:cubicBezTo>
                <a:cubicBezTo>
                  <a:pt x="4012832" y="2949426"/>
                  <a:pt x="3924415" y="3022439"/>
                  <a:pt x="3833203" y="3092190"/>
                </a:cubicBezTo>
                <a:cubicBezTo>
                  <a:pt x="3741992" y="3161943"/>
                  <a:pt x="3648667" y="3225510"/>
                  <a:pt x="3536509" y="3297128"/>
                </a:cubicBezTo>
                <a:cubicBezTo>
                  <a:pt x="3427215" y="3372735"/>
                  <a:pt x="3288598" y="3430233"/>
                  <a:pt x="3148966" y="3485478"/>
                </a:cubicBezTo>
                <a:cubicBezTo>
                  <a:pt x="2729930" y="3651299"/>
                  <a:pt x="2302194" y="3788890"/>
                  <a:pt x="1860557" y="3880910"/>
                </a:cubicBezTo>
                <a:cubicBezTo>
                  <a:pt x="1435974" y="3969444"/>
                  <a:pt x="1008052" y="4017957"/>
                  <a:pt x="573715" y="3983764"/>
                </a:cubicBezTo>
                <a:cubicBezTo>
                  <a:pt x="415134" y="3971300"/>
                  <a:pt x="259585" y="3947743"/>
                  <a:pt x="108410" y="3908816"/>
                </a:cubicBezTo>
                <a:lnTo>
                  <a:pt x="0" y="3876793"/>
                </a:lnTo>
                <a:lnTo>
                  <a:pt x="0" y="3802912"/>
                </a:lnTo>
                <a:lnTo>
                  <a:pt x="36975" y="3815954"/>
                </a:lnTo>
                <a:cubicBezTo>
                  <a:pt x="206404" y="3867475"/>
                  <a:pt x="382020" y="3897326"/>
                  <a:pt x="561628" y="3912655"/>
                </a:cubicBezTo>
                <a:cubicBezTo>
                  <a:pt x="938583" y="3944832"/>
                  <a:pt x="1311814" y="3910697"/>
                  <a:pt x="1683086" y="3844334"/>
                </a:cubicBezTo>
                <a:cubicBezTo>
                  <a:pt x="1724123" y="3837151"/>
                  <a:pt x="1765097" y="3829374"/>
                  <a:pt x="1806023" y="3820992"/>
                </a:cubicBezTo>
                <a:cubicBezTo>
                  <a:pt x="1844740" y="3813079"/>
                  <a:pt x="1883218" y="3804161"/>
                  <a:pt x="1921817" y="3795747"/>
                </a:cubicBezTo>
                <a:cubicBezTo>
                  <a:pt x="1697011" y="3826435"/>
                  <a:pt x="1470551" y="3843387"/>
                  <a:pt x="1243689" y="3846539"/>
                </a:cubicBezTo>
                <a:cubicBezTo>
                  <a:pt x="839058" y="3849054"/>
                  <a:pt x="443424" y="3800206"/>
                  <a:pt x="62875" y="3668143"/>
                </a:cubicBezTo>
                <a:lnTo>
                  <a:pt x="0" y="364418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2E7D9755-D571-DAA9-8851-73445D2D6D43}"/>
              </a:ext>
            </a:extLst>
          </p:cNvPr>
          <p:cNvSpPr>
            <a:spLocks noGrp="1"/>
          </p:cNvSpPr>
          <p:nvPr>
            <p:ph type="title"/>
          </p:nvPr>
        </p:nvSpPr>
        <p:spPr>
          <a:xfrm>
            <a:off x="838200" y="673770"/>
            <a:ext cx="3220329" cy="2027227"/>
          </a:xfrm>
        </p:spPr>
        <p:txBody>
          <a:bodyPr anchor="t">
            <a:normAutofit/>
          </a:bodyPr>
          <a:lstStyle/>
          <a:p>
            <a:r>
              <a:rPr lang="en-US" sz="5400">
                <a:solidFill>
                  <a:srgbClr val="FFFFFF"/>
                </a:solidFill>
              </a:rPr>
              <a:t>HẠN CHẾ</a:t>
            </a:r>
          </a:p>
        </p:txBody>
      </p:sp>
      <p:graphicFrame>
        <p:nvGraphicFramePr>
          <p:cNvPr id="12" name="Content Placeholder 2">
            <a:extLst>
              <a:ext uri="{FF2B5EF4-FFF2-40B4-BE49-F238E27FC236}">
                <a16:creationId xmlns:a16="http://schemas.microsoft.com/office/drawing/2014/main" id="{20786840-1B2D-69E3-C4B5-BF6203DC4883}"/>
              </a:ext>
            </a:extLst>
          </p:cNvPr>
          <p:cNvGraphicFramePr>
            <a:graphicFrameLocks noGrp="1"/>
          </p:cNvGraphicFramePr>
          <p:nvPr>
            <p:ph idx="1"/>
            <p:extLst>
              <p:ext uri="{D42A27DB-BD31-4B8C-83A1-F6EECF244321}">
                <p14:modId xmlns:p14="http://schemas.microsoft.com/office/powerpoint/2010/main" val="1003667648"/>
              </p:ext>
            </p:extLst>
          </p:nvPr>
        </p:nvGraphicFramePr>
        <p:xfrm>
          <a:off x="5542672" y="541606"/>
          <a:ext cx="5811128" cy="567821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435106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BA13C8D-2988-D99B-8F83-465E4D787308}"/>
              </a:ext>
            </a:extLst>
          </p:cNvPr>
          <p:cNvSpPr>
            <a:spLocks noGrp="1"/>
          </p:cNvSpPr>
          <p:nvPr>
            <p:ph type="title"/>
          </p:nvPr>
        </p:nvSpPr>
        <p:spPr>
          <a:xfrm>
            <a:off x="841246" y="673770"/>
            <a:ext cx="3644489" cy="2414488"/>
          </a:xfrm>
        </p:spPr>
        <p:txBody>
          <a:bodyPr anchor="t">
            <a:normAutofit/>
          </a:bodyPr>
          <a:lstStyle/>
          <a:p>
            <a:r>
              <a:rPr lang="en-US" sz="5400">
                <a:solidFill>
                  <a:srgbClr val="FFFFFF"/>
                </a:solidFill>
              </a:rPr>
              <a:t>HƯỚNG PHÁT TRIỂN ĐỀ TÀI</a:t>
            </a:r>
          </a:p>
        </p:txBody>
      </p:sp>
      <p:graphicFrame>
        <p:nvGraphicFramePr>
          <p:cNvPr id="22" name="Content Placeholder 2">
            <a:extLst>
              <a:ext uri="{FF2B5EF4-FFF2-40B4-BE49-F238E27FC236}">
                <a16:creationId xmlns:a16="http://schemas.microsoft.com/office/drawing/2014/main" id="{E8524EFA-6AEF-241F-C628-D86AE26DEACD}"/>
              </a:ext>
            </a:extLst>
          </p:cNvPr>
          <p:cNvGraphicFramePr>
            <a:graphicFrameLocks noGrp="1"/>
          </p:cNvGraphicFramePr>
          <p:nvPr>
            <p:ph idx="1"/>
          </p:nvPr>
        </p:nvGraphicFramePr>
        <p:xfrm>
          <a:off x="6095999" y="882315"/>
          <a:ext cx="5254754" cy="52946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29875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06B5702D-8056-4C37-08FE-4F8EAD8EC5DF}"/>
              </a:ext>
            </a:extLst>
          </p:cNvPr>
          <p:cNvSpPr>
            <a:spLocks noGrp="1"/>
          </p:cNvSpPr>
          <p:nvPr>
            <p:ph type="title"/>
          </p:nvPr>
        </p:nvSpPr>
        <p:spPr>
          <a:xfrm>
            <a:off x="3501842" y="1198737"/>
            <a:ext cx="5561938" cy="2513516"/>
          </a:xfrm>
        </p:spPr>
        <p:txBody>
          <a:bodyPr vert="horz" lIns="91440" tIns="45720" rIns="91440" bIns="45720" rtlCol="0" anchor="b">
            <a:normAutofit/>
          </a:bodyPr>
          <a:lstStyle/>
          <a:p>
            <a:pPr algn="ctr"/>
            <a:r>
              <a:rPr lang="en-US" sz="6000" kern="1200">
                <a:solidFill>
                  <a:schemeClr val="tx1"/>
                </a:solidFill>
                <a:latin typeface="+mj-lt"/>
                <a:ea typeface="+mj-ea"/>
                <a:cs typeface="+mj-cs"/>
              </a:rPr>
              <a:t>THANKS YOU FOR WATCHING</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FC831D2-F958-1CD1-E667-F88064BA8708}"/>
              </a:ext>
            </a:extLst>
          </p:cNvPr>
          <p:cNvSpPr txBox="1"/>
          <p:nvPr/>
        </p:nvSpPr>
        <p:spPr>
          <a:xfrm>
            <a:off x="4032118" y="3944706"/>
            <a:ext cx="4168877" cy="656590"/>
          </a:xfrm>
          <a:prstGeom prst="rect">
            <a:avLst/>
          </a:prstGeom>
          <a:noFill/>
        </p:spPr>
        <p:txBody>
          <a:bodyPr wrap="square">
            <a:spAutoFit/>
          </a:bodyPr>
          <a:lstStyle/>
          <a:p>
            <a:r>
              <a:rPr lang="en-US">
                <a:solidFill>
                  <a:schemeClr val="bg2">
                    <a:lumMod val="25000"/>
                  </a:schemeClr>
                </a:solidFill>
                <a:latin typeface="+mj-lt"/>
                <a:ea typeface="+mj-ea"/>
                <a:cs typeface="+mj-cs"/>
              </a:rPr>
              <a:t>Em xin chân thành cảm ơn thầy cô đã lắng nghe và theo dõi bài thuyết trình của em.</a:t>
            </a:r>
            <a:endParaRPr lang="en-US">
              <a:solidFill>
                <a:schemeClr val="bg2">
                  <a:lumMod val="25000"/>
                </a:schemeClr>
              </a:solidFill>
            </a:endParaRPr>
          </a:p>
        </p:txBody>
      </p:sp>
    </p:spTree>
    <p:extLst>
      <p:ext uri="{BB962C8B-B14F-4D97-AF65-F5344CB8AC3E}">
        <p14:creationId xmlns:p14="http://schemas.microsoft.com/office/powerpoint/2010/main" val="29185050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343</TotalTime>
  <Words>1289</Words>
  <Application>Microsoft Office PowerPoint</Application>
  <PresentationFormat>Widescreen</PresentationFormat>
  <Paragraphs>107</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Aptos</vt:lpstr>
      <vt:lpstr>Aptos Display</vt:lpstr>
      <vt:lpstr>Arial</vt:lpstr>
      <vt:lpstr>Calibri</vt:lpstr>
      <vt:lpstr>Office Theme</vt:lpstr>
      <vt:lpstr>ĐỒ ÁN THỰC TẬP CƠ SỞ NGÀNH</vt:lpstr>
      <vt:lpstr>ĐỀ TÀI: XÂY DỰNG WEBSITE CUNG CẤP THÔNG TIN KỸ THUẬT NUÔI TRỒNG THỦY SẢN</vt:lpstr>
      <vt:lpstr>NỘI DUNG CHÍNH</vt:lpstr>
      <vt:lpstr>PHẦN 1: TỔNG QUAN VỀ ĐỀ TÀI  </vt:lpstr>
      <vt:lpstr>1. TỔNG QUAN ĐỀ TÀI</vt:lpstr>
      <vt:lpstr>LÝ DO CHỌN ĐỀ TÀI</vt:lpstr>
      <vt:lpstr>GIỚI THIỆU NGÔN NGỮ - FRAMEWORK</vt:lpstr>
      <vt:lpstr>CHỨC NĂNG</vt:lpstr>
      <vt:lpstr>CHỨC NĂNG</vt:lpstr>
      <vt:lpstr>QUY TRÌNH VẬN HÀNH</vt:lpstr>
      <vt:lpstr>PHẦN 02</vt:lpstr>
      <vt:lpstr> MỤC TIÊU ĐỀ TÀI</vt:lpstr>
      <vt:lpstr>PHẦN 03</vt:lpstr>
      <vt:lpstr>SƠ ĐỒ CÁC ACTOR CỦA HỆ THỐNG</vt:lpstr>
      <vt:lpstr>SƠ ĐỒ USE CASE TỔNG QUÁT</vt:lpstr>
      <vt:lpstr>CƠ SỞ DỮ LIỆU</vt:lpstr>
      <vt:lpstr>PHẦN 04 : </vt:lpstr>
      <vt:lpstr>PHẦN 05 : </vt:lpstr>
      <vt:lpstr>HẠN CHẾ</vt:lpstr>
      <vt:lpstr>HƯỚNG PHÁT TRIỂN ĐỀ TÀI</vt:lpstr>
      <vt:lpstr>THANKS YOU FOR WATCHING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 HANG VU</dc:creator>
  <cp:lastModifiedBy>TA HANG VU</cp:lastModifiedBy>
  <cp:revision>73</cp:revision>
  <dcterms:created xsi:type="dcterms:W3CDTF">2026-01-01T04:21:36Z</dcterms:created>
  <dcterms:modified xsi:type="dcterms:W3CDTF">2026-01-03T14:09:27Z</dcterms:modified>
</cp:coreProperties>
</file>